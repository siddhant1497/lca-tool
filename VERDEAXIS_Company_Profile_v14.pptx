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b39b911-f864-947d-5a39-65d5d2aa5c37}">
          <p14:sldIdLst>
            <p14:sldId id="256"/>
            <p14:sldId id="257"/>
            <p14:sldId id="258"/>
          </p14:sldIdLst>
        </p14:section>
        <p14:section name="01 Context" id="{7489da20-0733-7152-84f4-b85d13c972c1}">
          <p14:sldIdLst>
            <p14:sldId id="259"/>
            <p14:sldId id="260"/>
            <p14:sldId id="261"/>
          </p14:sldIdLst>
        </p14:section>
        <p14:section name="02 Services" id="{ee832baa-5874-4ef0-2e03-610d5b782141}">
          <p14:sldIdLst>
            <p14:sldId id="262"/>
            <p14:sldId id="263"/>
            <p14:sldId id="264"/>
          </p14:sldIdLst>
        </p14:section>
        <p14:section name="03 Founder" id="{c408dc65-ccd6-b441-56fe-c7dee583e22b}">
          <p14:sldIdLst>
            <p14:sldId id="265"/>
            <p14:sldId id="266"/>
            <p14:sldId id="267"/>
          </p14:sldIdLst>
        </p14:section>
        <p14:section name="04 Working together" id="{b4ff4ef2-f720-0e4d-018d-030ccdecd8ab}">
          <p14:sldIdLst>
            <p14:sldId id="268"/>
            <p14:sldId id="269"/>
          </p14:sldIdLst>
        </p14:section>
        <p14:section name="Contact" id="{9176ca3d-63b3-d364-1577-827a3d02d44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jaali image sets up the story on the next slide: India already knew how to build for its climate.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The point is that good performance is cheapest at design stage, not that modern buildings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CCTS: targets notified Oct 2025 (aluminium, cement, chlor-alkali, pulp &amp; paper) and Jan 2026 (refineries, petrochemicals, textiles, secondary aluminium), 490 obligated entities (PIB). BRSR Core: SEBI glide path, top 1,000 in FY 2026-27. ECBC notified by 25 states/UTs by Dec 2024; NITI Aayog found no state had yet adopted ECSBC 2024. Star-rating rule: Ministry of Power draft, July 2026. Taxonomy: DEA draft framework, May 2025. NDC 2035: approved 25 March 2026, communicated 24 April 2026. Re-check before each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CBAM: Regulation (EU) 2023/956, definitive phase from 1 Jan 2026; first certificate sales and declarations in 2027 for 2026 imports; 50-tonne de minimis from Omnibus 2025/2083. EPBD recast (EU) 2024/1275: zero-emission new buildings, public bodies from 2028, all from 2030. Malaysia NSRF: Group 1 (RM2bn+ Main Market) from 2025; Scope 3 and Scope 1-2 assurance for Group 1 from 2027. ISSB: IFRS Foundation says 40+ jurisdictions adopting or taking steps (2026).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founder's note is a draft in Siddhant's voice. Edit it until it sounds like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Experience gained while working in previous consultancy teams. VERDEAXIS itself is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projects the founder worked on while employed at previous firms. Say so plainly and describe your own role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Sunlight through a carved stone jaali screen, Humayun's Tomb, Del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492240"/>
          </a:xfrm>
          <a:prstGeom prst="rect">
            <a:avLst/>
          </a:prstGeom>
        </p:spPr>
      </p:pic>
      <p:pic>
        <p:nvPicPr>
          <p:cNvPr id="3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developers, manufacturers and listed companies get certified, cut energy and carbon, and report it with confidence.</a:t>
            </a:r>
            <a:endParaRPr lang="en-US" sz="1600" dirty="0"/>
          </a:p>
        </p:txBody>
      </p:sp>
      <p:sp>
        <p:nvSpPr>
          <p:cNvPr id="8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has always known how to build for heat.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without machines. Modern buildings can do the same, if the right decisions are made early, when they cost the least.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you make those decisions with models and real numbers, then get the result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retail and logistics owners, manufacturers, listed companies, and their architects.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You deal with the founder, not a junior team. Advice comes from our own models and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Malaysia,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certified projects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INDIA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India's rulebook is being rewritten</a:t>
            </a:r>
            <a:endParaRPr lang="en-US" sz="3000" dirty="0"/>
          </a:p>
        </p:txBody>
      </p:sp>
      <p:graphicFrame>
        <p:nvGraphicFramePr>
          <p:cNvPr id="5" name="India mandat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572000"/>
                <a:gridCol w="2240280"/>
                <a:gridCol w="15846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REQUIRES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WHO IT AFFECTS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Carbon Credit Trading Scheme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Emission-intensity targets for 490 plants in eight sectors. Shortfalls are covered by buying carbon credits.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Cement, aluminium, refining, textiles,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 force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BRSR Core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Assured ESG data from India's top 1,000 listed companies, with value-chain disclosures phasing in.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Listed companies and their suppliers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 1,000 by FY 2026-27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Building energy codes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ECBC is notified in 25 states and UTs. ECSBC 2024, its successor, adds sustainability requirements.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commercial buildings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States adopting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Star rating for large buildings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Proposed: new buildings of 20,000 m² or more need at least a BEE 3-star rating or an approved equivalent.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Developers and owners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Draft, July 2026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Climate finance taxonomy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Will define which projects count as green for banks and investors. Buildings are a priority sector.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Anyone raising green finance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Draft framework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NDC 2035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47% lower emissions intensity than 2005 and 60% non-fossil power by 2035. Net zero by 2070.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sector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April 2026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Status as of October 2026. Sources: MoEFCC/PIB, SEBI, BEE and Ministry of Power, NITI Aayog, Ministry of Finance, UNFCCC.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BEYOND INDIA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Export markets and investors are asking for the same numbers</a:t>
            </a:r>
            <a:endParaRPr lang="en-US" sz="3000" dirty="0"/>
          </a:p>
        </p:txBody>
      </p:sp>
      <p:sp>
        <p:nvSpPr>
          <p:cNvPr id="4" name="Timeline"/>
          <p:cNvSpPr/>
          <p:nvPr/>
        </p:nvSpPr>
        <p:spPr>
          <a:xfrm>
            <a:off x="640080" y="352044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imeline marker 2025"/>
          <p:cNvSpPr/>
          <p:nvPr/>
        </p:nvSpPr>
        <p:spPr>
          <a:xfrm>
            <a:off x="731520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Malaysia starts ISSB-based climate reporting for its largest listed companies.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2025</a:t>
            </a:r>
            <a:endParaRPr lang="en-US" sz="2600" dirty="0"/>
          </a:p>
        </p:txBody>
      </p:sp>
      <p:sp>
        <p:nvSpPr>
          <p:cNvPr id="8" name="Timeline marker 2026"/>
          <p:cNvSpPr/>
          <p:nvPr/>
        </p:nvSpPr>
        <p:spPr>
          <a:xfrm>
            <a:off x="2913827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13827" y="365760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913827" y="416052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 CBAM's definitive phase: steel, aluminium and cement exporters must show verified emissions.</a:t>
            </a:r>
            <a:endParaRPr lang="en-US" sz="1400" dirty="0"/>
          </a:p>
        </p:txBody>
      </p:sp>
      <p:sp>
        <p:nvSpPr>
          <p:cNvPr id="11" name="Timeline marker 2027"/>
          <p:cNvSpPr/>
          <p:nvPr/>
        </p:nvSpPr>
        <p:spPr>
          <a:xfrm>
            <a:off x="5096134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96134" y="178308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First CBAM certificates bought for 2026 imports. Malaysia adds Scope 3 and assurance for the largest issuers.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96134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2027</a:t>
            </a:r>
            <a:endParaRPr lang="en-US" sz="2600" dirty="0"/>
          </a:p>
        </p:txBody>
      </p:sp>
      <p:sp>
        <p:nvSpPr>
          <p:cNvPr id="14" name="Timeline marker 2028"/>
          <p:cNvSpPr/>
          <p:nvPr/>
        </p:nvSpPr>
        <p:spPr>
          <a:xfrm>
            <a:off x="7278441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78441" y="365760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278441" y="416052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EU: all new public buildings must be zero-emission.</a:t>
            </a:r>
            <a:endParaRPr lang="en-US" sz="1400" dirty="0"/>
          </a:p>
        </p:txBody>
      </p:sp>
      <p:sp>
        <p:nvSpPr>
          <p:cNvPr id="17" name="Timeline marker 2030"/>
          <p:cNvSpPr/>
          <p:nvPr/>
        </p:nvSpPr>
        <p:spPr>
          <a:xfrm>
            <a:off x="9460748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60748" y="1783080"/>
            <a:ext cx="20908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EU: every new building must be zero-emission.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60748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2030</a:t>
            </a:r>
            <a:endParaRPr lang="en-US" sz="2600" dirty="0"/>
          </a:p>
        </p:txBody>
      </p:sp>
      <p:sp>
        <p:nvSpPr>
          <p:cNvPr id="20" name="Meaning panel"/>
          <p:cNvSpPr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3492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 40 jurisdictions are adopting ISSB climate reporting.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Your buyers, lenders and parent companies will ask for numbers you can stand behind.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Developers, retail and logistics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finance, energy codes and the proposed star-rating rule.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India's carbon market (CCTS) and buyers asking for product carbon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EPDs, CBAM and CCTS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ECBC, ECSBC and BEE star ratings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Show investors and regulators the numbers.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ENERGY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energy bill before it's built.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Baseline and proposed models in DesignBuilder, EnergyPlus and eQUEST, for LEED, ECSBC and BEE.</a:t>
            </a:r>
            <a:endParaRPr lang="en-US" sz="15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DAYLIGHT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Bright rooms, without glare or heat.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sDA, ASE, daylight factor and glare (DGP) studies, plus façade and shading options.</a:t>
            </a:r>
            <a:endParaRPr lang="en-US" sz="15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MICROCLIMATE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Outdoor spaces people can use in May.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5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carbon in your materials.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Whole-building and product LCA in One Click LCA and Excel, EPD support, links to Scope 3.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424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Every study ends with a one-page summary in plain English: what to change, what it costs and which credits it earns.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10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Not sure which system fits? That is what the free feasibility review is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portrait" descr="Portrait of Siddhant Jain, founder of VERDEAX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31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MEET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097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Siddhant Jain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6" name="Founder rule"/>
          <p:cNvSpPr/>
          <p:nvPr/>
        </p:nvSpPr>
        <p:spPr>
          <a:xfrm>
            <a:off x="5852160" y="2377440"/>
            <a:ext cx="569671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60604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Over seven years I've worked on more than 200 certified green building projects, from retail stores to logistics parks. The same thing kept happening: certification was left to the end, after the big decisions were already made.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VERDEAXIS works the other way round. We model first, decide with numbers, and then certify what actually gets built.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And if a certification isn't worth it for your project, I'll tell you.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EXPERIENCE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experience behind VERDEAXIS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CERTIFICATION</a:t>
            </a:r>
            <a:endParaRPr lang="en-US" sz="1200" dirty="0"/>
          </a:p>
        </p:txBody>
      </p:sp>
      <p:sp>
        <p:nvSpPr>
          <p:cNvPr id="5" name="Experience CERTIFICATION"/>
          <p:cNvSpPr txBox="1"/>
          <p:nvPr/>
        </p:nvSpPr>
        <p:spPr>
          <a:xfrm>
            <a:off x="640080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200+ certified green building projects in India and Malaysia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Retail, offices, stores, logistics parks and industry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IGBC, GRIHA, WELL and Fitwel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4216298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99178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 AND REPORTING</a:t>
            </a:r>
            <a:endParaRPr lang="en-US" sz="1200" dirty="0"/>
          </a:p>
        </p:txBody>
      </p:sp>
      <p:sp>
        <p:nvSpPr>
          <p:cNvPr id="8" name="Experience CARBON AND REPORTING"/>
          <p:cNvSpPr txBox="1"/>
          <p:nvPr/>
        </p:nvSpPr>
        <p:spPr>
          <a:xfrm>
            <a:off x="4399178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reporting for multinational organisations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Decarbonisation roadmaps to meet climate targets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GRESB, GRI Standards and the UN SDGs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7975397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58277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MODELLING</a:t>
            </a:r>
            <a:endParaRPr lang="en-US" sz="1200" dirty="0"/>
          </a:p>
        </p:txBody>
      </p:sp>
      <p:sp>
        <p:nvSpPr>
          <p:cNvPr id="11" name="Experience MODELLING"/>
          <p:cNvSpPr txBox="1"/>
          <p:nvPr/>
        </p:nvSpPr>
        <p:spPr>
          <a:xfrm>
            <a:off x="8158277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Energy, daylight and microclimate in DesignBuilder and EnergyPlus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Building and product LCA in One Click LCA and Excel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Physical climate-risk assessments</a:t>
            </a:r>
            <a:endParaRPr lang="en-US" sz="1600" dirty="0"/>
          </a:p>
        </p:txBody>
      </p:sp>
      <p:sp>
        <p:nvSpPr>
          <p:cNvPr id="12" name="Tools panel"/>
          <p:cNvSpPr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16636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TOOLS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DesignBuilder  ·  EnergyPlus  ·  eQUEST  ·  One Click LCA  ·  Excel-based carbon models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Selected projects the founder has worked on</a:t>
            </a:r>
            <a:endParaRPr lang="en-US" sz="3000" dirty="0"/>
          </a:p>
        </p:txBody>
      </p:sp>
      <p:graphicFrame>
        <p:nvGraphicFramePr>
          <p:cNvPr id="13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Green building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India and Malaysia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Multiple rating systems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200+ certified projects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Worked on by the founder as part of previous consultancy teams, before VERDEAXIS was formed. Client names withheld.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Best-fit system, target rating and the main gaps. Free, with a written fee proposal after.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Malaysia · France · Vietnam · Cambodia · Thailand</a:t>
            </a:r>
            <a:endParaRPr lang="en-US" sz="1300" dirty="0"/>
          </a:p>
        </p:txBody>
      </p:sp>
      <p:pic>
        <p:nvPicPr>
          <p:cNvPr id="10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Photos (CC BY-SA 4.0, Wikimedia Commons): jaali, Om Pratap Singh; SG Highway, Kushagra140.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2026-10-24T17:59:19Z</dcterms:created>
  <dcterms:modified xsi:type="dcterms:W3CDTF">2026-10-24T17:59:19Z</dcterms:modified>
</cp:coreProperties>
</file>