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1639b52-038f-6c8d-d28f-35b244779708}">
          <p14:sldIdLst>
            <p14:sldId id="256"/>
            <p14:sldId id="257"/>
            <p14:sldId id="258"/>
          </p14:sldIdLst>
        </p14:section>
        <p14:section name="01 Context" id="{f4001c95-55b5-57c0-ce80-7f4ee8c5f96f}">
          <p14:sldIdLst>
            <p14:sldId id="259"/>
            <p14:sldId id="260"/>
            <p14:sldId id="261"/>
          </p14:sldIdLst>
        </p14:section>
        <p14:section name="02 Services" id="{1209e577-fbb3-29a3-169a-02b6b13b5852}">
          <p14:sldIdLst>
            <p14:sldId id="262"/>
            <p14:sldId id="263"/>
            <p14:sldId id="264"/>
          </p14:sldIdLst>
        </p14:section>
        <p14:section name="03 Founder" id="{7668435b-230a-b8b6-f16b-08b06f7cec9d}">
          <p14:sldIdLst>
            <p14:sldId id="265"/>
            <p14:sldId id="266"/>
            <p14:sldId id="267"/>
          </p14:sldIdLst>
        </p14:section>
        <p14:section name="04 Working together" id="{d791726f-9c77-8b15-d611-1528c60545bd}">
          <p14:sldIdLst>
            <p14:sldId id="268"/>
            <p14:sldId id="269"/>
          </p14:sldIdLst>
        </p14:section>
        <p14:section name="Contact" id="{593f08e6-b7d2-006b-1502-b677a897a081}">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The mark is a V whose right stroke is built from shading louvres: building design and data in one shape. The stripe along the bottom is real data: global temperature, 1880 to 2025, one stripe per year (NASA GISTEMP).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story slide. Two Indian buildings designed around the climate, 175 years apart. The point: good performance is cheapest at design stage. Photos: Hawa Mahal by Adityaoberai (CC BY 4.0); IIM Ahmedabad by Perspectives, the Photography Club of IIM Ahmedabad (CC BY-SA 4.0), both via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Executive summary. Founder figures are personal track record, not the firm's.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CCTS: targets notified Oct 2025 (aluminium, cement, chlor-alkali, pulp &amp; paper) and Jan 2026 (refineries, petrochemicals, textiles, secondary aluminium), 490 obligated entities (PIB). BRSR Core: SEBI glide path, top 1,000 in FY 2026-27. ECBC notified by 25 states/UTs by Dec 2024; NITI Aayog found no state had yet adopted ECSBC 2024. Star-rating rule: Ministry of Power draft, July 2026. Taxonomy: DEA draft framework, May 2025. NDC 2035: approved 25 March 2026, communicated 24 April 2026. Re-check before each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CBAM: Regulation (EU) 2023/956, definitive phase from 1 Jan 2026; first certificate sales and declarations in 2027 for 2026 imports; 50-tonne de minimis from Omnibus 2025/2083. EPBD recast (EU) 2024/1275: zero-emission new buildings, public bodies from 2028, all from 2030. Malaysia NSRF: Group 1 (RM2bn+ Main Market) from 2025; Scope 3 and Scope 1-2 assurance for Group 1 from 2027. ISSB: IFRS Foundation says 40+ jurisdictions adopting or taking steps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row the prospect recognises themselves in, then go to that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pillars. Most clients start with one and come back for the other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founder runs these models personally. That is the main technical difference from a documentation-only consultant.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IGBC AP and EDGE Expert &amp; Auditor are the founder's accreditations. LEED, GRIHA, WELL and Fitwel are project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founder's note is a draft in Siddhant's voice. Edit it until it sounds like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Experience gained while working in previous consultancy teams. VERDEAXIS itself is new.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projects the founder worked on while employed at previous firms. Say so plainly and describe your own role on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Process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prices in the profile. Quote after the feasibility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free feasibility review. Credits line must stay while the Commons photos are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chemeClr val="bg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6309360"/>
            <a:ext cx="329184" cy="329184"/>
          </a:xfrm>
          <a:prstGeom prst="rect">
            <a:avLst/>
          </a:prstGeom>
        </p:spPr>
      </p:pic>
      <p:sp>
        <p:nvSpPr>
          <p:cNvPr id="3" name="Text 0"/>
          <p:cNvSpPr/>
          <p:nvPr/>
        </p:nvSpPr>
        <p:spPr>
          <a:xfrm>
            <a:off x="1051560" y="6355080"/>
            <a:ext cx="2743200" cy="274320"/>
          </a:xfrm>
          <a:prstGeom prst="rect">
            <a:avLst/>
          </a:prstGeom>
          <a:noFill/>
          <a:ln/>
        </p:spPr>
        <p:txBody>
          <a:bodyPr wrap="square" lIns="0" tIns="0" rIns="0" bIns="0" rtlCol="0" anchor="ctr"/>
          <a:lstStyle/>
          <a:p>
            <a:pPr indent="0" marL="0">
              <a:buNone/>
            </a:pPr>
            <a:r>
              <a:rPr lang="en-US" sz="1100" b="1" spc="300" kern="0" dirty="0">
                <a:solidFill>
                  <a:schemeClr val="tx1"/>
                </a:solidFill>
              </a:rPr>
              <a:t>VERDEAXIS</a:t>
            </a:r>
            <a:endParaRPr lang="en-US" sz="1100" dirty="0"/>
          </a:p>
        </p:txBody>
      </p:sp>
      <p:sp>
        <p:nvSpPr>
          <p:cNvPr id="4" name="Text 1"/>
          <p:cNvSpPr/>
          <p:nvPr>
            <p:ph idx="102" type="title" hasCustomPrompt="1"/>
          </p:nvPr>
        </p:nvSpPr>
        <p:spPr>
          <a:xfrm>
            <a:off x="640080" y="777240"/>
            <a:ext cx="10911535" cy="68580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info@verdeaxis.com" TargetMode="External"/><Relationship Id="rId4" Type="http://schemas.openxmlformats.org/officeDocument/2006/relationships/hyperlink" Target="tel:+919725523213" TargetMode="External"/><Relationship Id="rId5" Type="http://schemas.openxmlformats.org/officeDocument/2006/relationships/hyperlink" Target="https://www.verdeaxis.com" TargetMode="External"/><Relationship Id="rId1" Type="http://schemas.openxmlformats.org/officeDocument/2006/relationships/image" Target="../media/image-1-1.png"/><Relationship Id="rId2" Type="http://schemas.openxmlformats.org/officeDocument/2006/relationships/image" Target="../media/image-1-2.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jpe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mailto:info@verdeaxis.com" TargetMode="External"/><Relationship Id="rId2" Type="http://schemas.openxmlformats.org/officeDocument/2006/relationships/hyperlink" Target="tel:+919725523213" TargetMode="External"/><Relationship Id="rId3" Type="http://schemas.openxmlformats.org/officeDocument/2006/relationships/hyperlink" Target="https://www.verdeaxis.com" TargetMode="External"/><Relationship Id="rId4" Type="http://schemas.openxmlformats.org/officeDocument/2006/relationships/image" Target="../media/image-15-1.png"/><Relationship Id="rId5" Type="http://schemas.openxmlformats.org/officeDocument/2006/relationships/image" Target="../media/image-15-2.png"/><Relationship Id="rId6" Type="http://schemas.openxmlformats.org/officeDocument/2006/relationships/slideLayout" Target="../slideLayouts/slideLayout2.xml"/><Relationship Id="rId7"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 panel"/>
          <p:cNvSpPr/>
          <p:nvPr/>
        </p:nvSpPr>
        <p:spPr>
          <a:xfrm>
            <a:off x="6583680" y="0"/>
            <a:ext cx="5608015" cy="6492240"/>
          </a:xfrm>
          <a:prstGeom prst="rect">
            <a:avLst/>
          </a:prstGeom>
          <a:solidFill>
            <a:schemeClr val="bg2"/>
          </a:solidFill>
          <a:ln/>
        </p:spPr>
      </p:sp>
      <p:pic>
        <p:nvPicPr>
          <p:cNvPr id="3" name="Cover logo mark" descr="VERDEAXIS logo mark: a V whose right stroke is made of shading louvres">    </p:cNvPr>
          <p:cNvPicPr>
            <a:picLocks noChangeAspect="1"/>
          </p:cNvPicPr>
          <p:nvPr/>
        </p:nvPicPr>
        <p:blipFill>
          <a:blip r:embed="rId1"/>
          <a:stretch>
            <a:fillRect/>
          </a:stretch>
        </p:blipFill>
        <p:spPr>
          <a:xfrm>
            <a:off x="7376008" y="1234440"/>
            <a:ext cx="4023360" cy="4023360"/>
          </a:xfrm>
          <a:prstGeom prst="rect">
            <a:avLst/>
          </a:prstGeom>
        </p:spPr>
      </p:pic>
      <p:pic>
        <p:nvPicPr>
          <p:cNvPr id="4" name="Warming stripes" descr="Warming stripes: global temperature 1880 to 2025, NASA GISTEMP">    </p:cNvPr>
          <p:cNvPicPr>
            <a:picLocks noChangeAspect="1"/>
          </p:cNvPicPr>
          <p:nvPr/>
        </p:nvPicPr>
        <p:blipFill>
          <a:blip r:embed="rId2"/>
          <a:stretch>
            <a:fillRect/>
          </a:stretch>
        </p:blipFill>
        <p:spPr>
          <a:xfrm>
            <a:off x="0" y="6492240"/>
            <a:ext cx="12191695" cy="365760"/>
          </a:xfrm>
          <a:prstGeom prst="rect">
            <a:avLst/>
          </a:prstGeom>
        </p:spPr>
      </p:pic>
      <p:sp>
        <p:nvSpPr>
          <p:cNvPr id="5" name="Text 1"/>
          <p:cNvSpPr txBox="1"/>
          <p:nvPr/>
        </p:nvSpPr>
        <p:spPr>
          <a:xfrm>
            <a:off x="640080" y="822960"/>
            <a:ext cx="5486400" cy="274320"/>
          </a:xfrm>
          <a:prstGeom prst="rect">
            <a:avLst/>
          </a:prstGeom>
          <a:noFill/>
          <a:ln/>
        </p:spPr>
        <p:txBody>
          <a:bodyPr wrap="square" lIns="0" tIns="0" rIns="0" bIns="0" rtlCol="0" anchor="t"/>
          <a:lstStyle/>
          <a:p>
            <a:pPr indent="0" marL="0">
              <a:buNone/>
            </a:pPr>
            <a:r>
              <a:rPr lang="en-US" sz="1200" b="1" spc="300" kern="0" dirty="0">
                <a:solidFill>
                  <a:schemeClr val="accent2"/>
                </a:solidFill>
              </a:rPr>
              <a:t>SUSTAINABILITY CONSULTING</a:t>
            </a:r>
            <a:endParaRPr lang="en-US" sz="1200" dirty="0"/>
          </a:p>
        </p:txBody>
      </p:sp>
      <p:sp>
        <p:nvSpPr>
          <p:cNvPr id="6" name="Text 2"/>
          <p:cNvSpPr txBox="1"/>
          <p:nvPr/>
        </p:nvSpPr>
        <p:spPr>
          <a:xfrm>
            <a:off x="640080" y="1234440"/>
            <a:ext cx="5852160" cy="1005840"/>
          </a:xfrm>
          <a:prstGeom prst="rect">
            <a:avLst/>
          </a:prstGeom>
          <a:noFill/>
          <a:ln/>
        </p:spPr>
        <p:txBody>
          <a:bodyPr wrap="square" lIns="0" tIns="0" rIns="0" bIns="0" rtlCol="0" anchor="t"/>
          <a:lstStyle/>
          <a:p>
            <a:pPr indent="0" marL="0">
              <a:buNone/>
            </a:pPr>
            <a:r>
              <a:rPr lang="en-US" sz="6000" b="1" spc="100" kern="0" dirty="0">
                <a:solidFill>
                  <a:schemeClr val="tx1"/>
                </a:solidFill>
              </a:rPr>
              <a:t>VERDEAXIS</a:t>
            </a:r>
            <a:endParaRPr lang="en-US" sz="6000" dirty="0"/>
          </a:p>
        </p:txBody>
      </p:sp>
      <p:sp>
        <p:nvSpPr>
          <p:cNvPr id="7" name="Text 3"/>
          <p:cNvSpPr txBox="1"/>
          <p:nvPr/>
        </p:nvSpPr>
        <p:spPr>
          <a:xfrm>
            <a:off x="640080" y="2514600"/>
            <a:ext cx="5486400" cy="1097280"/>
          </a:xfrm>
          <a:prstGeom prst="rect">
            <a:avLst/>
          </a:prstGeom>
          <a:noFill/>
          <a:ln/>
        </p:spPr>
        <p:txBody>
          <a:bodyPr wrap="square" lIns="0" tIns="0" rIns="0" bIns="0" rtlCol="0" anchor="t"/>
          <a:lstStyle/>
          <a:p>
            <a:pPr indent="0" marL="0">
              <a:buNone/>
            </a:pPr>
            <a:r>
              <a:rPr lang="en-US" sz="2800" i="1" dirty="0">
                <a:solidFill>
                  <a:schemeClr val="accent2"/>
                </a:solidFill>
              </a:rPr>
              <a:t>Closing the gap between regulation and reality.</a:t>
            </a:r>
            <a:endParaRPr lang="en-US" sz="2800" dirty="0"/>
          </a:p>
        </p:txBody>
      </p:sp>
      <p:sp>
        <p:nvSpPr>
          <p:cNvPr id="8" name="Text 4"/>
          <p:cNvSpPr txBox="1"/>
          <p:nvPr/>
        </p:nvSpPr>
        <p:spPr>
          <a:xfrm>
            <a:off x="640080" y="3794760"/>
            <a:ext cx="5303520" cy="868680"/>
          </a:xfrm>
          <a:prstGeom prst="rect">
            <a:avLst/>
          </a:prstGeom>
          <a:noFill/>
          <a:ln/>
        </p:spPr>
        <p:txBody>
          <a:bodyPr wrap="square" lIns="0" tIns="0" rIns="0" bIns="0" rtlCol="0" anchor="t"/>
          <a:lstStyle/>
          <a:p>
            <a:pPr indent="0" marL="0">
              <a:lnSpc>
                <a:spcPct val="115000"/>
              </a:lnSpc>
              <a:buNone/>
            </a:pPr>
            <a:r>
              <a:rPr lang="en-US" sz="1600" dirty="0">
                <a:solidFill>
                  <a:schemeClr val="tx2"/>
                </a:solidFill>
              </a:rPr>
              <a:t>We help developers, manufacturers and listed companies get certified, cut energy and carbon, and report it with confidence.</a:t>
            </a:r>
            <a:endParaRPr lang="en-US" sz="1600" dirty="0"/>
          </a:p>
        </p:txBody>
      </p:sp>
      <p:sp>
        <p:nvSpPr>
          <p:cNvPr id="9" name="Cover rule"/>
          <p:cNvSpPr/>
          <p:nvPr/>
        </p:nvSpPr>
        <p:spPr>
          <a:xfrm>
            <a:off x="640080" y="4983480"/>
            <a:ext cx="5303520" cy="0"/>
          </a:xfrm>
          <a:prstGeom prst="line">
            <a:avLst/>
          </a:prstGeom>
          <a:noFill/>
          <a:ln w="9525">
            <a:solidFill>
              <a:schemeClr val="accent6"/>
            </a:solidFill>
            <a:prstDash val="solid"/>
          </a:ln>
        </p:spPr>
      </p:sp>
      <p:sp>
        <p:nvSpPr>
          <p:cNvPr id="10" name="Text 6"/>
          <p:cNvSpPr txBox="1"/>
          <p:nvPr/>
        </p:nvSpPr>
        <p:spPr>
          <a:xfrm>
            <a:off x="640080" y="5166360"/>
            <a:ext cx="5669280" cy="320040"/>
          </a:xfrm>
          <a:prstGeom prst="rect">
            <a:avLst/>
          </a:prstGeom>
          <a:noFill/>
          <a:ln/>
        </p:spPr>
        <p:txBody>
          <a:bodyPr wrap="square" lIns="0" tIns="0" rIns="0" bIns="0" rtlCol="0" anchor="t"/>
          <a:lstStyle/>
          <a:p>
            <a:pPr indent="0" marL="0">
              <a:buNone/>
            </a:pPr>
            <a:r>
              <a:rPr lang="en-US" sz="1400" b="1" dirty="0">
                <a:solidFill>
                  <a:schemeClr val="tx1"/>
                </a:solidFill>
              </a:rPr>
              <a:t>Siddhant Jain</a:t>
            </a:r>
            <a:pPr indent="0" marL="0">
              <a:buNone/>
            </a:pPr>
            <a:r>
              <a:rPr lang="en-US" sz="1400" dirty="0">
                <a:solidFill>
                  <a:schemeClr val="tx2"/>
                </a:solidFill>
              </a:rPr>
              <a:t>   Founder  ·  IGBC AP  ·  EDGE Expert &amp; Auditor</a:t>
            </a:r>
            <a:endParaRPr lang="en-US" sz="1400" dirty="0"/>
          </a:p>
        </p:txBody>
      </p:sp>
      <p:sp>
        <p:nvSpPr>
          <p:cNvPr id="11" name="Text 7"/>
          <p:cNvSpPr txBox="1"/>
          <p:nvPr/>
        </p:nvSpPr>
        <p:spPr>
          <a:xfrm>
            <a:off x="640080" y="5623560"/>
            <a:ext cx="5669280" cy="320040"/>
          </a:xfrm>
          <a:prstGeom prst="rect">
            <a:avLst/>
          </a:prstGeom>
          <a:noFill/>
          <a:ln/>
        </p:spPr>
        <p:txBody>
          <a:bodyPr wrap="square" lIns="0" tIns="0" rIns="0" bIns="0" rtlCol="0" anchor="t"/>
          <a:lstStyle/>
          <a:p>
            <a:pPr indent="0" marL="0">
              <a:buNone/>
            </a:pPr>
            <a:r>
              <a:rPr lang="en-US" sz="1400" u="sng" dirty="0">
                <a:solidFill>
                  <a:schemeClr val="accent4"/>
                </a:solidFill>
                <a:hlinkClick r:id="rId3" invalidUrl="" action="" tgtFrame="" tooltip="" history="1" highlightClick="0" endSnd="0">
                  <a:extLst>
                    <a:ext uri="{A12FA001-AC4F-418D-AE19-62706E023703}">
                      <ahyp:hlinkClr xmlns:ahyp="http://schemas.microsoft.com/office/drawing/2018/hyperlinkcolor" val="tx"/>
                    </a:ext>
                  </a:extLst>
                </a:hlinkClick>
              </a:rPr>
              <a:t>info@verdeaxis.com</a:t>
            </a:r>
            <a:pPr indent="0" marL="0">
              <a:buNone/>
            </a:pPr>
            <a:r>
              <a:rPr lang="en-US" sz="1400" dirty="0">
                <a:solidFill>
                  <a:schemeClr val="accent4"/>
                </a:solidFill>
              </a:rPr>
              <a:t>    </a:t>
            </a:r>
            <a:pPr indent="0" marL="0">
              <a:buNone/>
            </a:pPr>
            <a:r>
              <a:rPr lang="en-US" sz="1400" u="sng" dirty="0">
                <a:solidFill>
                  <a:schemeClr val="accent4"/>
                </a:solidFill>
                <a:hlinkClick r:id="rId4" invalidUrl="" action="" tgtFrame="" tooltip="" history="1" highlightClick="0" endSnd="0">
                  <a:extLst>
                    <a:ext uri="{A12FA001-AC4F-418D-AE19-62706E023703}">
                      <ahyp:hlinkClr xmlns:ahyp="http://schemas.microsoft.com/office/drawing/2018/hyperlinkcolor" val="tx"/>
                    </a:ext>
                  </a:extLst>
                </a:hlinkClick>
              </a:rPr>
              <a:t>+91 97255 23213</a:t>
            </a:r>
            <a:pPr indent="0" marL="0">
              <a:buNone/>
            </a:pPr>
            <a:r>
              <a:rPr lang="en-US" sz="1400" dirty="0">
                <a:solidFill>
                  <a:schemeClr val="accent4"/>
                </a:solidFill>
              </a:rPr>
              <a:t>    </a:t>
            </a:r>
            <a:pPr indent="0" marL="0">
              <a:buNone/>
            </a:pPr>
            <a:r>
              <a:rPr lang="en-US" sz="1400" u="sng" dirty="0">
                <a:solidFill>
                  <a:schemeClr val="accent4"/>
                </a:solidFill>
                <a:hlinkClick r:id="rId5" invalidUrl="" action="" tgtFrame="" tooltip="" history="1" highlightClick="0" endSnd="0">
                  <a:extLst>
                    <a:ext uri="{A12FA001-AC4F-418D-AE19-62706E023703}">
                      <ahyp:hlinkClr xmlns:ahyp="http://schemas.microsoft.com/office/drawing/2018/hyperlinkcolor" val="tx"/>
                    </a:ext>
                  </a:extLst>
                </a:hlinkClick>
              </a:rPr>
              <a:t>verdeaxis.com</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Hawa Mahal photo" descr="The Hawa Mahal's façade of small latticed windows, Jaipur">    </p:cNvPr>
          <p:cNvPicPr>
            <a:picLocks noChangeAspect="1"/>
          </p:cNvPicPr>
          <p:nvPr/>
        </p:nvPicPr>
        <p:blipFill>
          <a:blip r:embed="rId1"/>
          <a:stretch>
            <a:fillRect/>
          </a:stretch>
        </p:blipFill>
        <p:spPr>
          <a:xfrm>
            <a:off x="0" y="0"/>
            <a:ext cx="6036412" cy="4206240"/>
          </a:xfrm>
          <a:prstGeom prst="rect">
            <a:avLst/>
          </a:prstGeom>
        </p:spPr>
      </p:pic>
      <p:pic>
        <p:nvPicPr>
          <p:cNvPr id="3" name="IIM Ahmedabad photo" descr="Brick buildings with deep-set openings at IIM Ahmedabad">    </p:cNvPr>
          <p:cNvPicPr>
            <a:picLocks noChangeAspect="1"/>
          </p:cNvPicPr>
          <p:nvPr/>
        </p:nvPicPr>
        <p:blipFill>
          <a:blip r:embed="rId2"/>
          <a:stretch>
            <a:fillRect/>
          </a:stretch>
        </p:blipFill>
        <p:spPr>
          <a:xfrm>
            <a:off x="6155284" y="0"/>
            <a:ext cx="6036412" cy="4206240"/>
          </a:xfrm>
          <a:prstGeom prst="rect">
            <a:avLst/>
          </a:prstGeom>
        </p:spPr>
      </p:pic>
      <p:sp>
        <p:nvSpPr>
          <p:cNvPr id="4" name="Text 0"/>
          <p:cNvSpPr txBox="1"/>
          <p:nvPr/>
        </p:nvSpPr>
        <p:spPr>
          <a:xfrm>
            <a:off x="640080" y="4343400"/>
            <a:ext cx="5213452" cy="320040"/>
          </a:xfrm>
          <a:prstGeom prst="rect">
            <a:avLst/>
          </a:prstGeom>
          <a:noFill/>
          <a:ln/>
        </p:spPr>
        <p:txBody>
          <a:bodyPr wrap="square" lIns="0" tIns="0" rIns="0" bIns="0" rtlCol="0" anchor="t"/>
          <a:lstStyle/>
          <a:p>
            <a:pPr indent="0" marL="0">
              <a:buNone/>
            </a:pPr>
            <a:r>
              <a:rPr lang="en-US" sz="1200" b="1" dirty="0">
                <a:solidFill>
                  <a:schemeClr val="tx1"/>
                </a:solidFill>
              </a:rPr>
              <a:t>Hawa Mahal, Jaipur, 1799.  </a:t>
            </a:r>
            <a:pPr indent="0" marL="0">
              <a:buNone/>
            </a:pPr>
            <a:r>
              <a:rPr lang="en-US" sz="1200" dirty="0">
                <a:solidFill>
                  <a:schemeClr val="accent4"/>
                </a:solidFill>
              </a:rPr>
              <a:t>953 small windows pull breezes through the palace.</a:t>
            </a:r>
            <a:endParaRPr lang="en-US" sz="1200" dirty="0"/>
          </a:p>
        </p:txBody>
      </p:sp>
      <p:sp>
        <p:nvSpPr>
          <p:cNvPr id="5" name="Text 1"/>
          <p:cNvSpPr txBox="1"/>
          <p:nvPr/>
        </p:nvSpPr>
        <p:spPr>
          <a:xfrm>
            <a:off x="6429604" y="4343400"/>
            <a:ext cx="5213452" cy="320040"/>
          </a:xfrm>
          <a:prstGeom prst="rect">
            <a:avLst/>
          </a:prstGeom>
          <a:noFill/>
          <a:ln/>
        </p:spPr>
        <p:txBody>
          <a:bodyPr wrap="square" lIns="0" tIns="0" rIns="0" bIns="0" rtlCol="0" anchor="t"/>
          <a:lstStyle/>
          <a:p>
            <a:pPr indent="0" marL="0">
              <a:buNone/>
            </a:pPr>
            <a:r>
              <a:rPr lang="en-US" sz="1200" b="1" dirty="0">
                <a:solidFill>
                  <a:schemeClr val="tx1"/>
                </a:solidFill>
              </a:rPr>
              <a:t>IIM Ahmedabad, 1974.  </a:t>
            </a:r>
            <a:pPr indent="0" marL="0">
              <a:buNone/>
            </a:pPr>
            <a:r>
              <a:rPr lang="en-US" sz="1200" dirty="0">
                <a:solidFill>
                  <a:schemeClr val="accent4"/>
                </a:solidFill>
              </a:rPr>
              <a:t>Deep-set openings and brick walls that shade themselves.</a:t>
            </a:r>
            <a:endParaRPr lang="en-US" sz="1200" dirty="0"/>
          </a:p>
        </p:txBody>
      </p:sp>
      <p:sp>
        <p:nvSpPr>
          <p:cNvPr id="6" name="Text 2"/>
          <p:cNvSpPr txBox="1"/>
          <p:nvPr/>
        </p:nvSpPr>
        <p:spPr>
          <a:xfrm>
            <a:off x="640080" y="4937760"/>
            <a:ext cx="4937760" cy="1371600"/>
          </a:xfrm>
          <a:prstGeom prst="rect">
            <a:avLst/>
          </a:prstGeom>
          <a:noFill/>
          <a:ln/>
        </p:spPr>
        <p:txBody>
          <a:bodyPr wrap="square" lIns="0" tIns="0" rIns="0" bIns="0" rtlCol="0" anchor="t"/>
          <a:lstStyle/>
          <a:p>
            <a:pPr indent="0" marL="0">
              <a:lnSpc>
                <a:spcPct val="105000"/>
              </a:lnSpc>
              <a:buNone/>
            </a:pPr>
            <a:r>
              <a:rPr lang="en-US" sz="2800" b="1" dirty="0">
                <a:solidFill>
                  <a:schemeClr val="tx1"/>
                </a:solidFill>
              </a:rPr>
              <a:t>India has always known how to build for heat.</a:t>
            </a:r>
            <a:endParaRPr lang="en-US" sz="2800" dirty="0"/>
          </a:p>
        </p:txBody>
      </p:sp>
      <p:sp>
        <p:nvSpPr>
          <p:cNvPr id="7" name="Text 3"/>
          <p:cNvSpPr txBox="1"/>
          <p:nvPr/>
        </p:nvSpPr>
        <p:spPr>
          <a:xfrm>
            <a:off x="6429604" y="4956048"/>
            <a:ext cx="5213452" cy="1463040"/>
          </a:xfrm>
          <a:prstGeom prst="rect">
            <a:avLst/>
          </a:prstGeom>
          <a:noFill/>
          <a:ln/>
        </p:spPr>
        <p:txBody>
          <a:bodyPr wrap="square" lIns="0" tIns="0" rIns="0" bIns="0" rtlCol="0" anchor="t"/>
          <a:lstStyle/>
          <a:p>
            <a:pPr indent="0" marL="0">
              <a:lnSpc>
                <a:spcPct val="120000"/>
              </a:lnSpc>
              <a:buNone/>
            </a:pPr>
            <a:r>
              <a:rPr lang="en-US" sz="1600" dirty="0">
                <a:solidFill>
                  <a:schemeClr val="tx2"/>
                </a:solidFill>
              </a:rPr>
              <a:t>Modern buildings can do the same, if the right decisions are made early, when they cost the least. We help you make those decisions with models and real numbers, then get the result certified.</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ection label"/>
          <p:cNvSpPr txBox="1"/>
          <p:nvPr/>
        </p:nvSpPr>
        <p:spPr>
          <a:xfrm>
            <a:off x="640080" y="411480"/>
            <a:ext cx="10911535"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AT A GLANCE</a:t>
            </a:r>
            <a:endParaRPr lang="en-US" sz="1200" dirty="0"/>
          </a:p>
        </p:txBody>
      </p:sp>
      <p:sp>
        <p:nvSpPr>
          <p:cNvPr id="3" name="Text 1"/>
          <p:cNvSpPr/>
          <p:nvPr>
            <p:ph idx="102" type="title" hasCustomPrompt="1"/>
          </p:nvPr>
        </p:nvSpPr>
        <p:spPr>
          <a:xfrm>
            <a:off x="640080" y="777240"/>
            <a:ext cx="10911535" cy="685800"/>
          </a:xfrm>
          <a:prstGeom prst="rect">
            <a:avLst/>
          </a:prstGeom>
          <a:noFill/>
          <a:ln/>
        </p:spPr>
        <p:txBody>
          <a:bodyPr wrap="square" lIns="0" tIns="0" rIns="0" bIns="0" rtlCol="0" anchor="t"/>
          <a:lstStyle/>
          <a:p>
            <a:pPr algn="l" indent="0" marL="0">
              <a:buNone/>
            </a:pPr>
            <a:r>
              <a:rPr lang="en-US" sz="3000" b="1" dirty="0">
                <a:solidFill>
                  <a:schemeClr val="tx1"/>
                </a:solidFill>
              </a:rPr>
              <a:t>A new firm with seven years of practice behind it</a:t>
            </a:r>
            <a:endParaRPr lang="en-US" sz="3000" dirty="0"/>
          </a:p>
        </p:txBody>
      </p:sp>
      <p:sp>
        <p:nvSpPr>
          <p:cNvPr id="4" name="Text 2"/>
          <p:cNvSpPr txBox="1"/>
          <p:nvPr/>
        </p:nvSpPr>
        <p:spPr>
          <a:xfrm>
            <a:off x="640080" y="1828800"/>
            <a:ext cx="2430704"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WHAT WE DO</a:t>
            </a:r>
            <a:endParaRPr lang="en-US" sz="1200" dirty="0"/>
          </a:p>
        </p:txBody>
      </p:sp>
      <p:sp>
        <p:nvSpPr>
          <p:cNvPr id="5" name="Text 3"/>
          <p:cNvSpPr txBox="1"/>
          <p:nvPr/>
        </p:nvSpPr>
        <p:spPr>
          <a:xfrm>
            <a:off x="640080" y="2240280"/>
            <a:ext cx="2384984" cy="1828800"/>
          </a:xfrm>
          <a:prstGeom prst="rect">
            <a:avLst/>
          </a:prstGeom>
          <a:noFill/>
          <a:ln/>
        </p:spPr>
        <p:txBody>
          <a:bodyPr wrap="square" lIns="0" tIns="0" rIns="0" bIns="0" rtlCol="0" anchor="t"/>
          <a:lstStyle/>
          <a:p>
            <a:pPr indent="0" marL="0">
              <a:lnSpc>
                <a:spcPct val="120000"/>
              </a:lnSpc>
              <a:buNone/>
            </a:pPr>
            <a:r>
              <a:rPr lang="en-US" sz="1600" dirty="0">
                <a:solidFill>
                  <a:schemeClr val="tx1"/>
                </a:solidFill>
              </a:rPr>
              <a:t>Green building certification, energy and daylight modelling, GHG accounting, LCA and ESG reporting.</a:t>
            </a:r>
            <a:endParaRPr lang="en-US" sz="1600" dirty="0"/>
          </a:p>
        </p:txBody>
      </p:sp>
      <p:sp>
        <p:nvSpPr>
          <p:cNvPr id="6" name="Column rule 1"/>
          <p:cNvSpPr/>
          <p:nvPr/>
        </p:nvSpPr>
        <p:spPr>
          <a:xfrm>
            <a:off x="3299384" y="1828800"/>
            <a:ext cx="0" cy="2286000"/>
          </a:xfrm>
          <a:prstGeom prst="line">
            <a:avLst/>
          </a:prstGeom>
          <a:noFill/>
          <a:ln w="9525">
            <a:solidFill>
              <a:schemeClr val="accent6"/>
            </a:solidFill>
            <a:prstDash val="solid"/>
          </a:ln>
        </p:spPr>
      </p:sp>
      <p:sp>
        <p:nvSpPr>
          <p:cNvPr id="7" name="Text 5"/>
          <p:cNvSpPr txBox="1"/>
          <p:nvPr/>
        </p:nvSpPr>
        <p:spPr>
          <a:xfrm>
            <a:off x="3436544" y="1828800"/>
            <a:ext cx="2430704"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WHO IT'S FOR</a:t>
            </a:r>
            <a:endParaRPr lang="en-US" sz="1200" dirty="0"/>
          </a:p>
        </p:txBody>
      </p:sp>
      <p:sp>
        <p:nvSpPr>
          <p:cNvPr id="8" name="Text 6"/>
          <p:cNvSpPr txBox="1"/>
          <p:nvPr/>
        </p:nvSpPr>
        <p:spPr>
          <a:xfrm>
            <a:off x="3436544" y="2240280"/>
            <a:ext cx="2384984" cy="1828800"/>
          </a:xfrm>
          <a:prstGeom prst="rect">
            <a:avLst/>
          </a:prstGeom>
          <a:noFill/>
          <a:ln/>
        </p:spPr>
        <p:txBody>
          <a:bodyPr wrap="square" lIns="0" tIns="0" rIns="0" bIns="0" rtlCol="0" anchor="t"/>
          <a:lstStyle/>
          <a:p>
            <a:pPr indent="0" marL="0">
              <a:lnSpc>
                <a:spcPct val="120000"/>
              </a:lnSpc>
              <a:buNone/>
            </a:pPr>
            <a:r>
              <a:rPr lang="en-US" sz="1600" dirty="0">
                <a:solidFill>
                  <a:schemeClr val="tx1"/>
                </a:solidFill>
              </a:rPr>
              <a:t>Developers, retail and logistics owners, manufacturers, listed companies, and their architects.</a:t>
            </a:r>
            <a:endParaRPr lang="en-US" sz="1600" dirty="0"/>
          </a:p>
        </p:txBody>
      </p:sp>
      <p:sp>
        <p:nvSpPr>
          <p:cNvPr id="9" name="Column rule 2"/>
          <p:cNvSpPr/>
          <p:nvPr/>
        </p:nvSpPr>
        <p:spPr>
          <a:xfrm>
            <a:off x="6095848" y="1828800"/>
            <a:ext cx="0" cy="2286000"/>
          </a:xfrm>
          <a:prstGeom prst="line">
            <a:avLst/>
          </a:prstGeom>
          <a:noFill/>
          <a:ln w="9525">
            <a:solidFill>
              <a:schemeClr val="accent6"/>
            </a:solidFill>
            <a:prstDash val="solid"/>
          </a:ln>
        </p:spPr>
      </p:sp>
      <p:sp>
        <p:nvSpPr>
          <p:cNvPr id="10" name="Text 8"/>
          <p:cNvSpPr txBox="1"/>
          <p:nvPr/>
        </p:nvSpPr>
        <p:spPr>
          <a:xfrm>
            <a:off x="6233008" y="1828800"/>
            <a:ext cx="2430704"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HOW WE WORK</a:t>
            </a:r>
            <a:endParaRPr lang="en-US" sz="1200" dirty="0"/>
          </a:p>
        </p:txBody>
      </p:sp>
      <p:sp>
        <p:nvSpPr>
          <p:cNvPr id="11" name="Text 9"/>
          <p:cNvSpPr txBox="1"/>
          <p:nvPr/>
        </p:nvSpPr>
        <p:spPr>
          <a:xfrm>
            <a:off x="6233008" y="2240280"/>
            <a:ext cx="2384984" cy="1828800"/>
          </a:xfrm>
          <a:prstGeom prst="rect">
            <a:avLst/>
          </a:prstGeom>
          <a:noFill/>
          <a:ln/>
        </p:spPr>
        <p:txBody>
          <a:bodyPr wrap="square" lIns="0" tIns="0" rIns="0" bIns="0" rtlCol="0" anchor="t"/>
          <a:lstStyle/>
          <a:p>
            <a:pPr indent="0" marL="0">
              <a:lnSpc>
                <a:spcPct val="120000"/>
              </a:lnSpc>
              <a:buNone/>
            </a:pPr>
            <a:r>
              <a:rPr lang="en-US" sz="1600" dirty="0">
                <a:solidFill>
                  <a:schemeClr val="tx1"/>
                </a:solidFill>
              </a:rPr>
              <a:t>You deal with the founder, not a junior team. Advice comes from our own models and numbers.</a:t>
            </a:r>
            <a:endParaRPr lang="en-US" sz="1600" dirty="0"/>
          </a:p>
        </p:txBody>
      </p:sp>
      <p:sp>
        <p:nvSpPr>
          <p:cNvPr id="12" name="Column rule 3"/>
          <p:cNvSpPr/>
          <p:nvPr/>
        </p:nvSpPr>
        <p:spPr>
          <a:xfrm>
            <a:off x="8892311" y="1828800"/>
            <a:ext cx="0" cy="2286000"/>
          </a:xfrm>
          <a:prstGeom prst="line">
            <a:avLst/>
          </a:prstGeom>
          <a:noFill/>
          <a:ln w="9525">
            <a:solidFill>
              <a:schemeClr val="accent6"/>
            </a:solidFill>
            <a:prstDash val="solid"/>
          </a:ln>
        </p:spPr>
      </p:sp>
      <p:sp>
        <p:nvSpPr>
          <p:cNvPr id="13" name="Text 11"/>
          <p:cNvSpPr txBox="1"/>
          <p:nvPr/>
        </p:nvSpPr>
        <p:spPr>
          <a:xfrm>
            <a:off x="9029471" y="1828800"/>
            <a:ext cx="2430704"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WHERE</a:t>
            </a:r>
            <a:endParaRPr lang="en-US" sz="1200" dirty="0"/>
          </a:p>
        </p:txBody>
      </p:sp>
      <p:sp>
        <p:nvSpPr>
          <p:cNvPr id="14" name="Text 12"/>
          <p:cNvSpPr txBox="1"/>
          <p:nvPr/>
        </p:nvSpPr>
        <p:spPr>
          <a:xfrm>
            <a:off x="9029471" y="2240280"/>
            <a:ext cx="2384984" cy="1828800"/>
          </a:xfrm>
          <a:prstGeom prst="rect">
            <a:avLst/>
          </a:prstGeom>
          <a:noFill/>
          <a:ln/>
        </p:spPr>
        <p:txBody>
          <a:bodyPr wrap="square" lIns="0" tIns="0" rIns="0" bIns="0" rtlCol="0" anchor="t"/>
          <a:lstStyle/>
          <a:p>
            <a:pPr indent="0" marL="0">
              <a:lnSpc>
                <a:spcPct val="120000"/>
              </a:lnSpc>
              <a:buNone/>
            </a:pPr>
            <a:r>
              <a:rPr lang="en-US" sz="1600" dirty="0">
                <a:solidFill>
                  <a:schemeClr val="tx1"/>
                </a:solidFill>
              </a:rPr>
              <a:t>Based in India. Project experience in Malaysia, France, Vietnam, Cambodia and Thailand.</a:t>
            </a:r>
            <a:endParaRPr lang="en-US" sz="1600" dirty="0"/>
          </a:p>
        </p:txBody>
      </p:sp>
      <p:sp>
        <p:nvSpPr>
          <p:cNvPr id="15" name="Numbers panel"/>
          <p:cNvSpPr/>
          <p:nvPr/>
        </p:nvSpPr>
        <p:spPr>
          <a:xfrm>
            <a:off x="640080" y="4434840"/>
            <a:ext cx="10911535" cy="1463040"/>
          </a:xfrm>
          <a:prstGeom prst="rect">
            <a:avLst/>
          </a:prstGeom>
          <a:solidFill>
            <a:schemeClr val="bg2"/>
          </a:solidFill>
          <a:ln/>
        </p:spPr>
      </p:sp>
      <p:sp>
        <p:nvSpPr>
          <p:cNvPr id="16" name="Text 14"/>
          <p:cNvSpPr txBox="1"/>
          <p:nvPr/>
        </p:nvSpPr>
        <p:spPr>
          <a:xfrm>
            <a:off x="1005840" y="4572000"/>
            <a:ext cx="2377440" cy="777240"/>
          </a:xfrm>
          <a:prstGeom prst="rect">
            <a:avLst/>
          </a:prstGeom>
          <a:noFill/>
          <a:ln/>
        </p:spPr>
        <p:txBody>
          <a:bodyPr wrap="square" lIns="0" tIns="0" rIns="0" bIns="0" rtlCol="0" anchor="ctr"/>
          <a:lstStyle/>
          <a:p>
            <a:pPr indent="0" marL="0">
              <a:buNone/>
            </a:pPr>
            <a:r>
              <a:rPr lang="en-US" sz="4800" b="1" dirty="0">
                <a:solidFill>
                  <a:schemeClr val="accent1"/>
                </a:solidFill>
              </a:rPr>
              <a:t>7+</a:t>
            </a:r>
            <a:endParaRPr lang="en-US" sz="4800" dirty="0"/>
          </a:p>
        </p:txBody>
      </p:sp>
      <p:sp>
        <p:nvSpPr>
          <p:cNvPr id="17" name="Text 15"/>
          <p:cNvSpPr txBox="1"/>
          <p:nvPr/>
        </p:nvSpPr>
        <p:spPr>
          <a:xfrm>
            <a:off x="1005840" y="5349240"/>
            <a:ext cx="2377440" cy="320040"/>
          </a:xfrm>
          <a:prstGeom prst="rect">
            <a:avLst/>
          </a:prstGeom>
          <a:noFill/>
          <a:ln/>
        </p:spPr>
        <p:txBody>
          <a:bodyPr wrap="square" lIns="0" tIns="0" rIns="0" bIns="0" rtlCol="0" anchor="t"/>
          <a:lstStyle/>
          <a:p>
            <a:pPr indent="0" marL="0">
              <a:buNone/>
            </a:pPr>
            <a:r>
              <a:rPr lang="en-US" sz="1400" dirty="0">
                <a:solidFill>
                  <a:schemeClr val="tx2"/>
                </a:solidFill>
              </a:rPr>
              <a:t>years in practice</a:t>
            </a:r>
            <a:endParaRPr lang="en-US" sz="1400" dirty="0"/>
          </a:p>
        </p:txBody>
      </p:sp>
      <p:sp>
        <p:nvSpPr>
          <p:cNvPr id="18" name="Text 16"/>
          <p:cNvSpPr txBox="1"/>
          <p:nvPr/>
        </p:nvSpPr>
        <p:spPr>
          <a:xfrm>
            <a:off x="3550844" y="4572000"/>
            <a:ext cx="2377440" cy="777240"/>
          </a:xfrm>
          <a:prstGeom prst="rect">
            <a:avLst/>
          </a:prstGeom>
          <a:noFill/>
          <a:ln/>
        </p:spPr>
        <p:txBody>
          <a:bodyPr wrap="square" lIns="0" tIns="0" rIns="0" bIns="0" rtlCol="0" anchor="ctr"/>
          <a:lstStyle/>
          <a:p>
            <a:pPr indent="0" marL="0">
              <a:buNone/>
            </a:pPr>
            <a:r>
              <a:rPr lang="en-US" sz="4800" b="1" dirty="0">
                <a:solidFill>
                  <a:schemeClr val="accent1"/>
                </a:solidFill>
              </a:rPr>
              <a:t>200+</a:t>
            </a:r>
            <a:endParaRPr lang="en-US" sz="4800" dirty="0"/>
          </a:p>
        </p:txBody>
      </p:sp>
      <p:sp>
        <p:nvSpPr>
          <p:cNvPr id="19" name="Text 17"/>
          <p:cNvSpPr txBox="1"/>
          <p:nvPr/>
        </p:nvSpPr>
        <p:spPr>
          <a:xfrm>
            <a:off x="3550844" y="5349240"/>
            <a:ext cx="2377440" cy="320040"/>
          </a:xfrm>
          <a:prstGeom prst="rect">
            <a:avLst/>
          </a:prstGeom>
          <a:noFill/>
          <a:ln/>
        </p:spPr>
        <p:txBody>
          <a:bodyPr wrap="square" lIns="0" tIns="0" rIns="0" bIns="0" rtlCol="0" anchor="t"/>
          <a:lstStyle/>
          <a:p>
            <a:pPr indent="0" marL="0">
              <a:buNone/>
            </a:pPr>
            <a:r>
              <a:rPr lang="en-US" sz="1400" dirty="0">
                <a:solidFill>
                  <a:schemeClr val="tx2"/>
                </a:solidFill>
              </a:rPr>
              <a:t>certified projects</a:t>
            </a:r>
            <a:endParaRPr lang="en-US" sz="1400" dirty="0"/>
          </a:p>
        </p:txBody>
      </p:sp>
      <p:sp>
        <p:nvSpPr>
          <p:cNvPr id="20" name="Text 18"/>
          <p:cNvSpPr txBox="1"/>
          <p:nvPr/>
        </p:nvSpPr>
        <p:spPr>
          <a:xfrm>
            <a:off x="6095848" y="4572000"/>
            <a:ext cx="2377440" cy="777240"/>
          </a:xfrm>
          <a:prstGeom prst="rect">
            <a:avLst/>
          </a:prstGeom>
          <a:noFill/>
          <a:ln/>
        </p:spPr>
        <p:txBody>
          <a:bodyPr wrap="square" lIns="0" tIns="0" rIns="0" bIns="0" rtlCol="0" anchor="ctr"/>
          <a:lstStyle/>
          <a:p>
            <a:pPr indent="0" marL="0">
              <a:buNone/>
            </a:pPr>
            <a:r>
              <a:rPr lang="en-US" sz="4800" b="1" dirty="0">
                <a:solidFill>
                  <a:schemeClr val="accent1"/>
                </a:solidFill>
              </a:rPr>
              <a:t>6</a:t>
            </a:r>
            <a:endParaRPr lang="en-US" sz="4800" dirty="0"/>
          </a:p>
        </p:txBody>
      </p:sp>
      <p:sp>
        <p:nvSpPr>
          <p:cNvPr id="21" name="Text 19"/>
          <p:cNvSpPr txBox="1"/>
          <p:nvPr/>
        </p:nvSpPr>
        <p:spPr>
          <a:xfrm>
            <a:off x="6095848" y="5349240"/>
            <a:ext cx="2377440" cy="320040"/>
          </a:xfrm>
          <a:prstGeom prst="rect">
            <a:avLst/>
          </a:prstGeom>
          <a:noFill/>
          <a:ln/>
        </p:spPr>
        <p:txBody>
          <a:bodyPr wrap="square" lIns="0" tIns="0" rIns="0" bIns="0" rtlCol="0" anchor="t"/>
          <a:lstStyle/>
          <a:p>
            <a:pPr indent="0" marL="0">
              <a:buNone/>
            </a:pPr>
            <a:r>
              <a:rPr lang="en-US" sz="1400" dirty="0">
                <a:solidFill>
                  <a:schemeClr val="tx2"/>
                </a:solidFill>
              </a:rPr>
              <a:t>countries</a:t>
            </a:r>
            <a:endParaRPr lang="en-US" sz="1400" dirty="0"/>
          </a:p>
        </p:txBody>
      </p:sp>
      <p:sp>
        <p:nvSpPr>
          <p:cNvPr id="22" name="Text 20"/>
          <p:cNvSpPr txBox="1"/>
          <p:nvPr/>
        </p:nvSpPr>
        <p:spPr>
          <a:xfrm>
            <a:off x="8640851" y="4572000"/>
            <a:ext cx="2377440" cy="777240"/>
          </a:xfrm>
          <a:prstGeom prst="rect">
            <a:avLst/>
          </a:prstGeom>
          <a:noFill/>
          <a:ln/>
        </p:spPr>
        <p:txBody>
          <a:bodyPr wrap="square" lIns="0" tIns="0" rIns="0" bIns="0" rtlCol="0" anchor="ctr"/>
          <a:lstStyle/>
          <a:p>
            <a:pPr indent="0" marL="0">
              <a:buNone/>
            </a:pPr>
            <a:r>
              <a:rPr lang="en-US" sz="4800" b="1" dirty="0">
                <a:solidFill>
                  <a:schemeClr val="accent1"/>
                </a:solidFill>
              </a:rPr>
              <a:t>6</a:t>
            </a:r>
            <a:endParaRPr lang="en-US" sz="4800" dirty="0"/>
          </a:p>
        </p:txBody>
      </p:sp>
      <p:sp>
        <p:nvSpPr>
          <p:cNvPr id="23" name="Text 21"/>
          <p:cNvSpPr txBox="1"/>
          <p:nvPr/>
        </p:nvSpPr>
        <p:spPr>
          <a:xfrm>
            <a:off x="8640851" y="5349240"/>
            <a:ext cx="2377440" cy="320040"/>
          </a:xfrm>
          <a:prstGeom prst="rect">
            <a:avLst/>
          </a:prstGeom>
          <a:noFill/>
          <a:ln/>
        </p:spPr>
        <p:txBody>
          <a:bodyPr wrap="square" lIns="0" tIns="0" rIns="0" bIns="0" rtlCol="0" anchor="t"/>
          <a:lstStyle/>
          <a:p>
            <a:pPr indent="0" marL="0">
              <a:buNone/>
            </a:pPr>
            <a:r>
              <a:rPr lang="en-US" sz="1400" dirty="0">
                <a:solidFill>
                  <a:schemeClr val="tx2"/>
                </a:solidFill>
              </a:rPr>
              <a:t>rating systems</a:t>
            </a:r>
            <a:endParaRPr lang="en-US" sz="14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ection label"/>
          <p:cNvSpPr txBox="1"/>
          <p:nvPr/>
        </p:nvSpPr>
        <p:spPr>
          <a:xfrm>
            <a:off x="640080" y="411480"/>
            <a:ext cx="10911535"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01   INDIA</a:t>
            </a:r>
            <a:endParaRPr lang="en-US" sz="1200" dirty="0"/>
          </a:p>
        </p:txBody>
      </p:sp>
      <p:sp>
        <p:nvSpPr>
          <p:cNvPr id="3" name="Text 1"/>
          <p:cNvSpPr/>
          <p:nvPr>
            <p:ph idx="102" type="title" hasCustomPrompt="1"/>
          </p:nvPr>
        </p:nvSpPr>
        <p:spPr>
          <a:xfrm>
            <a:off x="640080" y="777240"/>
            <a:ext cx="10911535" cy="685800"/>
          </a:xfrm>
          <a:prstGeom prst="rect">
            <a:avLst/>
          </a:prstGeom>
          <a:noFill/>
          <a:ln/>
        </p:spPr>
        <p:txBody>
          <a:bodyPr wrap="square" lIns="0" tIns="0" rIns="0" bIns="0" rtlCol="0" anchor="t"/>
          <a:lstStyle/>
          <a:p>
            <a:pPr algn="l" indent="0" marL="0">
              <a:buNone/>
            </a:pPr>
            <a:r>
              <a:rPr lang="en-US" sz="3000" b="1" dirty="0">
                <a:solidFill>
                  <a:schemeClr val="tx1"/>
                </a:solidFill>
              </a:rPr>
              <a:t>India's rulebook is being rewritten</a:t>
            </a:r>
            <a:endParaRPr lang="en-US" sz="3000" dirty="0"/>
          </a:p>
        </p:txBody>
      </p:sp>
      <p:graphicFrame>
        <p:nvGraphicFramePr>
          <p:cNvPr id="5" name="India mandates table"/>
          <p:cNvGraphicFramePr>
            <a:graphicFrameLocks noGrp="1"/>
          </p:cNvGraphicFramePr>
          <p:nvPr>
            <p:extLst>
              <p:ext uri="{D42A27DB-BD31-4B8C-83A1-F6EECF244321}">
                <p14:modId xmlns:p14="http://schemas.microsoft.com/office/powerpoint/2010/main" val="1579011935"/>
              </p:ext>
            </p:extLst>
          </p:nvPr>
        </p:nvGraphicFramePr>
        <p:xfrm>
          <a:off x="640080" y="1691640"/>
          <a:ext cx="10911535" cy="914400"/>
        </p:xfrm>
        <a:graphic>
          <a:graphicData uri="http://schemas.openxmlformats.org/drawingml/2006/table">
            <a:tbl>
              <a:tblPr/>
              <a:tblGrid>
                <a:gridCol w="2514600"/>
                <a:gridCol w="4572000"/>
                <a:gridCol w="2240280"/>
                <a:gridCol w="1584655"/>
              </a:tblGrid>
              <a:tr h="365760">
                <a:tc>
                  <a:txBody>
                    <a:bodyPr/>
                    <a:lstStyle/>
                    <a:p>
                      <a:pPr indent="0" marL="0">
                        <a:buNone/>
                      </a:pPr>
                      <a:r>
                        <a:rPr lang="en-US" sz="1200" b="1" dirty="0">
                          <a:solidFill>
                            <a:schemeClr val="accent4"/>
                          </a:solidFill>
                          <a:latin typeface="Times New Roman" pitchFamily="34" charset="0"/>
                          <a:ea typeface="Times New Roman" pitchFamily="34" charset="-122"/>
                          <a:cs typeface="Times New Roman" pitchFamily="34" charset="-120"/>
                        </a:rPr>
                        <a:t>MANDATE</a:t>
                      </a:r>
                      <a:endParaRPr lang="en-US" sz="1200" dirty="0">
                        <a:latin typeface="Times New Roman" charset="0"/>
                        <a:ea typeface="Times New Roman" charset="0"/>
                        <a:cs typeface="Times New Roman" charset="0"/>
                      </a:endParaRPr>
                    </a:p>
                  </a:txBody>
                  <a:tcPr marL="0" marR="109728" marT="64008" marB="64008" anchor="ctr">
                    <a:lnL w="0" cap="flat" cmpd="sng" algn="ctr">
                      <a:noFill/>
                    </a:lnL>
                    <a:lnR w="0" cap="flat" cmpd="sng" algn="ctr">
                      <a:noFill/>
                    </a:lnR>
                    <a:lnT w="0" cap="flat" cmpd="sng" algn="ctr">
                      <a:noFill/>
                    </a:lnT>
                    <a:lnB w="12700" cap="flat" cmpd="sng" algn="ctr">
                      <a:solidFill>
                        <a:srgbClr val="1F1D1B"/>
                      </a:solidFill>
                      <a:prstDash val="solid"/>
                      <a:round/>
                      <a:headEnd type="none" w="med" len="med"/>
                      <a:tailEnd type="none" w="med" len="med"/>
                    </a:lnB>
                  </a:tcPr>
                </a:tc>
                <a:tc>
                  <a:txBody>
                    <a:bodyPr/>
                    <a:lstStyle/>
                    <a:p>
                      <a:pPr indent="0" marL="0">
                        <a:buNone/>
                      </a:pPr>
                      <a:r>
                        <a:rPr lang="en-US" sz="1200" b="1" dirty="0">
                          <a:solidFill>
                            <a:schemeClr val="accent4"/>
                          </a:solidFill>
                          <a:latin typeface="Times New Roman" pitchFamily="34" charset="0"/>
                          <a:ea typeface="Times New Roman" pitchFamily="34" charset="-122"/>
                          <a:cs typeface="Times New Roman" pitchFamily="34" charset="-120"/>
                        </a:rPr>
                        <a:t>WHAT IT REQUIRES</a:t>
                      </a:r>
                      <a:endParaRPr lang="en-US" sz="1200" dirty="0">
                        <a:latin typeface="Times New Roman" charset="0"/>
                        <a:ea typeface="Times New Roman" charset="0"/>
                        <a:cs typeface="Times New Roman" charset="0"/>
                      </a:endParaRPr>
                    </a:p>
                  </a:txBody>
                  <a:tcPr marL="0" marR="109728" marT="64008" marB="64008" anchor="ctr">
                    <a:lnL w="0" cap="flat" cmpd="sng" algn="ctr">
                      <a:noFill/>
                    </a:lnL>
                    <a:lnR w="0" cap="flat" cmpd="sng" algn="ctr">
                      <a:noFill/>
                    </a:lnR>
                    <a:lnT w="0" cap="flat" cmpd="sng" algn="ctr">
                      <a:noFill/>
                    </a:lnT>
                    <a:lnB w="12700" cap="flat" cmpd="sng" algn="ctr">
                      <a:solidFill>
                        <a:srgbClr val="1F1D1B"/>
                      </a:solidFill>
                      <a:prstDash val="solid"/>
                      <a:round/>
                      <a:headEnd type="none" w="med" len="med"/>
                      <a:tailEnd type="none" w="med" len="med"/>
                    </a:lnB>
                  </a:tcPr>
                </a:tc>
                <a:tc>
                  <a:txBody>
                    <a:bodyPr/>
                    <a:lstStyle/>
                    <a:p>
                      <a:pPr indent="0" marL="0">
                        <a:buNone/>
                      </a:pPr>
                      <a:r>
                        <a:rPr lang="en-US" sz="1200" b="1" dirty="0">
                          <a:solidFill>
                            <a:schemeClr val="accent4"/>
                          </a:solidFill>
                          <a:latin typeface="Times New Roman" pitchFamily="34" charset="0"/>
                          <a:ea typeface="Times New Roman" pitchFamily="34" charset="-122"/>
                          <a:cs typeface="Times New Roman" pitchFamily="34" charset="-120"/>
                        </a:rPr>
                        <a:t>WHO IT AFFECTS</a:t>
                      </a:r>
                      <a:endParaRPr lang="en-US" sz="1200" dirty="0">
                        <a:latin typeface="Times New Roman" charset="0"/>
                        <a:ea typeface="Times New Roman" charset="0"/>
                        <a:cs typeface="Times New Roman" charset="0"/>
                      </a:endParaRPr>
                    </a:p>
                  </a:txBody>
                  <a:tcPr marL="0" marR="109728" marT="64008" marB="64008" anchor="ctr">
                    <a:lnL w="0" cap="flat" cmpd="sng" algn="ctr">
                      <a:noFill/>
                    </a:lnL>
                    <a:lnR w="0" cap="flat" cmpd="sng" algn="ctr">
                      <a:noFill/>
                    </a:lnR>
                    <a:lnT w="0" cap="flat" cmpd="sng" algn="ctr">
                      <a:noFill/>
                    </a:lnT>
                    <a:lnB w="12700" cap="flat" cmpd="sng" algn="ctr">
                      <a:solidFill>
                        <a:srgbClr val="1F1D1B"/>
                      </a:solidFill>
                      <a:prstDash val="solid"/>
                      <a:round/>
                      <a:headEnd type="none" w="med" len="med"/>
                      <a:tailEnd type="none" w="med" len="med"/>
                    </a:lnB>
                  </a:tcPr>
                </a:tc>
                <a:tc>
                  <a:txBody>
                    <a:bodyPr/>
                    <a:lstStyle/>
                    <a:p>
                      <a:pPr indent="0" marL="0">
                        <a:buNone/>
                      </a:pPr>
                      <a:r>
                        <a:rPr lang="en-US" sz="1200" b="1" dirty="0">
                          <a:solidFill>
                            <a:schemeClr val="accent4"/>
                          </a:solidFill>
                          <a:latin typeface="Times New Roman" pitchFamily="34" charset="0"/>
                          <a:ea typeface="Times New Roman" pitchFamily="34" charset="-122"/>
                          <a:cs typeface="Times New Roman" pitchFamily="34" charset="-120"/>
                        </a:rPr>
                        <a:t>STATUS</a:t>
                      </a:r>
                      <a:endParaRPr lang="en-US" sz="1200" dirty="0">
                        <a:latin typeface="Times New Roman" charset="0"/>
                        <a:ea typeface="Times New Roman" charset="0"/>
                        <a:cs typeface="Times New Roman" charset="0"/>
                      </a:endParaRPr>
                    </a:p>
                  </a:txBody>
                  <a:tcPr marL="0" marR="109728" marT="64008" marB="64008" anchor="ctr">
                    <a:lnL w="0" cap="flat" cmpd="sng" algn="ctr">
                      <a:noFill/>
                    </a:lnL>
                    <a:lnR w="0" cap="flat" cmpd="sng" algn="ctr">
                      <a:noFill/>
                    </a:lnR>
                    <a:lnT w="0" cap="flat" cmpd="sng" algn="ctr">
                      <a:noFill/>
                    </a:lnT>
                    <a:lnB w="12700" cap="flat" cmpd="sng" algn="ctr">
                      <a:solidFill>
                        <a:srgbClr val="1F1D1B"/>
                      </a:solidFill>
                      <a:prstDash val="solid"/>
                      <a:round/>
                      <a:headEnd type="none" w="med" len="med"/>
                      <a:tailEnd type="none" w="med" len="med"/>
                    </a:lnB>
                  </a:tcPr>
                </a:tc>
              </a:tr>
              <a:tr h="640080">
                <a:tc>
                  <a:txBody>
                    <a:bodyPr/>
                    <a:lstStyle/>
                    <a:p>
                      <a:pPr indent="0" marL="0">
                        <a:buNone/>
                      </a:pPr>
                      <a:r>
                        <a:rPr lang="en-US" sz="1500" b="1" dirty="0">
                          <a:solidFill>
                            <a:schemeClr val="tx1"/>
                          </a:solidFill>
                          <a:latin typeface="Times New Roman" pitchFamily="34" charset="0"/>
                          <a:ea typeface="Times New Roman" pitchFamily="34" charset="-122"/>
                          <a:cs typeface="Times New Roman" pitchFamily="34" charset="-120"/>
                        </a:rPr>
                        <a:t>Carbon Credit Trading Scheme</a:t>
                      </a:r>
                      <a:endParaRPr lang="en-US" sz="1500" dirty="0">
                        <a:latin typeface="Times New Roman" charset="0"/>
                        <a:ea typeface="Times New Roman" charset="0"/>
                        <a:cs typeface="Times New Roman" charset="0"/>
                      </a:endParaRPr>
                    </a:p>
                  </a:txBody>
                  <a:tcPr marL="0" marR="109728" marT="64008" marB="64008"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400" dirty="0">
                          <a:solidFill>
                            <a:schemeClr val="tx2"/>
                          </a:solidFill>
                          <a:latin typeface="Times New Roman" pitchFamily="34" charset="0"/>
                          <a:ea typeface="Times New Roman" pitchFamily="34" charset="-122"/>
                          <a:cs typeface="Times New Roman" pitchFamily="34" charset="-120"/>
                        </a:rPr>
                        <a:t>Emission-intensity targets for 490 plants in eight sectors. Shortfalls are covered by buying carbon credits.</a:t>
                      </a:r>
                      <a:endParaRPr lang="en-US" sz="1400" dirty="0">
                        <a:latin typeface="Times New Roman" charset="0"/>
                        <a:ea typeface="Times New Roman" charset="0"/>
                        <a:cs typeface="Times New Roman" charset="0"/>
                      </a:endParaRPr>
                    </a:p>
                  </a:txBody>
                  <a:tcPr marL="0" marR="109728" marT="64008" marB="64008"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400" dirty="0">
                          <a:solidFill>
                            <a:schemeClr val="tx2"/>
                          </a:solidFill>
                          <a:latin typeface="Times New Roman" pitchFamily="34" charset="0"/>
                          <a:ea typeface="Times New Roman" pitchFamily="34" charset="-122"/>
                          <a:cs typeface="Times New Roman" pitchFamily="34" charset="-120"/>
                        </a:rPr>
                        <a:t>Cement, aluminium, refining, textiles, paper</a:t>
                      </a:r>
                      <a:endParaRPr lang="en-US" sz="1400" dirty="0">
                        <a:latin typeface="Times New Roman" charset="0"/>
                        <a:ea typeface="Times New Roman" charset="0"/>
                        <a:cs typeface="Times New Roman" charset="0"/>
                      </a:endParaRPr>
                    </a:p>
                  </a:txBody>
                  <a:tcPr marL="0" marR="109728" marT="64008" marB="64008"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400" b="1" dirty="0">
                          <a:solidFill>
                            <a:schemeClr val="accent2"/>
                          </a:solidFill>
                          <a:latin typeface="Times New Roman" pitchFamily="34" charset="0"/>
                          <a:ea typeface="Times New Roman" pitchFamily="34" charset="-122"/>
                          <a:cs typeface="Times New Roman" pitchFamily="34" charset="-120"/>
                        </a:rPr>
                        <a:t>In force</a:t>
                      </a:r>
                      <a:endParaRPr lang="en-US" sz="1400" dirty="0">
                        <a:latin typeface="Times New Roman" charset="0"/>
                        <a:ea typeface="Times New Roman" charset="0"/>
                        <a:cs typeface="Times New Roman" charset="0"/>
                      </a:endParaRPr>
                    </a:p>
                  </a:txBody>
                  <a:tcPr marL="0" marR="109728" marT="64008" marB="64008"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r>
              <a:tr h="640080">
                <a:tc>
                  <a:txBody>
                    <a:bodyPr/>
                    <a:lstStyle/>
                    <a:p>
                      <a:pPr indent="0" marL="0">
                        <a:buNone/>
                      </a:pPr>
                      <a:r>
                        <a:rPr lang="en-US" sz="1500" b="1" dirty="0">
                          <a:solidFill>
                            <a:schemeClr val="tx1"/>
                          </a:solidFill>
                          <a:latin typeface="Times New Roman" pitchFamily="34" charset="0"/>
                          <a:ea typeface="Times New Roman" pitchFamily="34" charset="-122"/>
                          <a:cs typeface="Times New Roman" pitchFamily="34" charset="-120"/>
                        </a:rPr>
                        <a:t>BRSR Core</a:t>
                      </a:r>
                      <a:endParaRPr lang="en-US" sz="1500" dirty="0">
                        <a:latin typeface="Times New Roman" charset="0"/>
                        <a:ea typeface="Times New Roman" charset="0"/>
                        <a:cs typeface="Times New Roman" charset="0"/>
                      </a:endParaRPr>
                    </a:p>
                  </a:txBody>
                  <a:tcPr marL="0" marR="109728" marT="64008" marB="64008"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400" dirty="0">
                          <a:solidFill>
                            <a:schemeClr val="tx2"/>
                          </a:solidFill>
                          <a:latin typeface="Times New Roman" pitchFamily="34" charset="0"/>
                          <a:ea typeface="Times New Roman" pitchFamily="34" charset="-122"/>
                          <a:cs typeface="Times New Roman" pitchFamily="34" charset="-120"/>
                        </a:rPr>
                        <a:t>Assured ESG data from India's top 1,000 listed companies, with value-chain disclosures phasing in.</a:t>
                      </a:r>
                      <a:endParaRPr lang="en-US" sz="1400" dirty="0">
                        <a:latin typeface="Times New Roman" charset="0"/>
                        <a:ea typeface="Times New Roman" charset="0"/>
                        <a:cs typeface="Times New Roman" charset="0"/>
                      </a:endParaRPr>
                    </a:p>
                  </a:txBody>
                  <a:tcPr marL="0" marR="109728" marT="64008" marB="64008"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400" dirty="0">
                          <a:solidFill>
                            <a:schemeClr val="tx2"/>
                          </a:solidFill>
                          <a:latin typeface="Times New Roman" pitchFamily="34" charset="0"/>
                          <a:ea typeface="Times New Roman" pitchFamily="34" charset="-122"/>
                          <a:cs typeface="Times New Roman" pitchFamily="34" charset="-120"/>
                        </a:rPr>
                        <a:t>Listed companies and their suppliers</a:t>
                      </a:r>
                      <a:endParaRPr lang="en-US" sz="1400" dirty="0">
                        <a:latin typeface="Times New Roman" charset="0"/>
                        <a:ea typeface="Times New Roman" charset="0"/>
                        <a:cs typeface="Times New Roman" charset="0"/>
                      </a:endParaRPr>
                    </a:p>
                  </a:txBody>
                  <a:tcPr marL="0" marR="109728" marT="64008" marB="64008"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400" b="1" dirty="0">
                          <a:solidFill>
                            <a:schemeClr val="accent2"/>
                          </a:solidFill>
                          <a:latin typeface="Times New Roman" pitchFamily="34" charset="0"/>
                          <a:ea typeface="Times New Roman" pitchFamily="34" charset="-122"/>
                          <a:cs typeface="Times New Roman" pitchFamily="34" charset="-120"/>
                        </a:rPr>
                        <a:t>Top 1,000 by FY 2026-27</a:t>
                      </a:r>
                      <a:endParaRPr lang="en-US" sz="1400" dirty="0">
                        <a:latin typeface="Times New Roman" charset="0"/>
                        <a:ea typeface="Times New Roman" charset="0"/>
                        <a:cs typeface="Times New Roman" charset="0"/>
                      </a:endParaRPr>
                    </a:p>
                  </a:txBody>
                  <a:tcPr marL="0" marR="109728" marT="64008" marB="64008"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r>
              <a:tr h="640080">
                <a:tc>
                  <a:txBody>
                    <a:bodyPr/>
                    <a:lstStyle/>
                    <a:p>
                      <a:pPr indent="0" marL="0">
                        <a:buNone/>
                      </a:pPr>
                      <a:r>
                        <a:rPr lang="en-US" sz="1500" b="1" dirty="0">
                          <a:solidFill>
                            <a:schemeClr val="tx1"/>
                          </a:solidFill>
                          <a:latin typeface="Times New Roman" pitchFamily="34" charset="0"/>
                          <a:ea typeface="Times New Roman" pitchFamily="34" charset="-122"/>
                          <a:cs typeface="Times New Roman" pitchFamily="34" charset="-120"/>
                        </a:rPr>
                        <a:t>Building energy codes</a:t>
                      </a:r>
                      <a:endParaRPr lang="en-US" sz="1500" dirty="0">
                        <a:latin typeface="Times New Roman" charset="0"/>
                        <a:ea typeface="Times New Roman" charset="0"/>
                        <a:cs typeface="Times New Roman" charset="0"/>
                      </a:endParaRPr>
                    </a:p>
                  </a:txBody>
                  <a:tcPr marL="0" marR="109728" marT="64008" marB="64008"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400" dirty="0">
                          <a:solidFill>
                            <a:schemeClr val="tx2"/>
                          </a:solidFill>
                          <a:latin typeface="Times New Roman" pitchFamily="34" charset="0"/>
                          <a:ea typeface="Times New Roman" pitchFamily="34" charset="-122"/>
                          <a:cs typeface="Times New Roman" pitchFamily="34" charset="-120"/>
                        </a:rPr>
                        <a:t>ECBC is notified in 25 states and UTs. ECSBC 2024, its successor, adds sustainability requirements.</a:t>
                      </a:r>
                      <a:endParaRPr lang="en-US" sz="1400" dirty="0">
                        <a:latin typeface="Times New Roman" charset="0"/>
                        <a:ea typeface="Times New Roman" charset="0"/>
                        <a:cs typeface="Times New Roman" charset="0"/>
                      </a:endParaRPr>
                    </a:p>
                  </a:txBody>
                  <a:tcPr marL="0" marR="109728" marT="64008" marB="64008"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400" dirty="0">
                          <a:solidFill>
                            <a:schemeClr val="tx2"/>
                          </a:solidFill>
                          <a:latin typeface="Times New Roman" pitchFamily="34" charset="0"/>
                          <a:ea typeface="Times New Roman" pitchFamily="34" charset="-122"/>
                          <a:cs typeface="Times New Roman" pitchFamily="34" charset="-120"/>
                        </a:rPr>
                        <a:t>New commercial buildings</a:t>
                      </a:r>
                      <a:endParaRPr lang="en-US" sz="1400" dirty="0">
                        <a:latin typeface="Times New Roman" charset="0"/>
                        <a:ea typeface="Times New Roman" charset="0"/>
                        <a:cs typeface="Times New Roman" charset="0"/>
                      </a:endParaRPr>
                    </a:p>
                  </a:txBody>
                  <a:tcPr marL="0" marR="109728" marT="64008" marB="64008"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400" b="1" dirty="0">
                          <a:solidFill>
                            <a:schemeClr val="accent2"/>
                          </a:solidFill>
                          <a:latin typeface="Times New Roman" pitchFamily="34" charset="0"/>
                          <a:ea typeface="Times New Roman" pitchFamily="34" charset="-122"/>
                          <a:cs typeface="Times New Roman" pitchFamily="34" charset="-120"/>
                        </a:rPr>
                        <a:t>States adopting</a:t>
                      </a:r>
                      <a:endParaRPr lang="en-US" sz="1400" dirty="0">
                        <a:latin typeface="Times New Roman" charset="0"/>
                        <a:ea typeface="Times New Roman" charset="0"/>
                        <a:cs typeface="Times New Roman" charset="0"/>
                      </a:endParaRPr>
                    </a:p>
                  </a:txBody>
                  <a:tcPr marL="0" marR="109728" marT="64008" marB="64008"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r>
              <a:tr h="640080">
                <a:tc>
                  <a:txBody>
                    <a:bodyPr/>
                    <a:lstStyle/>
                    <a:p>
                      <a:pPr indent="0" marL="0">
                        <a:buNone/>
                      </a:pPr>
                      <a:r>
                        <a:rPr lang="en-US" sz="1500" b="1" dirty="0">
                          <a:solidFill>
                            <a:schemeClr val="tx1"/>
                          </a:solidFill>
                          <a:latin typeface="Times New Roman" pitchFamily="34" charset="0"/>
                          <a:ea typeface="Times New Roman" pitchFamily="34" charset="-122"/>
                          <a:cs typeface="Times New Roman" pitchFamily="34" charset="-120"/>
                        </a:rPr>
                        <a:t>Star rating for large buildings</a:t>
                      </a:r>
                      <a:endParaRPr lang="en-US" sz="1500" dirty="0">
                        <a:latin typeface="Times New Roman" charset="0"/>
                        <a:ea typeface="Times New Roman" charset="0"/>
                        <a:cs typeface="Times New Roman" charset="0"/>
                      </a:endParaRPr>
                    </a:p>
                  </a:txBody>
                  <a:tcPr marL="0" marR="109728" marT="64008" marB="64008"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400" dirty="0">
                          <a:solidFill>
                            <a:schemeClr val="tx2"/>
                          </a:solidFill>
                          <a:latin typeface="Times New Roman" pitchFamily="34" charset="0"/>
                          <a:ea typeface="Times New Roman" pitchFamily="34" charset="-122"/>
                          <a:cs typeface="Times New Roman" pitchFamily="34" charset="-120"/>
                        </a:rPr>
                        <a:t>Proposed: new buildings of 20,000 m² or more need at least a BEE 3-star rating or an approved equivalent.</a:t>
                      </a:r>
                      <a:endParaRPr lang="en-US" sz="1400" dirty="0">
                        <a:latin typeface="Times New Roman" charset="0"/>
                        <a:ea typeface="Times New Roman" charset="0"/>
                        <a:cs typeface="Times New Roman" charset="0"/>
                      </a:endParaRPr>
                    </a:p>
                  </a:txBody>
                  <a:tcPr marL="0" marR="109728" marT="64008" marB="64008"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400" dirty="0">
                          <a:solidFill>
                            <a:schemeClr val="tx2"/>
                          </a:solidFill>
                          <a:latin typeface="Times New Roman" pitchFamily="34" charset="0"/>
                          <a:ea typeface="Times New Roman" pitchFamily="34" charset="-122"/>
                          <a:cs typeface="Times New Roman" pitchFamily="34" charset="-120"/>
                        </a:rPr>
                        <a:t>Developers and owners</a:t>
                      </a:r>
                      <a:endParaRPr lang="en-US" sz="1400" dirty="0">
                        <a:latin typeface="Times New Roman" charset="0"/>
                        <a:ea typeface="Times New Roman" charset="0"/>
                        <a:cs typeface="Times New Roman" charset="0"/>
                      </a:endParaRPr>
                    </a:p>
                  </a:txBody>
                  <a:tcPr marL="0" marR="109728" marT="64008" marB="64008"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400" b="1" dirty="0">
                          <a:solidFill>
                            <a:schemeClr val="accent2"/>
                          </a:solidFill>
                          <a:latin typeface="Times New Roman" pitchFamily="34" charset="0"/>
                          <a:ea typeface="Times New Roman" pitchFamily="34" charset="-122"/>
                          <a:cs typeface="Times New Roman" pitchFamily="34" charset="-120"/>
                        </a:rPr>
                        <a:t>Draft, July 2026</a:t>
                      </a:r>
                      <a:endParaRPr lang="en-US" sz="1400" dirty="0">
                        <a:latin typeface="Times New Roman" charset="0"/>
                        <a:ea typeface="Times New Roman" charset="0"/>
                        <a:cs typeface="Times New Roman" charset="0"/>
                      </a:endParaRPr>
                    </a:p>
                  </a:txBody>
                  <a:tcPr marL="0" marR="109728" marT="64008" marB="64008"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r>
              <a:tr h="640080">
                <a:tc>
                  <a:txBody>
                    <a:bodyPr/>
                    <a:lstStyle/>
                    <a:p>
                      <a:pPr indent="0" marL="0">
                        <a:buNone/>
                      </a:pPr>
                      <a:r>
                        <a:rPr lang="en-US" sz="1500" b="1" dirty="0">
                          <a:solidFill>
                            <a:schemeClr val="tx1"/>
                          </a:solidFill>
                          <a:latin typeface="Times New Roman" pitchFamily="34" charset="0"/>
                          <a:ea typeface="Times New Roman" pitchFamily="34" charset="-122"/>
                          <a:cs typeface="Times New Roman" pitchFamily="34" charset="-120"/>
                        </a:rPr>
                        <a:t>Climate finance taxonomy</a:t>
                      </a:r>
                      <a:endParaRPr lang="en-US" sz="1500" dirty="0">
                        <a:latin typeface="Times New Roman" charset="0"/>
                        <a:ea typeface="Times New Roman" charset="0"/>
                        <a:cs typeface="Times New Roman" charset="0"/>
                      </a:endParaRPr>
                    </a:p>
                  </a:txBody>
                  <a:tcPr marL="0" marR="109728" marT="64008" marB="64008"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400" dirty="0">
                          <a:solidFill>
                            <a:schemeClr val="tx2"/>
                          </a:solidFill>
                          <a:latin typeface="Times New Roman" pitchFamily="34" charset="0"/>
                          <a:ea typeface="Times New Roman" pitchFamily="34" charset="-122"/>
                          <a:cs typeface="Times New Roman" pitchFamily="34" charset="-120"/>
                        </a:rPr>
                        <a:t>Will define which projects count as green for banks and investors. Buildings are a priority sector.</a:t>
                      </a:r>
                      <a:endParaRPr lang="en-US" sz="1400" dirty="0">
                        <a:latin typeface="Times New Roman" charset="0"/>
                        <a:ea typeface="Times New Roman" charset="0"/>
                        <a:cs typeface="Times New Roman" charset="0"/>
                      </a:endParaRPr>
                    </a:p>
                  </a:txBody>
                  <a:tcPr marL="0" marR="109728" marT="64008" marB="64008"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400" dirty="0">
                          <a:solidFill>
                            <a:schemeClr val="tx2"/>
                          </a:solidFill>
                          <a:latin typeface="Times New Roman" pitchFamily="34" charset="0"/>
                          <a:ea typeface="Times New Roman" pitchFamily="34" charset="-122"/>
                          <a:cs typeface="Times New Roman" pitchFamily="34" charset="-120"/>
                        </a:rPr>
                        <a:t>Anyone raising green finance</a:t>
                      </a:r>
                      <a:endParaRPr lang="en-US" sz="1400" dirty="0">
                        <a:latin typeface="Times New Roman" charset="0"/>
                        <a:ea typeface="Times New Roman" charset="0"/>
                        <a:cs typeface="Times New Roman" charset="0"/>
                      </a:endParaRPr>
                    </a:p>
                  </a:txBody>
                  <a:tcPr marL="0" marR="109728" marT="64008" marB="64008"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400" b="1" dirty="0">
                          <a:solidFill>
                            <a:schemeClr val="accent2"/>
                          </a:solidFill>
                          <a:latin typeface="Times New Roman" pitchFamily="34" charset="0"/>
                          <a:ea typeface="Times New Roman" pitchFamily="34" charset="-122"/>
                          <a:cs typeface="Times New Roman" pitchFamily="34" charset="-120"/>
                        </a:rPr>
                        <a:t>Draft framework</a:t>
                      </a:r>
                      <a:endParaRPr lang="en-US" sz="1400" dirty="0">
                        <a:latin typeface="Times New Roman" charset="0"/>
                        <a:ea typeface="Times New Roman" charset="0"/>
                        <a:cs typeface="Times New Roman" charset="0"/>
                      </a:endParaRPr>
                    </a:p>
                  </a:txBody>
                  <a:tcPr marL="0" marR="109728" marT="64008" marB="64008"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r>
              <a:tr h="640080">
                <a:tc>
                  <a:txBody>
                    <a:bodyPr/>
                    <a:lstStyle/>
                    <a:p>
                      <a:pPr indent="0" marL="0">
                        <a:buNone/>
                      </a:pPr>
                      <a:r>
                        <a:rPr lang="en-US" sz="1500" b="1" dirty="0">
                          <a:solidFill>
                            <a:schemeClr val="tx1"/>
                          </a:solidFill>
                          <a:latin typeface="Times New Roman" pitchFamily="34" charset="0"/>
                          <a:ea typeface="Times New Roman" pitchFamily="34" charset="-122"/>
                          <a:cs typeface="Times New Roman" pitchFamily="34" charset="-120"/>
                        </a:rPr>
                        <a:t>NDC 2035</a:t>
                      </a:r>
                      <a:endParaRPr lang="en-US" sz="1500" dirty="0">
                        <a:latin typeface="Times New Roman" charset="0"/>
                        <a:ea typeface="Times New Roman" charset="0"/>
                        <a:cs typeface="Times New Roman" charset="0"/>
                      </a:endParaRPr>
                    </a:p>
                  </a:txBody>
                  <a:tcPr marL="0" marR="109728" marT="64008" marB="64008"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400" dirty="0">
                          <a:solidFill>
                            <a:schemeClr val="tx2"/>
                          </a:solidFill>
                          <a:latin typeface="Times New Roman" pitchFamily="34" charset="0"/>
                          <a:ea typeface="Times New Roman" pitchFamily="34" charset="-122"/>
                          <a:cs typeface="Times New Roman" pitchFamily="34" charset="-120"/>
                        </a:rPr>
                        <a:t>47% lower emissions intensity than 2005 and 60% non-fossil power by 2035. Net zero by 2070.</a:t>
                      </a:r>
                      <a:endParaRPr lang="en-US" sz="1400" dirty="0">
                        <a:latin typeface="Times New Roman" charset="0"/>
                        <a:ea typeface="Times New Roman" charset="0"/>
                        <a:cs typeface="Times New Roman" charset="0"/>
                      </a:endParaRPr>
                    </a:p>
                  </a:txBody>
                  <a:tcPr marL="0" marR="109728" marT="64008" marB="64008"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400" dirty="0">
                          <a:solidFill>
                            <a:schemeClr val="tx2"/>
                          </a:solidFill>
                          <a:latin typeface="Times New Roman" pitchFamily="34" charset="0"/>
                          <a:ea typeface="Times New Roman" pitchFamily="34" charset="-122"/>
                          <a:cs typeface="Times New Roman" pitchFamily="34" charset="-120"/>
                        </a:rPr>
                        <a:t>Every sector</a:t>
                      </a:r>
                      <a:endParaRPr lang="en-US" sz="1400" dirty="0">
                        <a:latin typeface="Times New Roman" charset="0"/>
                        <a:ea typeface="Times New Roman" charset="0"/>
                        <a:cs typeface="Times New Roman" charset="0"/>
                      </a:endParaRPr>
                    </a:p>
                  </a:txBody>
                  <a:tcPr marL="0" marR="109728" marT="64008" marB="64008"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400" b="1" dirty="0">
                          <a:solidFill>
                            <a:schemeClr val="accent2"/>
                          </a:solidFill>
                          <a:latin typeface="Times New Roman" pitchFamily="34" charset="0"/>
                          <a:ea typeface="Times New Roman" pitchFamily="34" charset="-122"/>
                          <a:cs typeface="Times New Roman" pitchFamily="34" charset="-120"/>
                        </a:rPr>
                        <a:t>Submitted April 2026</a:t>
                      </a:r>
                      <a:endParaRPr lang="en-US" sz="1400" dirty="0">
                        <a:latin typeface="Times New Roman" charset="0"/>
                        <a:ea typeface="Times New Roman" charset="0"/>
                        <a:cs typeface="Times New Roman" charset="0"/>
                      </a:endParaRPr>
                    </a:p>
                  </a:txBody>
                  <a:tcPr marL="0" marR="109728" marT="64008" marB="64008"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r>
            </a:tbl>
          </a:graphicData>
        </a:graphic>
      </p:graphicFrame>
      <p:sp>
        <p:nvSpPr>
          <p:cNvPr id="5" name="Text 2"/>
          <p:cNvSpPr txBox="1"/>
          <p:nvPr/>
        </p:nvSpPr>
        <p:spPr>
          <a:xfrm>
            <a:off x="640080" y="5989320"/>
            <a:ext cx="10911535" cy="274320"/>
          </a:xfrm>
          <a:prstGeom prst="rect">
            <a:avLst/>
          </a:prstGeom>
          <a:noFill/>
          <a:ln/>
        </p:spPr>
        <p:txBody>
          <a:bodyPr wrap="square" lIns="0" tIns="0" rIns="0" bIns="0" rtlCol="0" anchor="t"/>
          <a:lstStyle/>
          <a:p>
            <a:pPr indent="0" marL="0">
              <a:buNone/>
            </a:pPr>
            <a:r>
              <a:rPr lang="en-US" sz="1100" dirty="0">
                <a:solidFill>
                  <a:schemeClr val="accent4"/>
                </a:solidFill>
              </a:rPr>
              <a:t>Status as of October 2026. Sources: MoEFCC/PIB, SEBI, BEE and Ministry of Power, NITI Aayog, Ministry of Finance, UNFCCC.</a:t>
            </a:r>
            <a:endParaRPr lang="en-US" sz="11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ection label"/>
          <p:cNvSpPr txBox="1"/>
          <p:nvPr/>
        </p:nvSpPr>
        <p:spPr>
          <a:xfrm>
            <a:off x="640080" y="411480"/>
            <a:ext cx="10911535"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01   BEYOND INDIA</a:t>
            </a:r>
            <a:endParaRPr lang="en-US" sz="1200" dirty="0"/>
          </a:p>
        </p:txBody>
      </p:sp>
      <p:sp>
        <p:nvSpPr>
          <p:cNvPr id="3" name="Text 1"/>
          <p:cNvSpPr/>
          <p:nvPr>
            <p:ph idx="102" type="title" hasCustomPrompt="1"/>
          </p:nvPr>
        </p:nvSpPr>
        <p:spPr>
          <a:xfrm>
            <a:off x="640080" y="777240"/>
            <a:ext cx="10911535" cy="685800"/>
          </a:xfrm>
          <a:prstGeom prst="rect">
            <a:avLst/>
          </a:prstGeom>
          <a:noFill/>
          <a:ln/>
        </p:spPr>
        <p:txBody>
          <a:bodyPr wrap="square" lIns="0" tIns="0" rIns="0" bIns="0" rtlCol="0" anchor="t"/>
          <a:lstStyle/>
          <a:p>
            <a:pPr algn="l" indent="0" marL="0">
              <a:buNone/>
            </a:pPr>
            <a:r>
              <a:rPr lang="en-US" sz="3000" b="1" dirty="0">
                <a:solidFill>
                  <a:schemeClr val="tx1"/>
                </a:solidFill>
              </a:rPr>
              <a:t>Export markets and investors are asking for the same numbers</a:t>
            </a:r>
            <a:endParaRPr lang="en-US" sz="3000" dirty="0"/>
          </a:p>
        </p:txBody>
      </p:sp>
      <p:sp>
        <p:nvSpPr>
          <p:cNvPr id="4" name="Timeline"/>
          <p:cNvSpPr/>
          <p:nvPr/>
        </p:nvSpPr>
        <p:spPr>
          <a:xfrm>
            <a:off x="640080" y="3520440"/>
            <a:ext cx="10911535" cy="0"/>
          </a:xfrm>
          <a:prstGeom prst="line">
            <a:avLst/>
          </a:prstGeom>
          <a:noFill/>
          <a:ln w="9525">
            <a:solidFill>
              <a:schemeClr val="tx1"/>
            </a:solidFill>
            <a:prstDash val="solid"/>
          </a:ln>
        </p:spPr>
      </p:sp>
      <p:sp>
        <p:nvSpPr>
          <p:cNvPr id="5" name="Timeline marker 2025"/>
          <p:cNvSpPr/>
          <p:nvPr/>
        </p:nvSpPr>
        <p:spPr>
          <a:xfrm>
            <a:off x="731520" y="3438144"/>
            <a:ext cx="164592" cy="164592"/>
          </a:xfrm>
          <a:prstGeom prst="ellipse">
            <a:avLst/>
          </a:prstGeom>
          <a:solidFill>
            <a:schemeClr val="accent1"/>
          </a:solidFill>
          <a:ln/>
        </p:spPr>
      </p:sp>
      <p:sp>
        <p:nvSpPr>
          <p:cNvPr id="6" name="Text 4"/>
          <p:cNvSpPr txBox="1"/>
          <p:nvPr/>
        </p:nvSpPr>
        <p:spPr>
          <a:xfrm>
            <a:off x="731520" y="1783080"/>
            <a:ext cx="3055230" cy="1097280"/>
          </a:xfrm>
          <a:prstGeom prst="rect">
            <a:avLst/>
          </a:prstGeom>
          <a:noFill/>
          <a:ln/>
        </p:spPr>
        <p:txBody>
          <a:bodyPr wrap="square" lIns="0" tIns="0" rIns="0" bIns="0" rtlCol="0" anchor="b"/>
          <a:lstStyle/>
          <a:p>
            <a:pPr indent="0" marL="0">
              <a:lnSpc>
                <a:spcPct val="110000"/>
              </a:lnSpc>
              <a:buNone/>
            </a:pPr>
            <a:r>
              <a:rPr lang="en-US" sz="1400" dirty="0">
                <a:solidFill>
                  <a:schemeClr val="tx1"/>
                </a:solidFill>
              </a:rPr>
              <a:t>Malaysia starts ISSB-based climate reporting for its largest listed companies.</a:t>
            </a:r>
            <a:endParaRPr lang="en-US" sz="1400" dirty="0"/>
          </a:p>
        </p:txBody>
      </p:sp>
      <p:sp>
        <p:nvSpPr>
          <p:cNvPr id="7" name="Text 5"/>
          <p:cNvSpPr txBox="1"/>
          <p:nvPr/>
        </p:nvSpPr>
        <p:spPr>
          <a:xfrm>
            <a:off x="731520" y="2926080"/>
            <a:ext cx="1999427" cy="457200"/>
          </a:xfrm>
          <a:prstGeom prst="rect">
            <a:avLst/>
          </a:prstGeom>
          <a:noFill/>
          <a:ln/>
        </p:spPr>
        <p:txBody>
          <a:bodyPr wrap="square" lIns="0" tIns="0" rIns="0" bIns="0" rtlCol="0" anchor="b"/>
          <a:lstStyle/>
          <a:p>
            <a:pPr indent="0" marL="0">
              <a:buNone/>
            </a:pPr>
            <a:r>
              <a:rPr lang="en-US" sz="2600" b="1" dirty="0">
                <a:solidFill>
                  <a:schemeClr val="accent1"/>
                </a:solidFill>
              </a:rPr>
              <a:t>2025</a:t>
            </a:r>
            <a:endParaRPr lang="en-US" sz="2600" dirty="0"/>
          </a:p>
        </p:txBody>
      </p:sp>
      <p:sp>
        <p:nvSpPr>
          <p:cNvPr id="8" name="Timeline marker 2026"/>
          <p:cNvSpPr/>
          <p:nvPr/>
        </p:nvSpPr>
        <p:spPr>
          <a:xfrm>
            <a:off x="2913827" y="3438144"/>
            <a:ext cx="164592" cy="164592"/>
          </a:xfrm>
          <a:prstGeom prst="ellipse">
            <a:avLst/>
          </a:prstGeom>
          <a:solidFill>
            <a:schemeClr val="accent1"/>
          </a:solidFill>
          <a:ln/>
        </p:spPr>
      </p:sp>
      <p:sp>
        <p:nvSpPr>
          <p:cNvPr id="9" name="Text 7"/>
          <p:cNvSpPr txBox="1"/>
          <p:nvPr/>
        </p:nvSpPr>
        <p:spPr>
          <a:xfrm>
            <a:off x="2913827" y="3657600"/>
            <a:ext cx="1999427" cy="457200"/>
          </a:xfrm>
          <a:prstGeom prst="rect">
            <a:avLst/>
          </a:prstGeom>
          <a:noFill/>
          <a:ln/>
        </p:spPr>
        <p:txBody>
          <a:bodyPr wrap="square" lIns="0" tIns="0" rIns="0" bIns="0" rtlCol="0" anchor="t"/>
          <a:lstStyle/>
          <a:p>
            <a:pPr indent="0" marL="0">
              <a:buNone/>
            </a:pPr>
            <a:r>
              <a:rPr lang="en-US" sz="2600" b="1" dirty="0">
                <a:solidFill>
                  <a:schemeClr val="accent1"/>
                </a:solidFill>
              </a:rPr>
              <a:t>2026</a:t>
            </a:r>
            <a:endParaRPr lang="en-US" sz="2600" dirty="0"/>
          </a:p>
        </p:txBody>
      </p:sp>
      <p:sp>
        <p:nvSpPr>
          <p:cNvPr id="10" name="Text 8"/>
          <p:cNvSpPr txBox="1"/>
          <p:nvPr/>
        </p:nvSpPr>
        <p:spPr>
          <a:xfrm>
            <a:off x="2913827" y="4160520"/>
            <a:ext cx="3055230" cy="1097280"/>
          </a:xfrm>
          <a:prstGeom prst="rect">
            <a:avLst/>
          </a:prstGeom>
          <a:noFill/>
          <a:ln/>
        </p:spPr>
        <p:txBody>
          <a:bodyPr wrap="square" lIns="0" tIns="0" rIns="0" bIns="0" rtlCol="0" anchor="t"/>
          <a:lstStyle/>
          <a:p>
            <a:pPr indent="0" marL="0">
              <a:lnSpc>
                <a:spcPct val="110000"/>
              </a:lnSpc>
              <a:buNone/>
            </a:pPr>
            <a:r>
              <a:rPr lang="en-US" sz="1400" dirty="0">
                <a:solidFill>
                  <a:schemeClr val="tx1"/>
                </a:solidFill>
              </a:rPr>
              <a:t>EU CBAM's definitive phase: steel, aluminium and cement exporters must show verified emissions.</a:t>
            </a:r>
            <a:endParaRPr lang="en-US" sz="1400" dirty="0"/>
          </a:p>
        </p:txBody>
      </p:sp>
      <p:sp>
        <p:nvSpPr>
          <p:cNvPr id="11" name="Timeline marker 2027"/>
          <p:cNvSpPr/>
          <p:nvPr/>
        </p:nvSpPr>
        <p:spPr>
          <a:xfrm>
            <a:off x="5096134" y="3438144"/>
            <a:ext cx="164592" cy="164592"/>
          </a:xfrm>
          <a:prstGeom prst="ellipse">
            <a:avLst/>
          </a:prstGeom>
          <a:solidFill>
            <a:schemeClr val="accent1"/>
          </a:solidFill>
          <a:ln/>
        </p:spPr>
      </p:sp>
      <p:sp>
        <p:nvSpPr>
          <p:cNvPr id="12" name="Text 10"/>
          <p:cNvSpPr txBox="1"/>
          <p:nvPr/>
        </p:nvSpPr>
        <p:spPr>
          <a:xfrm>
            <a:off x="5096134" y="1783080"/>
            <a:ext cx="3055230" cy="1097280"/>
          </a:xfrm>
          <a:prstGeom prst="rect">
            <a:avLst/>
          </a:prstGeom>
          <a:noFill/>
          <a:ln/>
        </p:spPr>
        <p:txBody>
          <a:bodyPr wrap="square" lIns="0" tIns="0" rIns="0" bIns="0" rtlCol="0" anchor="b"/>
          <a:lstStyle/>
          <a:p>
            <a:pPr indent="0" marL="0">
              <a:lnSpc>
                <a:spcPct val="110000"/>
              </a:lnSpc>
              <a:buNone/>
            </a:pPr>
            <a:r>
              <a:rPr lang="en-US" sz="1400" dirty="0">
                <a:solidFill>
                  <a:schemeClr val="tx1"/>
                </a:solidFill>
              </a:rPr>
              <a:t>First CBAM certificates bought for 2026 imports. Malaysia adds Scope 3 and assurance for the largest issuers.</a:t>
            </a:r>
            <a:endParaRPr lang="en-US" sz="1400" dirty="0"/>
          </a:p>
        </p:txBody>
      </p:sp>
      <p:sp>
        <p:nvSpPr>
          <p:cNvPr id="13" name="Text 11"/>
          <p:cNvSpPr txBox="1"/>
          <p:nvPr/>
        </p:nvSpPr>
        <p:spPr>
          <a:xfrm>
            <a:off x="5096134" y="2926080"/>
            <a:ext cx="1999427" cy="457200"/>
          </a:xfrm>
          <a:prstGeom prst="rect">
            <a:avLst/>
          </a:prstGeom>
          <a:noFill/>
          <a:ln/>
        </p:spPr>
        <p:txBody>
          <a:bodyPr wrap="square" lIns="0" tIns="0" rIns="0" bIns="0" rtlCol="0" anchor="b"/>
          <a:lstStyle/>
          <a:p>
            <a:pPr indent="0" marL="0">
              <a:buNone/>
            </a:pPr>
            <a:r>
              <a:rPr lang="en-US" sz="2600" b="1" dirty="0">
                <a:solidFill>
                  <a:schemeClr val="accent1"/>
                </a:solidFill>
              </a:rPr>
              <a:t>2027</a:t>
            </a:r>
            <a:endParaRPr lang="en-US" sz="2600" dirty="0"/>
          </a:p>
        </p:txBody>
      </p:sp>
      <p:sp>
        <p:nvSpPr>
          <p:cNvPr id="14" name="Timeline marker 2028"/>
          <p:cNvSpPr/>
          <p:nvPr/>
        </p:nvSpPr>
        <p:spPr>
          <a:xfrm>
            <a:off x="7278441" y="3438144"/>
            <a:ext cx="164592" cy="164592"/>
          </a:xfrm>
          <a:prstGeom prst="ellipse">
            <a:avLst/>
          </a:prstGeom>
          <a:solidFill>
            <a:schemeClr val="accent1"/>
          </a:solidFill>
          <a:ln/>
        </p:spPr>
      </p:sp>
      <p:sp>
        <p:nvSpPr>
          <p:cNvPr id="15" name="Text 13"/>
          <p:cNvSpPr txBox="1"/>
          <p:nvPr/>
        </p:nvSpPr>
        <p:spPr>
          <a:xfrm>
            <a:off x="7278441" y="3657600"/>
            <a:ext cx="1999427" cy="457200"/>
          </a:xfrm>
          <a:prstGeom prst="rect">
            <a:avLst/>
          </a:prstGeom>
          <a:noFill/>
          <a:ln/>
        </p:spPr>
        <p:txBody>
          <a:bodyPr wrap="square" lIns="0" tIns="0" rIns="0" bIns="0" rtlCol="0" anchor="t"/>
          <a:lstStyle/>
          <a:p>
            <a:pPr indent="0" marL="0">
              <a:buNone/>
            </a:pPr>
            <a:r>
              <a:rPr lang="en-US" sz="2600" b="1" dirty="0">
                <a:solidFill>
                  <a:schemeClr val="accent1"/>
                </a:solidFill>
              </a:rPr>
              <a:t>2028</a:t>
            </a:r>
            <a:endParaRPr lang="en-US" sz="2600" dirty="0"/>
          </a:p>
        </p:txBody>
      </p:sp>
      <p:sp>
        <p:nvSpPr>
          <p:cNvPr id="16" name="Text 14"/>
          <p:cNvSpPr txBox="1"/>
          <p:nvPr/>
        </p:nvSpPr>
        <p:spPr>
          <a:xfrm>
            <a:off x="7278441" y="4160520"/>
            <a:ext cx="3055230" cy="1097280"/>
          </a:xfrm>
          <a:prstGeom prst="rect">
            <a:avLst/>
          </a:prstGeom>
          <a:noFill/>
          <a:ln/>
        </p:spPr>
        <p:txBody>
          <a:bodyPr wrap="square" lIns="0" tIns="0" rIns="0" bIns="0" rtlCol="0" anchor="t"/>
          <a:lstStyle/>
          <a:p>
            <a:pPr indent="0" marL="0">
              <a:lnSpc>
                <a:spcPct val="110000"/>
              </a:lnSpc>
              <a:buNone/>
            </a:pPr>
            <a:r>
              <a:rPr lang="en-US" sz="1400" dirty="0">
                <a:solidFill>
                  <a:schemeClr val="tx1"/>
                </a:solidFill>
              </a:rPr>
              <a:t>EU: all new public buildings must be zero-emission.</a:t>
            </a:r>
            <a:endParaRPr lang="en-US" sz="1400" dirty="0"/>
          </a:p>
        </p:txBody>
      </p:sp>
      <p:sp>
        <p:nvSpPr>
          <p:cNvPr id="17" name="Timeline marker 2030"/>
          <p:cNvSpPr/>
          <p:nvPr/>
        </p:nvSpPr>
        <p:spPr>
          <a:xfrm>
            <a:off x="9460748" y="3438144"/>
            <a:ext cx="164592" cy="164592"/>
          </a:xfrm>
          <a:prstGeom prst="ellipse">
            <a:avLst/>
          </a:prstGeom>
          <a:solidFill>
            <a:schemeClr val="accent1"/>
          </a:solidFill>
          <a:ln/>
        </p:spPr>
      </p:sp>
      <p:sp>
        <p:nvSpPr>
          <p:cNvPr id="18" name="Text 16"/>
          <p:cNvSpPr txBox="1"/>
          <p:nvPr/>
        </p:nvSpPr>
        <p:spPr>
          <a:xfrm>
            <a:off x="9460748" y="1783080"/>
            <a:ext cx="2090867" cy="1097280"/>
          </a:xfrm>
          <a:prstGeom prst="rect">
            <a:avLst/>
          </a:prstGeom>
          <a:noFill/>
          <a:ln/>
        </p:spPr>
        <p:txBody>
          <a:bodyPr wrap="square" lIns="0" tIns="0" rIns="0" bIns="0" rtlCol="0" anchor="b"/>
          <a:lstStyle/>
          <a:p>
            <a:pPr indent="0" marL="0">
              <a:lnSpc>
                <a:spcPct val="110000"/>
              </a:lnSpc>
              <a:buNone/>
            </a:pPr>
            <a:r>
              <a:rPr lang="en-US" sz="1400" dirty="0">
                <a:solidFill>
                  <a:schemeClr val="tx1"/>
                </a:solidFill>
              </a:rPr>
              <a:t>EU: every new building must be zero-emission.</a:t>
            </a:r>
            <a:endParaRPr lang="en-US" sz="1400" dirty="0"/>
          </a:p>
        </p:txBody>
      </p:sp>
      <p:sp>
        <p:nvSpPr>
          <p:cNvPr id="19" name="Text 17"/>
          <p:cNvSpPr txBox="1"/>
          <p:nvPr/>
        </p:nvSpPr>
        <p:spPr>
          <a:xfrm>
            <a:off x="9460748" y="2926080"/>
            <a:ext cx="1999427" cy="457200"/>
          </a:xfrm>
          <a:prstGeom prst="rect">
            <a:avLst/>
          </a:prstGeom>
          <a:noFill/>
          <a:ln/>
        </p:spPr>
        <p:txBody>
          <a:bodyPr wrap="square" lIns="0" tIns="0" rIns="0" bIns="0" rtlCol="0" anchor="b"/>
          <a:lstStyle/>
          <a:p>
            <a:pPr indent="0" marL="0">
              <a:buNone/>
            </a:pPr>
            <a:r>
              <a:rPr lang="en-US" sz="2600" b="1" dirty="0">
                <a:solidFill>
                  <a:schemeClr val="accent1"/>
                </a:solidFill>
              </a:rPr>
              <a:t>2030</a:t>
            </a:r>
            <a:endParaRPr lang="en-US" sz="2600" dirty="0"/>
          </a:p>
        </p:txBody>
      </p:sp>
      <p:sp>
        <p:nvSpPr>
          <p:cNvPr id="20" name="Meaning panel"/>
          <p:cNvSpPr/>
          <p:nvPr/>
        </p:nvSpPr>
        <p:spPr>
          <a:xfrm>
            <a:off x="640080" y="5349240"/>
            <a:ext cx="10911535" cy="731520"/>
          </a:xfrm>
          <a:prstGeom prst="rect">
            <a:avLst/>
          </a:prstGeom>
          <a:solidFill>
            <a:schemeClr val="bg2"/>
          </a:solidFill>
          <a:ln/>
        </p:spPr>
      </p:sp>
      <p:sp>
        <p:nvSpPr>
          <p:cNvPr id="21" name="Text 19"/>
          <p:cNvSpPr txBox="1"/>
          <p:nvPr/>
        </p:nvSpPr>
        <p:spPr>
          <a:xfrm>
            <a:off x="960120" y="5349240"/>
            <a:ext cx="10271455" cy="731520"/>
          </a:xfrm>
          <a:prstGeom prst="rect">
            <a:avLst/>
          </a:prstGeom>
          <a:noFill/>
          <a:ln/>
        </p:spPr>
        <p:txBody>
          <a:bodyPr wrap="square" lIns="0" tIns="0" rIns="0" bIns="0" rtlCol="0" anchor="ctr"/>
          <a:lstStyle/>
          <a:p>
            <a:pPr indent="0" marL="0">
              <a:buNone/>
            </a:pPr>
            <a:r>
              <a:rPr lang="en-US" sz="1500" b="1" dirty="0">
                <a:solidFill>
                  <a:schemeClr val="tx1"/>
                </a:solidFill>
              </a:rPr>
              <a:t>Over 40 jurisdictions are adopting ISSB climate reporting.  </a:t>
            </a:r>
            <a:pPr indent="0" marL="0">
              <a:buNone/>
            </a:pPr>
            <a:r>
              <a:rPr lang="en-US" sz="1500" dirty="0">
                <a:solidFill>
                  <a:schemeClr val="tx2"/>
                </a:solidFill>
              </a:rPr>
              <a:t>Your buyers, lenders and parent companies will ask for numbers you can stand behind.</a:t>
            </a:r>
            <a:endParaRPr lang="en-US" sz="15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ection label"/>
          <p:cNvSpPr txBox="1"/>
          <p:nvPr/>
        </p:nvSpPr>
        <p:spPr>
          <a:xfrm>
            <a:off x="640080" y="411480"/>
            <a:ext cx="10911535"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01   WHO WE HELP</a:t>
            </a:r>
            <a:endParaRPr lang="en-US" sz="1200" dirty="0"/>
          </a:p>
        </p:txBody>
      </p:sp>
      <p:sp>
        <p:nvSpPr>
          <p:cNvPr id="3" name="Text 1"/>
          <p:cNvSpPr/>
          <p:nvPr>
            <p:ph idx="102" type="title" hasCustomPrompt="1"/>
          </p:nvPr>
        </p:nvSpPr>
        <p:spPr>
          <a:xfrm>
            <a:off x="640080" y="777240"/>
            <a:ext cx="10911535" cy="685800"/>
          </a:xfrm>
          <a:prstGeom prst="rect">
            <a:avLst/>
          </a:prstGeom>
          <a:noFill/>
          <a:ln/>
        </p:spPr>
        <p:txBody>
          <a:bodyPr wrap="square" lIns="0" tIns="0" rIns="0" bIns="0" rtlCol="0" anchor="t"/>
          <a:lstStyle/>
          <a:p>
            <a:pPr algn="l" indent="0" marL="0">
              <a:buNone/>
            </a:pPr>
            <a:r>
              <a:rPr lang="en-US" sz="3000" b="1" dirty="0">
                <a:solidFill>
                  <a:schemeClr val="tx1"/>
                </a:solidFill>
              </a:rPr>
              <a:t>Four kinds of client, four different reasons to call</a:t>
            </a:r>
            <a:endParaRPr lang="en-US" sz="3000" dirty="0"/>
          </a:p>
        </p:txBody>
      </p:sp>
      <p:sp>
        <p:nvSpPr>
          <p:cNvPr id="4" name="Text 2"/>
          <p:cNvSpPr txBox="1"/>
          <p:nvPr/>
        </p:nvSpPr>
        <p:spPr>
          <a:xfrm>
            <a:off x="640080" y="1783080"/>
            <a:ext cx="2834640" cy="274320"/>
          </a:xfrm>
          <a:prstGeom prst="rect">
            <a:avLst/>
          </a:prstGeom>
          <a:noFill/>
          <a:ln/>
        </p:spPr>
        <p:txBody>
          <a:bodyPr wrap="square" lIns="0" tIns="0" rIns="0" bIns="0" rtlCol="0" anchor="t"/>
          <a:lstStyle/>
          <a:p>
            <a:pPr indent="0" marL="0">
              <a:buNone/>
            </a:pPr>
            <a:r>
              <a:rPr lang="en-US" sz="1200" b="1" spc="200" kern="0" dirty="0">
                <a:solidFill>
                  <a:schemeClr val="accent4"/>
                </a:solidFill>
              </a:rPr>
              <a:t>CLIENT</a:t>
            </a:r>
            <a:endParaRPr lang="en-US" sz="1200" dirty="0"/>
          </a:p>
        </p:txBody>
      </p:sp>
      <p:sp>
        <p:nvSpPr>
          <p:cNvPr id="5" name="Text 3"/>
          <p:cNvSpPr txBox="1"/>
          <p:nvPr/>
        </p:nvSpPr>
        <p:spPr>
          <a:xfrm>
            <a:off x="3749040" y="1783080"/>
            <a:ext cx="3566160" cy="274320"/>
          </a:xfrm>
          <a:prstGeom prst="rect">
            <a:avLst/>
          </a:prstGeom>
          <a:noFill/>
          <a:ln/>
        </p:spPr>
        <p:txBody>
          <a:bodyPr wrap="square" lIns="0" tIns="0" rIns="0" bIns="0" rtlCol="0" anchor="t"/>
          <a:lstStyle/>
          <a:p>
            <a:pPr indent="0" marL="0">
              <a:buNone/>
            </a:pPr>
            <a:r>
              <a:rPr lang="en-US" sz="1200" b="1" spc="200" kern="0" dirty="0">
                <a:solidFill>
                  <a:schemeClr val="accent4"/>
                </a:solidFill>
              </a:rPr>
              <a:t>WHAT'S PUSHING THEM</a:t>
            </a:r>
            <a:endParaRPr lang="en-US" sz="1200" dirty="0"/>
          </a:p>
        </p:txBody>
      </p:sp>
      <p:sp>
        <p:nvSpPr>
          <p:cNvPr id="6" name="Text 4"/>
          <p:cNvSpPr txBox="1"/>
          <p:nvPr/>
        </p:nvSpPr>
        <p:spPr>
          <a:xfrm>
            <a:off x="7589520" y="1783080"/>
            <a:ext cx="3959352" cy="274320"/>
          </a:xfrm>
          <a:prstGeom prst="rect">
            <a:avLst/>
          </a:prstGeom>
          <a:noFill/>
          <a:ln/>
        </p:spPr>
        <p:txBody>
          <a:bodyPr wrap="square" lIns="0" tIns="0" rIns="0" bIns="0" rtlCol="0" anchor="t"/>
          <a:lstStyle/>
          <a:p>
            <a:pPr indent="0" marL="0">
              <a:buNone/>
            </a:pPr>
            <a:r>
              <a:rPr lang="en-US" sz="1200" b="1" spc="200" kern="0" dirty="0">
                <a:solidFill>
                  <a:schemeClr val="accent4"/>
                </a:solidFill>
              </a:rPr>
              <a:t>WHAT WE DO</a:t>
            </a:r>
            <a:endParaRPr lang="en-US" sz="1200" dirty="0"/>
          </a:p>
        </p:txBody>
      </p:sp>
      <p:sp>
        <p:nvSpPr>
          <p:cNvPr id="7" name="Row rule 0"/>
          <p:cNvSpPr/>
          <p:nvPr/>
        </p:nvSpPr>
        <p:spPr>
          <a:xfrm>
            <a:off x="640080" y="2194560"/>
            <a:ext cx="10911535" cy="0"/>
          </a:xfrm>
          <a:prstGeom prst="line">
            <a:avLst/>
          </a:prstGeom>
          <a:noFill/>
          <a:ln w="9525">
            <a:solidFill>
              <a:schemeClr val="tx1"/>
            </a:solidFill>
            <a:prstDash val="solid"/>
          </a:ln>
        </p:spPr>
      </p:sp>
      <p:sp>
        <p:nvSpPr>
          <p:cNvPr id="8" name="Text 6"/>
          <p:cNvSpPr txBox="1"/>
          <p:nvPr/>
        </p:nvSpPr>
        <p:spPr>
          <a:xfrm>
            <a:off x="640080" y="2359152"/>
            <a:ext cx="2834640" cy="731520"/>
          </a:xfrm>
          <a:prstGeom prst="rect">
            <a:avLst/>
          </a:prstGeom>
          <a:noFill/>
          <a:ln/>
        </p:spPr>
        <p:txBody>
          <a:bodyPr wrap="square" lIns="0" tIns="0" rIns="0" bIns="0" rtlCol="0" anchor="t"/>
          <a:lstStyle/>
          <a:p>
            <a:pPr indent="0" marL="0">
              <a:buNone/>
            </a:pPr>
            <a:r>
              <a:rPr lang="en-US" sz="1800" b="1" dirty="0">
                <a:solidFill>
                  <a:schemeClr val="tx1"/>
                </a:solidFill>
              </a:rPr>
              <a:t>Developers, retail and logistics</a:t>
            </a:r>
            <a:endParaRPr lang="en-US" sz="1800" dirty="0"/>
          </a:p>
        </p:txBody>
      </p:sp>
      <p:sp>
        <p:nvSpPr>
          <p:cNvPr id="9" name="Text 7"/>
          <p:cNvSpPr txBox="1"/>
          <p:nvPr/>
        </p:nvSpPr>
        <p:spPr>
          <a:xfrm>
            <a:off x="3749040" y="2359152"/>
            <a:ext cx="3566160" cy="777240"/>
          </a:xfrm>
          <a:prstGeom prst="rect">
            <a:avLst/>
          </a:prstGeom>
          <a:noFill/>
          <a:ln/>
        </p:spPr>
        <p:txBody>
          <a:bodyPr wrap="square" lIns="0" tIns="0" rIns="0" bIns="0" rtlCol="0" anchor="t"/>
          <a:lstStyle/>
          <a:p>
            <a:pPr indent="0" marL="0">
              <a:lnSpc>
                <a:spcPct val="110000"/>
              </a:lnSpc>
              <a:buNone/>
            </a:pPr>
            <a:r>
              <a:rPr lang="en-US" sz="1500" dirty="0">
                <a:solidFill>
                  <a:schemeClr val="tx2"/>
                </a:solidFill>
              </a:rPr>
              <a:t>Tenant requirements, green finance, energy codes and the proposed star-rating rule.</a:t>
            </a:r>
            <a:endParaRPr lang="en-US" sz="1500" dirty="0"/>
          </a:p>
        </p:txBody>
      </p:sp>
      <p:sp>
        <p:nvSpPr>
          <p:cNvPr id="10" name="Text 8"/>
          <p:cNvSpPr txBox="1"/>
          <p:nvPr/>
        </p:nvSpPr>
        <p:spPr>
          <a:xfrm>
            <a:off x="7589520" y="2359152"/>
            <a:ext cx="3959352" cy="777240"/>
          </a:xfrm>
          <a:prstGeom prst="rect">
            <a:avLst/>
          </a:prstGeom>
          <a:noFill/>
          <a:ln/>
        </p:spPr>
        <p:txBody>
          <a:bodyPr wrap="square" lIns="0" tIns="0" rIns="0" bIns="0" rtlCol="0" anchor="t"/>
          <a:lstStyle/>
          <a:p>
            <a:pPr indent="0" marL="0">
              <a:lnSpc>
                <a:spcPct val="110000"/>
              </a:lnSpc>
              <a:buNone/>
            </a:pPr>
            <a:r>
              <a:rPr lang="en-US" sz="1500" dirty="0">
                <a:solidFill>
                  <a:schemeClr val="tx1"/>
                </a:solidFill>
              </a:rPr>
              <a:t>Certification under LEED, IGBC, EDGE or GRIHA, backed by energy and daylight models.</a:t>
            </a:r>
            <a:endParaRPr lang="en-US" sz="1500" dirty="0"/>
          </a:p>
        </p:txBody>
      </p:sp>
      <p:sp>
        <p:nvSpPr>
          <p:cNvPr id="11" name="Row rule 1"/>
          <p:cNvSpPr/>
          <p:nvPr/>
        </p:nvSpPr>
        <p:spPr>
          <a:xfrm>
            <a:off x="640080" y="3218688"/>
            <a:ext cx="10911535" cy="0"/>
          </a:xfrm>
          <a:prstGeom prst="line">
            <a:avLst/>
          </a:prstGeom>
          <a:noFill/>
          <a:ln w="9525">
            <a:solidFill>
              <a:schemeClr val="accent6"/>
            </a:solidFill>
            <a:prstDash val="solid"/>
          </a:ln>
        </p:spPr>
      </p:sp>
      <p:sp>
        <p:nvSpPr>
          <p:cNvPr id="12" name="Text 10"/>
          <p:cNvSpPr txBox="1"/>
          <p:nvPr/>
        </p:nvSpPr>
        <p:spPr>
          <a:xfrm>
            <a:off x="640080" y="3383280"/>
            <a:ext cx="2834640" cy="731520"/>
          </a:xfrm>
          <a:prstGeom prst="rect">
            <a:avLst/>
          </a:prstGeom>
          <a:noFill/>
          <a:ln/>
        </p:spPr>
        <p:txBody>
          <a:bodyPr wrap="square" lIns="0" tIns="0" rIns="0" bIns="0" rtlCol="0" anchor="t"/>
          <a:lstStyle/>
          <a:p>
            <a:pPr indent="0" marL="0">
              <a:buNone/>
            </a:pPr>
            <a:r>
              <a:rPr lang="en-US" sz="1800" b="1" dirty="0">
                <a:solidFill>
                  <a:schemeClr val="tx1"/>
                </a:solidFill>
              </a:rPr>
              <a:t>Manufacturers and exporters</a:t>
            </a:r>
            <a:endParaRPr lang="en-US" sz="1800" dirty="0"/>
          </a:p>
        </p:txBody>
      </p:sp>
      <p:sp>
        <p:nvSpPr>
          <p:cNvPr id="13" name="Text 11"/>
          <p:cNvSpPr txBox="1"/>
          <p:nvPr/>
        </p:nvSpPr>
        <p:spPr>
          <a:xfrm>
            <a:off x="3749040" y="3383280"/>
            <a:ext cx="3566160" cy="777240"/>
          </a:xfrm>
          <a:prstGeom prst="rect">
            <a:avLst/>
          </a:prstGeom>
          <a:noFill/>
          <a:ln/>
        </p:spPr>
        <p:txBody>
          <a:bodyPr wrap="square" lIns="0" tIns="0" rIns="0" bIns="0" rtlCol="0" anchor="t"/>
          <a:lstStyle/>
          <a:p>
            <a:pPr indent="0" marL="0">
              <a:lnSpc>
                <a:spcPct val="110000"/>
              </a:lnSpc>
              <a:buNone/>
            </a:pPr>
            <a:r>
              <a:rPr lang="en-US" sz="1500" dirty="0">
                <a:solidFill>
                  <a:schemeClr val="tx2"/>
                </a:solidFill>
              </a:rPr>
              <a:t>EU CBAM, India's carbon market (CCTS) and buyers asking for product carbon data.</a:t>
            </a:r>
            <a:endParaRPr lang="en-US" sz="1500" dirty="0"/>
          </a:p>
        </p:txBody>
      </p:sp>
      <p:sp>
        <p:nvSpPr>
          <p:cNvPr id="14" name="Text 12"/>
          <p:cNvSpPr txBox="1"/>
          <p:nvPr/>
        </p:nvSpPr>
        <p:spPr>
          <a:xfrm>
            <a:off x="7589520" y="3383280"/>
            <a:ext cx="3959352" cy="777240"/>
          </a:xfrm>
          <a:prstGeom prst="rect">
            <a:avLst/>
          </a:prstGeom>
          <a:noFill/>
          <a:ln/>
        </p:spPr>
        <p:txBody>
          <a:bodyPr wrap="square" lIns="0" tIns="0" rIns="0" bIns="0" rtlCol="0" anchor="t"/>
          <a:lstStyle/>
          <a:p>
            <a:pPr indent="0" marL="0">
              <a:lnSpc>
                <a:spcPct val="110000"/>
              </a:lnSpc>
              <a:buNone/>
            </a:pPr>
            <a:r>
              <a:rPr lang="en-US" sz="1500" dirty="0">
                <a:solidFill>
                  <a:schemeClr val="tx1"/>
                </a:solidFill>
              </a:rPr>
              <a:t>GHG inventories, product LCA, EPD support and green factory certification.</a:t>
            </a:r>
            <a:endParaRPr lang="en-US" sz="1500" dirty="0"/>
          </a:p>
        </p:txBody>
      </p:sp>
      <p:sp>
        <p:nvSpPr>
          <p:cNvPr id="15" name="Row rule 2"/>
          <p:cNvSpPr/>
          <p:nvPr/>
        </p:nvSpPr>
        <p:spPr>
          <a:xfrm>
            <a:off x="640080" y="4242816"/>
            <a:ext cx="10911535" cy="0"/>
          </a:xfrm>
          <a:prstGeom prst="line">
            <a:avLst/>
          </a:prstGeom>
          <a:noFill/>
          <a:ln w="9525">
            <a:solidFill>
              <a:schemeClr val="accent6"/>
            </a:solidFill>
            <a:prstDash val="solid"/>
          </a:ln>
        </p:spPr>
      </p:sp>
      <p:sp>
        <p:nvSpPr>
          <p:cNvPr id="16" name="Text 14"/>
          <p:cNvSpPr txBox="1"/>
          <p:nvPr/>
        </p:nvSpPr>
        <p:spPr>
          <a:xfrm>
            <a:off x="640080" y="4407408"/>
            <a:ext cx="2834640" cy="731520"/>
          </a:xfrm>
          <a:prstGeom prst="rect">
            <a:avLst/>
          </a:prstGeom>
          <a:noFill/>
          <a:ln/>
        </p:spPr>
        <p:txBody>
          <a:bodyPr wrap="square" lIns="0" tIns="0" rIns="0" bIns="0" rtlCol="0" anchor="t"/>
          <a:lstStyle/>
          <a:p>
            <a:pPr indent="0" marL="0">
              <a:buNone/>
            </a:pPr>
            <a:r>
              <a:rPr lang="en-US" sz="1800" b="1" dirty="0">
                <a:solidFill>
                  <a:schemeClr val="tx1"/>
                </a:solidFill>
              </a:rPr>
              <a:t>Listed companies and funds</a:t>
            </a:r>
            <a:endParaRPr lang="en-US" sz="1800" dirty="0"/>
          </a:p>
        </p:txBody>
      </p:sp>
      <p:sp>
        <p:nvSpPr>
          <p:cNvPr id="17" name="Text 15"/>
          <p:cNvSpPr txBox="1"/>
          <p:nvPr/>
        </p:nvSpPr>
        <p:spPr>
          <a:xfrm>
            <a:off x="3749040" y="4407408"/>
            <a:ext cx="3566160" cy="777240"/>
          </a:xfrm>
          <a:prstGeom prst="rect">
            <a:avLst/>
          </a:prstGeom>
          <a:noFill/>
          <a:ln/>
        </p:spPr>
        <p:txBody>
          <a:bodyPr wrap="square" lIns="0" tIns="0" rIns="0" bIns="0" rtlCol="0" anchor="t"/>
          <a:lstStyle/>
          <a:p>
            <a:pPr indent="0" marL="0">
              <a:lnSpc>
                <a:spcPct val="110000"/>
              </a:lnSpc>
              <a:buNone/>
            </a:pPr>
            <a:r>
              <a:rPr lang="en-US" sz="1500" dirty="0">
                <a:solidFill>
                  <a:schemeClr val="tx2"/>
                </a:solidFill>
              </a:rPr>
              <a:t>BRSR Core assurance, investor questionnaires and GRESB.</a:t>
            </a:r>
            <a:endParaRPr lang="en-US" sz="1500" dirty="0"/>
          </a:p>
        </p:txBody>
      </p:sp>
      <p:sp>
        <p:nvSpPr>
          <p:cNvPr id="18" name="Text 16"/>
          <p:cNvSpPr txBox="1"/>
          <p:nvPr/>
        </p:nvSpPr>
        <p:spPr>
          <a:xfrm>
            <a:off x="7589520" y="4407408"/>
            <a:ext cx="3959352" cy="777240"/>
          </a:xfrm>
          <a:prstGeom prst="rect">
            <a:avLst/>
          </a:prstGeom>
          <a:noFill/>
          <a:ln/>
        </p:spPr>
        <p:txBody>
          <a:bodyPr wrap="square" lIns="0" tIns="0" rIns="0" bIns="0" rtlCol="0" anchor="t"/>
          <a:lstStyle/>
          <a:p>
            <a:pPr indent="0" marL="0">
              <a:lnSpc>
                <a:spcPct val="110000"/>
              </a:lnSpc>
              <a:buNone/>
            </a:pPr>
            <a:r>
              <a:rPr lang="en-US" sz="1500" dirty="0">
                <a:solidFill>
                  <a:schemeClr val="tx1"/>
                </a:solidFill>
              </a:rPr>
              <a:t>Scope 1–3 inventories, BRSR and GRI reporting, and physical climate-risk studies.</a:t>
            </a:r>
            <a:endParaRPr lang="en-US" sz="1500" dirty="0"/>
          </a:p>
        </p:txBody>
      </p:sp>
      <p:sp>
        <p:nvSpPr>
          <p:cNvPr id="19" name="Row rule 3"/>
          <p:cNvSpPr/>
          <p:nvPr/>
        </p:nvSpPr>
        <p:spPr>
          <a:xfrm>
            <a:off x="640080" y="5266944"/>
            <a:ext cx="10911535" cy="0"/>
          </a:xfrm>
          <a:prstGeom prst="line">
            <a:avLst/>
          </a:prstGeom>
          <a:noFill/>
          <a:ln w="9525">
            <a:solidFill>
              <a:schemeClr val="accent6"/>
            </a:solidFill>
            <a:prstDash val="solid"/>
          </a:ln>
        </p:spPr>
      </p:sp>
      <p:sp>
        <p:nvSpPr>
          <p:cNvPr id="20" name="Text 18"/>
          <p:cNvSpPr txBox="1"/>
          <p:nvPr/>
        </p:nvSpPr>
        <p:spPr>
          <a:xfrm>
            <a:off x="640080" y="5431536"/>
            <a:ext cx="2834640" cy="731520"/>
          </a:xfrm>
          <a:prstGeom prst="rect">
            <a:avLst/>
          </a:prstGeom>
          <a:noFill/>
          <a:ln/>
        </p:spPr>
        <p:txBody>
          <a:bodyPr wrap="square" lIns="0" tIns="0" rIns="0" bIns="0" rtlCol="0" anchor="t"/>
          <a:lstStyle/>
          <a:p>
            <a:pPr indent="0" marL="0">
              <a:buNone/>
            </a:pPr>
            <a:r>
              <a:rPr lang="en-US" sz="1800" b="1" dirty="0">
                <a:solidFill>
                  <a:schemeClr val="tx1"/>
                </a:solidFill>
              </a:rPr>
              <a:t>Architects and MEP teams</a:t>
            </a:r>
            <a:endParaRPr lang="en-US" sz="1800" dirty="0"/>
          </a:p>
        </p:txBody>
      </p:sp>
      <p:sp>
        <p:nvSpPr>
          <p:cNvPr id="21" name="Text 19"/>
          <p:cNvSpPr txBox="1"/>
          <p:nvPr/>
        </p:nvSpPr>
        <p:spPr>
          <a:xfrm>
            <a:off x="3749040" y="5431536"/>
            <a:ext cx="3566160" cy="777240"/>
          </a:xfrm>
          <a:prstGeom prst="rect">
            <a:avLst/>
          </a:prstGeom>
          <a:noFill/>
          <a:ln/>
        </p:spPr>
        <p:txBody>
          <a:bodyPr wrap="square" lIns="0" tIns="0" rIns="0" bIns="0" rtlCol="0" anchor="t"/>
          <a:lstStyle/>
          <a:p>
            <a:pPr indent="0" marL="0">
              <a:lnSpc>
                <a:spcPct val="110000"/>
              </a:lnSpc>
              <a:buNone/>
            </a:pPr>
            <a:r>
              <a:rPr lang="en-US" sz="1500" dirty="0">
                <a:solidFill>
                  <a:schemeClr val="tx2"/>
                </a:solidFill>
              </a:rPr>
              <a:t>Credits that depend on simulation, on tight design timelines.</a:t>
            </a:r>
            <a:endParaRPr lang="en-US" sz="1500" dirty="0"/>
          </a:p>
        </p:txBody>
      </p:sp>
      <p:sp>
        <p:nvSpPr>
          <p:cNvPr id="22" name="Text 20"/>
          <p:cNvSpPr txBox="1"/>
          <p:nvPr/>
        </p:nvSpPr>
        <p:spPr>
          <a:xfrm>
            <a:off x="7589520" y="5431536"/>
            <a:ext cx="3959352" cy="777240"/>
          </a:xfrm>
          <a:prstGeom prst="rect">
            <a:avLst/>
          </a:prstGeom>
          <a:noFill/>
          <a:ln/>
        </p:spPr>
        <p:txBody>
          <a:bodyPr wrap="square" lIns="0" tIns="0" rIns="0" bIns="0" rtlCol="0" anchor="t"/>
          <a:lstStyle/>
          <a:p>
            <a:pPr indent="0" marL="0">
              <a:lnSpc>
                <a:spcPct val="110000"/>
              </a:lnSpc>
              <a:buNone/>
            </a:pPr>
            <a:r>
              <a:rPr lang="en-US" sz="1500" dirty="0">
                <a:solidFill>
                  <a:schemeClr val="tx1"/>
                </a:solidFill>
              </a:rPr>
              <a:t>Energy, daylight and microclimate studies, delivered as part of your team.</a:t>
            </a:r>
            <a:endParaRPr lang="en-US" sz="15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ection label"/>
          <p:cNvSpPr txBox="1"/>
          <p:nvPr/>
        </p:nvSpPr>
        <p:spPr>
          <a:xfrm>
            <a:off x="640080" y="411480"/>
            <a:ext cx="10911535"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02   WHAT WE DO</a:t>
            </a:r>
            <a:endParaRPr lang="en-US" sz="1200" dirty="0"/>
          </a:p>
        </p:txBody>
      </p:sp>
      <p:sp>
        <p:nvSpPr>
          <p:cNvPr id="3" name="Text 1"/>
          <p:cNvSpPr/>
          <p:nvPr>
            <p:ph idx="102" type="title" hasCustomPrompt="1"/>
          </p:nvPr>
        </p:nvSpPr>
        <p:spPr>
          <a:xfrm>
            <a:off x="640080" y="777240"/>
            <a:ext cx="10911535" cy="685800"/>
          </a:xfrm>
          <a:prstGeom prst="rect">
            <a:avLst/>
          </a:prstGeom>
          <a:noFill/>
          <a:ln/>
        </p:spPr>
        <p:txBody>
          <a:bodyPr wrap="square" lIns="0" tIns="0" rIns="0" bIns="0" rtlCol="0" anchor="t"/>
          <a:lstStyle/>
          <a:p>
            <a:pPr algn="l" indent="0" marL="0">
              <a:buNone/>
            </a:pPr>
            <a:r>
              <a:rPr lang="en-US" sz="3000" b="1" dirty="0">
                <a:solidFill>
                  <a:schemeClr val="tx1"/>
                </a:solidFill>
              </a:rPr>
              <a:t>Measure, certify, report</a:t>
            </a:r>
            <a:endParaRPr lang="en-US" sz="3000" dirty="0"/>
          </a:p>
        </p:txBody>
      </p:sp>
      <p:sp>
        <p:nvSpPr>
          <p:cNvPr id="4" name="Text 2"/>
          <p:cNvSpPr txBox="1"/>
          <p:nvPr/>
        </p:nvSpPr>
        <p:spPr>
          <a:xfrm>
            <a:off x="640080" y="1828800"/>
            <a:ext cx="914400" cy="457200"/>
          </a:xfrm>
          <a:prstGeom prst="rect">
            <a:avLst/>
          </a:prstGeom>
          <a:noFill/>
          <a:ln/>
        </p:spPr>
        <p:txBody>
          <a:bodyPr wrap="square" lIns="0" tIns="0" rIns="0" bIns="0" rtlCol="0" anchor="t"/>
          <a:lstStyle/>
          <a:p>
            <a:pPr indent="0" marL="0">
              <a:buNone/>
            </a:pPr>
            <a:r>
              <a:rPr lang="en-US" sz="2000" b="1" dirty="0">
                <a:solidFill>
                  <a:schemeClr val="accent1"/>
                </a:solidFill>
              </a:rPr>
              <a:t>01</a:t>
            </a:r>
            <a:endParaRPr lang="en-US" sz="2000" dirty="0"/>
          </a:p>
        </p:txBody>
      </p:sp>
      <p:sp>
        <p:nvSpPr>
          <p:cNvPr id="5" name="Text 3"/>
          <p:cNvSpPr txBox="1"/>
          <p:nvPr/>
        </p:nvSpPr>
        <p:spPr>
          <a:xfrm>
            <a:off x="640080" y="2286000"/>
            <a:ext cx="3393338" cy="640080"/>
          </a:xfrm>
          <a:prstGeom prst="rect">
            <a:avLst/>
          </a:prstGeom>
          <a:noFill/>
          <a:ln/>
        </p:spPr>
        <p:txBody>
          <a:bodyPr wrap="square" lIns="0" tIns="0" rIns="0" bIns="0" rtlCol="0" anchor="t"/>
          <a:lstStyle/>
          <a:p>
            <a:pPr indent="0" marL="0">
              <a:buNone/>
            </a:pPr>
            <a:r>
              <a:rPr lang="en-US" sz="3200" b="1" dirty="0">
                <a:solidFill>
                  <a:schemeClr val="tx1"/>
                </a:solidFill>
              </a:rPr>
              <a:t>Measure</a:t>
            </a:r>
            <a:endParaRPr lang="en-US" sz="3200" dirty="0"/>
          </a:p>
        </p:txBody>
      </p:sp>
      <p:sp>
        <p:nvSpPr>
          <p:cNvPr id="6" name="Text 4"/>
          <p:cNvSpPr txBox="1"/>
          <p:nvPr/>
        </p:nvSpPr>
        <p:spPr>
          <a:xfrm>
            <a:off x="640080" y="3017520"/>
            <a:ext cx="3210458" cy="640080"/>
          </a:xfrm>
          <a:prstGeom prst="rect">
            <a:avLst/>
          </a:prstGeom>
          <a:noFill/>
          <a:ln/>
        </p:spPr>
        <p:txBody>
          <a:bodyPr wrap="square" lIns="0" tIns="0" rIns="0" bIns="0" rtlCol="0" anchor="t"/>
          <a:lstStyle/>
          <a:p>
            <a:pPr indent="0" marL="0">
              <a:buNone/>
            </a:pPr>
            <a:r>
              <a:rPr lang="en-US" sz="1600" dirty="0">
                <a:solidFill>
                  <a:schemeClr val="accent2"/>
                </a:solidFill>
              </a:rPr>
              <a:t>Find the baseline and build the evidence.</a:t>
            </a:r>
            <a:endParaRPr lang="en-US" sz="1600" dirty="0"/>
          </a:p>
        </p:txBody>
      </p:sp>
      <p:sp>
        <p:nvSpPr>
          <p:cNvPr id="7" name="Bullets Measure"/>
          <p:cNvSpPr txBox="1"/>
          <p:nvPr/>
        </p:nvSpPr>
        <p:spPr>
          <a:xfrm>
            <a:off x="640080" y="3794760"/>
            <a:ext cx="3256178" cy="2103120"/>
          </a:xfrm>
          <a:prstGeom prst="rect">
            <a:avLst/>
          </a:prstGeom>
          <a:noFill/>
          <a:ln/>
        </p:spPr>
        <p:txBody>
          <a:bodyPr wrap="square" lIns="0" tIns="0" rIns="0" bIns="0" rtlCol="0" anchor="t"/>
          <a:lstStyle/>
          <a:p>
            <a:pPr marL="190500" indent="-190500">
              <a:lnSpc>
                <a:spcPct val="120000"/>
              </a:lnSpc>
              <a:spcAft>
                <a:spcPts val="600"/>
              </a:spcAft>
              <a:buSzPct val="100000"/>
              <a:buChar char="•"/>
            </a:pPr>
            <a:r>
              <a:rPr lang="en-US" sz="1600" dirty="0">
                <a:solidFill>
                  <a:schemeClr val="tx1"/>
                </a:solidFill>
              </a:rPr>
              <a:t>GHG inventory, Scope 1, 2 and 3</a:t>
            </a:r>
            <a:endParaRPr lang="en-US" sz="1600" dirty="0"/>
          </a:p>
          <a:p>
            <a:pPr marL="190500" indent="-190500">
              <a:lnSpc>
                <a:spcPct val="120000"/>
              </a:lnSpc>
              <a:spcAft>
                <a:spcPts val="600"/>
              </a:spcAft>
              <a:buSzPct val="100000"/>
              <a:buChar char="•"/>
            </a:pPr>
            <a:r>
              <a:rPr lang="en-US" sz="1600" dirty="0">
                <a:solidFill>
                  <a:schemeClr val="tx1"/>
                </a:solidFill>
              </a:rPr>
              <a:t>Energy and daylight simulation</a:t>
            </a:r>
            <a:endParaRPr lang="en-US" sz="1600" dirty="0"/>
          </a:p>
          <a:p>
            <a:pPr marL="190500" indent="-190500">
              <a:lnSpc>
                <a:spcPct val="120000"/>
              </a:lnSpc>
              <a:spcAft>
                <a:spcPts val="600"/>
              </a:spcAft>
              <a:buSzPct val="100000"/>
              <a:buChar char="•"/>
            </a:pPr>
            <a:r>
              <a:rPr lang="en-US" sz="1600" dirty="0">
                <a:solidFill>
                  <a:schemeClr val="tx1"/>
                </a:solidFill>
              </a:rPr>
              <a:t>Microclimate and climate-risk studies</a:t>
            </a:r>
            <a:endParaRPr lang="en-US" sz="1600" dirty="0"/>
          </a:p>
          <a:p>
            <a:pPr marL="190500" indent="-190500">
              <a:lnSpc>
                <a:spcPct val="120000"/>
              </a:lnSpc>
              <a:spcAft>
                <a:spcPts val="600"/>
              </a:spcAft>
              <a:buSzPct val="100000"/>
              <a:buChar char="•"/>
            </a:pPr>
            <a:r>
              <a:rPr lang="en-US" sz="1600" dirty="0">
                <a:solidFill>
                  <a:schemeClr val="tx1"/>
                </a:solidFill>
              </a:rPr>
              <a:t>LCA, EPDs, CBAM and CCTS data</a:t>
            </a:r>
            <a:endParaRPr lang="en-US" sz="1600" dirty="0"/>
          </a:p>
        </p:txBody>
      </p:sp>
      <p:sp>
        <p:nvSpPr>
          <p:cNvPr id="8" name="Column rule 1"/>
          <p:cNvSpPr/>
          <p:nvPr/>
        </p:nvSpPr>
        <p:spPr>
          <a:xfrm>
            <a:off x="4216298" y="1828800"/>
            <a:ext cx="0" cy="4114800"/>
          </a:xfrm>
          <a:prstGeom prst="line">
            <a:avLst/>
          </a:prstGeom>
          <a:noFill/>
          <a:ln w="9525">
            <a:solidFill>
              <a:schemeClr val="accent6"/>
            </a:solidFill>
            <a:prstDash val="solid"/>
          </a:ln>
        </p:spPr>
      </p:sp>
      <p:sp>
        <p:nvSpPr>
          <p:cNvPr id="9" name="Text 7"/>
          <p:cNvSpPr txBox="1"/>
          <p:nvPr/>
        </p:nvSpPr>
        <p:spPr>
          <a:xfrm>
            <a:off x="4399178" y="1828800"/>
            <a:ext cx="914400" cy="457200"/>
          </a:xfrm>
          <a:prstGeom prst="rect">
            <a:avLst/>
          </a:prstGeom>
          <a:noFill/>
          <a:ln/>
        </p:spPr>
        <p:txBody>
          <a:bodyPr wrap="square" lIns="0" tIns="0" rIns="0" bIns="0" rtlCol="0" anchor="t"/>
          <a:lstStyle/>
          <a:p>
            <a:pPr indent="0" marL="0">
              <a:buNone/>
            </a:pPr>
            <a:r>
              <a:rPr lang="en-US" sz="2000" b="1" dirty="0">
                <a:solidFill>
                  <a:schemeClr val="accent1"/>
                </a:solidFill>
              </a:rPr>
              <a:t>02</a:t>
            </a:r>
            <a:endParaRPr lang="en-US" sz="2000" dirty="0"/>
          </a:p>
        </p:txBody>
      </p:sp>
      <p:sp>
        <p:nvSpPr>
          <p:cNvPr id="10" name="Text 8"/>
          <p:cNvSpPr txBox="1"/>
          <p:nvPr/>
        </p:nvSpPr>
        <p:spPr>
          <a:xfrm>
            <a:off x="4399178" y="2286000"/>
            <a:ext cx="3393338" cy="640080"/>
          </a:xfrm>
          <a:prstGeom prst="rect">
            <a:avLst/>
          </a:prstGeom>
          <a:noFill/>
          <a:ln/>
        </p:spPr>
        <p:txBody>
          <a:bodyPr wrap="square" lIns="0" tIns="0" rIns="0" bIns="0" rtlCol="0" anchor="t"/>
          <a:lstStyle/>
          <a:p>
            <a:pPr indent="0" marL="0">
              <a:buNone/>
            </a:pPr>
            <a:r>
              <a:rPr lang="en-US" sz="3200" b="1" dirty="0">
                <a:solidFill>
                  <a:schemeClr val="tx1"/>
                </a:solidFill>
              </a:rPr>
              <a:t>Certify</a:t>
            </a:r>
            <a:endParaRPr lang="en-US" sz="3200" dirty="0"/>
          </a:p>
        </p:txBody>
      </p:sp>
      <p:sp>
        <p:nvSpPr>
          <p:cNvPr id="11" name="Text 9"/>
          <p:cNvSpPr txBox="1"/>
          <p:nvPr/>
        </p:nvSpPr>
        <p:spPr>
          <a:xfrm>
            <a:off x="4399178" y="3017520"/>
            <a:ext cx="3210458" cy="640080"/>
          </a:xfrm>
          <a:prstGeom prst="rect">
            <a:avLst/>
          </a:prstGeom>
          <a:noFill/>
          <a:ln/>
        </p:spPr>
        <p:txBody>
          <a:bodyPr wrap="square" lIns="0" tIns="0" rIns="0" bIns="0" rtlCol="0" anchor="t"/>
          <a:lstStyle/>
          <a:p>
            <a:pPr indent="0" marL="0">
              <a:buNone/>
            </a:pPr>
            <a:r>
              <a:rPr lang="en-US" sz="1600" dirty="0">
                <a:solidFill>
                  <a:schemeClr val="accent2"/>
                </a:solidFill>
              </a:rPr>
              <a:t>Take the project through to award.</a:t>
            </a:r>
            <a:endParaRPr lang="en-US" sz="1600" dirty="0"/>
          </a:p>
        </p:txBody>
      </p:sp>
      <p:sp>
        <p:nvSpPr>
          <p:cNvPr id="12" name="Bullets Certify"/>
          <p:cNvSpPr txBox="1"/>
          <p:nvPr/>
        </p:nvSpPr>
        <p:spPr>
          <a:xfrm>
            <a:off x="4399178" y="3794760"/>
            <a:ext cx="3256178" cy="2103120"/>
          </a:xfrm>
          <a:prstGeom prst="rect">
            <a:avLst/>
          </a:prstGeom>
          <a:noFill/>
          <a:ln/>
        </p:spPr>
        <p:txBody>
          <a:bodyPr wrap="square" lIns="0" tIns="0" rIns="0" bIns="0" rtlCol="0" anchor="t"/>
          <a:lstStyle/>
          <a:p>
            <a:pPr marL="190500" indent="-190500">
              <a:lnSpc>
                <a:spcPct val="120000"/>
              </a:lnSpc>
              <a:spcAft>
                <a:spcPts val="600"/>
              </a:spcAft>
              <a:buSzPct val="100000"/>
              <a:buChar char="•"/>
            </a:pPr>
            <a:r>
              <a:rPr lang="en-US" sz="1600" dirty="0">
                <a:solidFill>
                  <a:schemeClr val="tx1"/>
                </a:solidFill>
              </a:rPr>
              <a:t>LEED, EDGE, IGBC and GRIHA</a:t>
            </a:r>
            <a:endParaRPr lang="en-US" sz="1600" dirty="0"/>
          </a:p>
          <a:p>
            <a:pPr marL="190500" indent="-190500">
              <a:lnSpc>
                <a:spcPct val="120000"/>
              </a:lnSpc>
              <a:spcAft>
                <a:spcPts val="600"/>
              </a:spcAft>
              <a:buSzPct val="100000"/>
              <a:buChar char="•"/>
            </a:pPr>
            <a:r>
              <a:rPr lang="en-US" sz="1600" dirty="0">
                <a:solidFill>
                  <a:schemeClr val="tx1"/>
                </a:solidFill>
              </a:rPr>
              <a:t>WELL and Fitwel</a:t>
            </a:r>
            <a:endParaRPr lang="en-US" sz="1600" dirty="0"/>
          </a:p>
          <a:p>
            <a:pPr marL="190500" indent="-190500">
              <a:lnSpc>
                <a:spcPct val="120000"/>
              </a:lnSpc>
              <a:spcAft>
                <a:spcPts val="600"/>
              </a:spcAft>
              <a:buSzPct val="100000"/>
              <a:buChar char="•"/>
            </a:pPr>
            <a:r>
              <a:rPr lang="en-US" sz="1600" dirty="0">
                <a:solidFill>
                  <a:schemeClr val="tx1"/>
                </a:solidFill>
              </a:rPr>
              <a:t>ECBC, ECSBC and BEE star ratings</a:t>
            </a:r>
            <a:endParaRPr lang="en-US" sz="1600" dirty="0"/>
          </a:p>
          <a:p>
            <a:pPr marL="190500" indent="-190500">
              <a:lnSpc>
                <a:spcPct val="120000"/>
              </a:lnSpc>
              <a:spcAft>
                <a:spcPts val="600"/>
              </a:spcAft>
              <a:buSzPct val="100000"/>
              <a:buChar char="•"/>
            </a:pPr>
            <a:r>
              <a:rPr lang="en-US" sz="1600" dirty="0">
                <a:solidFill>
                  <a:schemeClr val="tx1"/>
                </a:solidFill>
              </a:rPr>
              <a:t>Reviewer queries and appeals</a:t>
            </a:r>
            <a:endParaRPr lang="en-US" sz="1600" dirty="0"/>
          </a:p>
        </p:txBody>
      </p:sp>
      <p:sp>
        <p:nvSpPr>
          <p:cNvPr id="13" name="Column rule 2"/>
          <p:cNvSpPr/>
          <p:nvPr/>
        </p:nvSpPr>
        <p:spPr>
          <a:xfrm>
            <a:off x="7975397" y="1828800"/>
            <a:ext cx="0" cy="4114800"/>
          </a:xfrm>
          <a:prstGeom prst="line">
            <a:avLst/>
          </a:prstGeom>
          <a:noFill/>
          <a:ln w="9525">
            <a:solidFill>
              <a:schemeClr val="accent6"/>
            </a:solidFill>
            <a:prstDash val="solid"/>
          </a:ln>
        </p:spPr>
      </p:sp>
      <p:sp>
        <p:nvSpPr>
          <p:cNvPr id="14" name="Text 12"/>
          <p:cNvSpPr txBox="1"/>
          <p:nvPr/>
        </p:nvSpPr>
        <p:spPr>
          <a:xfrm>
            <a:off x="8158277" y="1828800"/>
            <a:ext cx="914400" cy="457200"/>
          </a:xfrm>
          <a:prstGeom prst="rect">
            <a:avLst/>
          </a:prstGeom>
          <a:noFill/>
          <a:ln/>
        </p:spPr>
        <p:txBody>
          <a:bodyPr wrap="square" lIns="0" tIns="0" rIns="0" bIns="0" rtlCol="0" anchor="t"/>
          <a:lstStyle/>
          <a:p>
            <a:pPr indent="0" marL="0">
              <a:buNone/>
            </a:pPr>
            <a:r>
              <a:rPr lang="en-US" sz="2000" b="1" dirty="0">
                <a:solidFill>
                  <a:schemeClr val="accent1"/>
                </a:solidFill>
              </a:rPr>
              <a:t>03</a:t>
            </a:r>
            <a:endParaRPr lang="en-US" sz="2000" dirty="0"/>
          </a:p>
        </p:txBody>
      </p:sp>
      <p:sp>
        <p:nvSpPr>
          <p:cNvPr id="15" name="Text 13"/>
          <p:cNvSpPr txBox="1"/>
          <p:nvPr/>
        </p:nvSpPr>
        <p:spPr>
          <a:xfrm>
            <a:off x="8158277" y="2286000"/>
            <a:ext cx="3393338" cy="640080"/>
          </a:xfrm>
          <a:prstGeom prst="rect">
            <a:avLst/>
          </a:prstGeom>
          <a:noFill/>
          <a:ln/>
        </p:spPr>
        <p:txBody>
          <a:bodyPr wrap="square" lIns="0" tIns="0" rIns="0" bIns="0" rtlCol="0" anchor="t"/>
          <a:lstStyle/>
          <a:p>
            <a:pPr indent="0" marL="0">
              <a:buNone/>
            </a:pPr>
            <a:r>
              <a:rPr lang="en-US" sz="3200" b="1" dirty="0">
                <a:solidFill>
                  <a:schemeClr val="tx1"/>
                </a:solidFill>
              </a:rPr>
              <a:t>Report</a:t>
            </a:r>
            <a:endParaRPr lang="en-US" sz="3200" dirty="0"/>
          </a:p>
        </p:txBody>
      </p:sp>
      <p:sp>
        <p:nvSpPr>
          <p:cNvPr id="16" name="Text 14"/>
          <p:cNvSpPr txBox="1"/>
          <p:nvPr/>
        </p:nvSpPr>
        <p:spPr>
          <a:xfrm>
            <a:off x="8158277" y="3017520"/>
            <a:ext cx="3210458" cy="640080"/>
          </a:xfrm>
          <a:prstGeom prst="rect">
            <a:avLst/>
          </a:prstGeom>
          <a:noFill/>
          <a:ln/>
        </p:spPr>
        <p:txBody>
          <a:bodyPr wrap="square" lIns="0" tIns="0" rIns="0" bIns="0" rtlCol="0" anchor="t"/>
          <a:lstStyle/>
          <a:p>
            <a:pPr indent="0" marL="0">
              <a:buNone/>
            </a:pPr>
            <a:r>
              <a:rPr lang="en-US" sz="1600" dirty="0">
                <a:solidFill>
                  <a:schemeClr val="accent2"/>
                </a:solidFill>
              </a:rPr>
              <a:t>Show investors and regulators the numbers.</a:t>
            </a:r>
            <a:endParaRPr lang="en-US" sz="1600" dirty="0"/>
          </a:p>
        </p:txBody>
      </p:sp>
      <p:sp>
        <p:nvSpPr>
          <p:cNvPr id="17" name="Bullets Report"/>
          <p:cNvSpPr txBox="1"/>
          <p:nvPr/>
        </p:nvSpPr>
        <p:spPr>
          <a:xfrm>
            <a:off x="8158277" y="3794760"/>
            <a:ext cx="3256178" cy="2103120"/>
          </a:xfrm>
          <a:prstGeom prst="rect">
            <a:avLst/>
          </a:prstGeom>
          <a:noFill/>
          <a:ln/>
        </p:spPr>
        <p:txBody>
          <a:bodyPr wrap="square" lIns="0" tIns="0" rIns="0" bIns="0" rtlCol="0" anchor="t"/>
          <a:lstStyle/>
          <a:p>
            <a:pPr marL="190500" indent="-190500">
              <a:lnSpc>
                <a:spcPct val="120000"/>
              </a:lnSpc>
              <a:spcAft>
                <a:spcPts val="600"/>
              </a:spcAft>
              <a:buSzPct val="100000"/>
              <a:buChar char="•"/>
            </a:pPr>
            <a:r>
              <a:rPr lang="en-US" sz="1600" dirty="0">
                <a:solidFill>
                  <a:schemeClr val="tx1"/>
                </a:solidFill>
              </a:rPr>
              <a:t>BRSR Core and BRSR</a:t>
            </a:r>
            <a:endParaRPr lang="en-US" sz="1600" dirty="0"/>
          </a:p>
          <a:p>
            <a:pPr marL="190500" indent="-190500">
              <a:lnSpc>
                <a:spcPct val="120000"/>
              </a:lnSpc>
              <a:spcAft>
                <a:spcPts val="600"/>
              </a:spcAft>
              <a:buSzPct val="100000"/>
              <a:buChar char="•"/>
            </a:pPr>
            <a:r>
              <a:rPr lang="en-US" sz="1600" dirty="0">
                <a:solidFill>
                  <a:schemeClr val="tx1"/>
                </a:solidFill>
              </a:rPr>
              <a:t>GRI, CDP and TCFD</a:t>
            </a:r>
            <a:endParaRPr lang="en-US" sz="1600" dirty="0"/>
          </a:p>
          <a:p>
            <a:pPr marL="190500" indent="-190500">
              <a:lnSpc>
                <a:spcPct val="120000"/>
              </a:lnSpc>
              <a:spcAft>
                <a:spcPts val="600"/>
              </a:spcAft>
              <a:buSzPct val="100000"/>
              <a:buChar char="•"/>
            </a:pPr>
            <a:r>
              <a:rPr lang="en-US" sz="1600" dirty="0">
                <a:solidFill>
                  <a:schemeClr val="tx1"/>
                </a:solidFill>
              </a:rPr>
              <a:t>ESG strategy and roadmaps</a:t>
            </a:r>
            <a:endParaRPr lang="en-US" sz="1600" dirty="0"/>
          </a:p>
          <a:p>
            <a:pPr marL="190500" indent="-190500">
              <a:lnSpc>
                <a:spcPct val="120000"/>
              </a:lnSpc>
              <a:spcAft>
                <a:spcPts val="600"/>
              </a:spcAft>
              <a:buSzPct val="100000"/>
              <a:buChar char="•"/>
            </a:pPr>
            <a:r>
              <a:rPr lang="en-US" sz="1600" dirty="0">
                <a:solidFill>
                  <a:schemeClr val="tx1"/>
                </a:solidFill>
              </a:rPr>
              <a:t>SBTi target-setting support</a:t>
            </a:r>
            <a:endParaRPr lang="en-US" sz="16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ection label"/>
          <p:cNvSpPr txBox="1"/>
          <p:nvPr/>
        </p:nvSpPr>
        <p:spPr>
          <a:xfrm>
            <a:off x="640080" y="411480"/>
            <a:ext cx="10911535"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02   BUILDING PERFORMANCE</a:t>
            </a:r>
            <a:endParaRPr lang="en-US" sz="1200" dirty="0"/>
          </a:p>
        </p:txBody>
      </p:sp>
      <p:sp>
        <p:nvSpPr>
          <p:cNvPr id="3" name="Text 1"/>
          <p:cNvSpPr/>
          <p:nvPr>
            <p:ph idx="102" type="title" hasCustomPrompt="1"/>
          </p:nvPr>
        </p:nvSpPr>
        <p:spPr>
          <a:xfrm>
            <a:off x="640080" y="777240"/>
            <a:ext cx="10911535" cy="685800"/>
          </a:xfrm>
          <a:prstGeom prst="rect">
            <a:avLst/>
          </a:prstGeom>
          <a:noFill/>
          <a:ln/>
        </p:spPr>
        <p:txBody>
          <a:bodyPr wrap="square" lIns="0" tIns="0" rIns="0" bIns="0" rtlCol="0" anchor="t"/>
          <a:lstStyle/>
          <a:p>
            <a:pPr algn="l" indent="0" marL="0">
              <a:buNone/>
            </a:pPr>
            <a:r>
              <a:rPr lang="en-US" sz="3000" b="1" dirty="0">
                <a:solidFill>
                  <a:schemeClr val="tx1"/>
                </a:solidFill>
              </a:rPr>
              <a:t>We test the design in a model before anyone builds it</a:t>
            </a:r>
            <a:endParaRPr lang="en-US" sz="3000" dirty="0"/>
          </a:p>
        </p:txBody>
      </p:sp>
      <p:sp>
        <p:nvSpPr>
          <p:cNvPr id="4" name="Tile rule 0"/>
          <p:cNvSpPr/>
          <p:nvPr/>
        </p:nvSpPr>
        <p:spPr>
          <a:xfrm>
            <a:off x="640080" y="1828800"/>
            <a:ext cx="5181448" cy="0"/>
          </a:xfrm>
          <a:prstGeom prst="line">
            <a:avLst/>
          </a:prstGeom>
          <a:noFill/>
          <a:ln w="9525">
            <a:solidFill>
              <a:schemeClr val="tx1"/>
            </a:solidFill>
            <a:prstDash val="solid"/>
          </a:ln>
        </p:spPr>
      </p:sp>
      <p:sp>
        <p:nvSpPr>
          <p:cNvPr id="5" name="Text 3"/>
          <p:cNvSpPr txBox="1"/>
          <p:nvPr/>
        </p:nvSpPr>
        <p:spPr>
          <a:xfrm>
            <a:off x="640080" y="2011680"/>
            <a:ext cx="5181448"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ENERGY</a:t>
            </a:r>
            <a:endParaRPr lang="en-US" sz="1200" dirty="0"/>
          </a:p>
        </p:txBody>
      </p:sp>
      <p:sp>
        <p:nvSpPr>
          <p:cNvPr id="6" name="Text 4"/>
          <p:cNvSpPr txBox="1"/>
          <p:nvPr/>
        </p:nvSpPr>
        <p:spPr>
          <a:xfrm>
            <a:off x="640080" y="2331720"/>
            <a:ext cx="5181448" cy="457200"/>
          </a:xfrm>
          <a:prstGeom prst="rect">
            <a:avLst/>
          </a:prstGeom>
          <a:noFill/>
          <a:ln/>
        </p:spPr>
        <p:txBody>
          <a:bodyPr wrap="square" lIns="0" tIns="0" rIns="0" bIns="0" rtlCol="0" anchor="t"/>
          <a:lstStyle/>
          <a:p>
            <a:pPr indent="0" marL="0">
              <a:buNone/>
            </a:pPr>
            <a:r>
              <a:rPr lang="en-US" sz="2200" b="1" dirty="0">
                <a:solidFill>
                  <a:schemeClr val="tx1"/>
                </a:solidFill>
              </a:rPr>
              <a:t>Know the energy bill before it's built.</a:t>
            </a:r>
            <a:endParaRPr lang="en-US" sz="2200" dirty="0"/>
          </a:p>
        </p:txBody>
      </p:sp>
      <p:sp>
        <p:nvSpPr>
          <p:cNvPr id="7" name="Text 5"/>
          <p:cNvSpPr txBox="1"/>
          <p:nvPr/>
        </p:nvSpPr>
        <p:spPr>
          <a:xfrm>
            <a:off x="640080" y="2852928"/>
            <a:ext cx="5181448" cy="777240"/>
          </a:xfrm>
          <a:prstGeom prst="rect">
            <a:avLst/>
          </a:prstGeom>
          <a:noFill/>
          <a:ln/>
        </p:spPr>
        <p:txBody>
          <a:bodyPr wrap="square" lIns="0" tIns="0" rIns="0" bIns="0" rtlCol="0" anchor="t"/>
          <a:lstStyle/>
          <a:p>
            <a:pPr indent="0" marL="0">
              <a:lnSpc>
                <a:spcPct val="115000"/>
              </a:lnSpc>
              <a:buNone/>
            </a:pPr>
            <a:r>
              <a:rPr lang="en-US" sz="1500" dirty="0">
                <a:solidFill>
                  <a:schemeClr val="tx2"/>
                </a:solidFill>
              </a:rPr>
              <a:t>Baseline and proposed models in DesignBuilder, EnergyPlus and eQUEST, for LEED, ECSBC and BEE.</a:t>
            </a:r>
            <a:endParaRPr lang="en-US" sz="1500" dirty="0"/>
          </a:p>
        </p:txBody>
      </p:sp>
      <p:sp>
        <p:nvSpPr>
          <p:cNvPr id="8" name="Tile rule 1"/>
          <p:cNvSpPr/>
          <p:nvPr/>
        </p:nvSpPr>
        <p:spPr>
          <a:xfrm>
            <a:off x="6370168" y="1828800"/>
            <a:ext cx="5181448" cy="0"/>
          </a:xfrm>
          <a:prstGeom prst="line">
            <a:avLst/>
          </a:prstGeom>
          <a:noFill/>
          <a:ln w="9525">
            <a:solidFill>
              <a:schemeClr val="tx1"/>
            </a:solidFill>
            <a:prstDash val="solid"/>
          </a:ln>
        </p:spPr>
      </p:sp>
      <p:sp>
        <p:nvSpPr>
          <p:cNvPr id="9" name="Text 7"/>
          <p:cNvSpPr txBox="1"/>
          <p:nvPr/>
        </p:nvSpPr>
        <p:spPr>
          <a:xfrm>
            <a:off x="6370168" y="2011680"/>
            <a:ext cx="5181448"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DAYLIGHT</a:t>
            </a:r>
            <a:endParaRPr lang="en-US" sz="1200" dirty="0"/>
          </a:p>
        </p:txBody>
      </p:sp>
      <p:sp>
        <p:nvSpPr>
          <p:cNvPr id="10" name="Text 8"/>
          <p:cNvSpPr txBox="1"/>
          <p:nvPr/>
        </p:nvSpPr>
        <p:spPr>
          <a:xfrm>
            <a:off x="6370168" y="2331720"/>
            <a:ext cx="5181448" cy="457200"/>
          </a:xfrm>
          <a:prstGeom prst="rect">
            <a:avLst/>
          </a:prstGeom>
          <a:noFill/>
          <a:ln/>
        </p:spPr>
        <p:txBody>
          <a:bodyPr wrap="square" lIns="0" tIns="0" rIns="0" bIns="0" rtlCol="0" anchor="t"/>
          <a:lstStyle/>
          <a:p>
            <a:pPr indent="0" marL="0">
              <a:buNone/>
            </a:pPr>
            <a:r>
              <a:rPr lang="en-US" sz="2200" b="1" dirty="0">
                <a:solidFill>
                  <a:schemeClr val="tx1"/>
                </a:solidFill>
              </a:rPr>
              <a:t>Bright rooms, without glare or heat.</a:t>
            </a:r>
            <a:endParaRPr lang="en-US" sz="2200" dirty="0"/>
          </a:p>
        </p:txBody>
      </p:sp>
      <p:sp>
        <p:nvSpPr>
          <p:cNvPr id="11" name="Text 9"/>
          <p:cNvSpPr txBox="1"/>
          <p:nvPr/>
        </p:nvSpPr>
        <p:spPr>
          <a:xfrm>
            <a:off x="6370168" y="2852928"/>
            <a:ext cx="5181448" cy="777240"/>
          </a:xfrm>
          <a:prstGeom prst="rect">
            <a:avLst/>
          </a:prstGeom>
          <a:noFill/>
          <a:ln/>
        </p:spPr>
        <p:txBody>
          <a:bodyPr wrap="square" lIns="0" tIns="0" rIns="0" bIns="0" rtlCol="0" anchor="t"/>
          <a:lstStyle/>
          <a:p>
            <a:pPr indent="0" marL="0">
              <a:lnSpc>
                <a:spcPct val="115000"/>
              </a:lnSpc>
              <a:buNone/>
            </a:pPr>
            <a:r>
              <a:rPr lang="en-US" sz="1500" dirty="0">
                <a:solidFill>
                  <a:schemeClr val="tx2"/>
                </a:solidFill>
              </a:rPr>
              <a:t>sDA, ASE, daylight factor and glare (DGP) studies, plus façade and shading options.</a:t>
            </a:r>
            <a:endParaRPr lang="en-US" sz="1500" dirty="0"/>
          </a:p>
        </p:txBody>
      </p:sp>
      <p:sp>
        <p:nvSpPr>
          <p:cNvPr id="12" name="Tile rule 2"/>
          <p:cNvSpPr/>
          <p:nvPr/>
        </p:nvSpPr>
        <p:spPr>
          <a:xfrm>
            <a:off x="640080" y="3886200"/>
            <a:ext cx="5181448" cy="0"/>
          </a:xfrm>
          <a:prstGeom prst="line">
            <a:avLst/>
          </a:prstGeom>
          <a:noFill/>
          <a:ln w="9525">
            <a:solidFill>
              <a:schemeClr val="tx1"/>
            </a:solidFill>
            <a:prstDash val="solid"/>
          </a:ln>
        </p:spPr>
      </p:sp>
      <p:sp>
        <p:nvSpPr>
          <p:cNvPr id="13" name="Text 11"/>
          <p:cNvSpPr txBox="1"/>
          <p:nvPr/>
        </p:nvSpPr>
        <p:spPr>
          <a:xfrm>
            <a:off x="640080" y="4069080"/>
            <a:ext cx="5181448"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MICROCLIMATE</a:t>
            </a:r>
            <a:endParaRPr lang="en-US" sz="1200" dirty="0"/>
          </a:p>
        </p:txBody>
      </p:sp>
      <p:sp>
        <p:nvSpPr>
          <p:cNvPr id="14" name="Text 12"/>
          <p:cNvSpPr txBox="1"/>
          <p:nvPr/>
        </p:nvSpPr>
        <p:spPr>
          <a:xfrm>
            <a:off x="640080" y="4389120"/>
            <a:ext cx="5181448" cy="457200"/>
          </a:xfrm>
          <a:prstGeom prst="rect">
            <a:avLst/>
          </a:prstGeom>
          <a:noFill/>
          <a:ln/>
        </p:spPr>
        <p:txBody>
          <a:bodyPr wrap="square" lIns="0" tIns="0" rIns="0" bIns="0" rtlCol="0" anchor="t"/>
          <a:lstStyle/>
          <a:p>
            <a:pPr indent="0" marL="0">
              <a:buNone/>
            </a:pPr>
            <a:r>
              <a:rPr lang="en-US" sz="2200" b="1" dirty="0">
                <a:solidFill>
                  <a:schemeClr val="tx1"/>
                </a:solidFill>
              </a:rPr>
              <a:t>Outdoor spaces people can use in May.</a:t>
            </a:r>
            <a:endParaRPr lang="en-US" sz="2200" dirty="0"/>
          </a:p>
        </p:txBody>
      </p:sp>
      <p:sp>
        <p:nvSpPr>
          <p:cNvPr id="15" name="Text 13"/>
          <p:cNvSpPr txBox="1"/>
          <p:nvPr/>
        </p:nvSpPr>
        <p:spPr>
          <a:xfrm>
            <a:off x="640080" y="4910328"/>
            <a:ext cx="5181448" cy="777240"/>
          </a:xfrm>
          <a:prstGeom prst="rect">
            <a:avLst/>
          </a:prstGeom>
          <a:noFill/>
          <a:ln/>
        </p:spPr>
        <p:txBody>
          <a:bodyPr wrap="square" lIns="0" tIns="0" rIns="0" bIns="0" rtlCol="0" anchor="t"/>
          <a:lstStyle/>
          <a:p>
            <a:pPr indent="0" marL="0">
              <a:lnSpc>
                <a:spcPct val="115000"/>
              </a:lnSpc>
              <a:buNone/>
            </a:pPr>
            <a:r>
              <a:rPr lang="en-US" sz="1500" dirty="0">
                <a:solidFill>
                  <a:schemeClr val="tx2"/>
                </a:solidFill>
              </a:rPr>
              <a:t>UTCI and PET comfort, pedestrian wind, heat island, solar access and site shading.</a:t>
            </a:r>
            <a:endParaRPr lang="en-US" sz="1500" dirty="0"/>
          </a:p>
        </p:txBody>
      </p:sp>
      <p:sp>
        <p:nvSpPr>
          <p:cNvPr id="16" name="Tile rule 3"/>
          <p:cNvSpPr/>
          <p:nvPr/>
        </p:nvSpPr>
        <p:spPr>
          <a:xfrm>
            <a:off x="6370168" y="3886200"/>
            <a:ext cx="5181448" cy="0"/>
          </a:xfrm>
          <a:prstGeom prst="line">
            <a:avLst/>
          </a:prstGeom>
          <a:noFill/>
          <a:ln w="9525">
            <a:solidFill>
              <a:schemeClr val="tx1"/>
            </a:solidFill>
            <a:prstDash val="solid"/>
          </a:ln>
        </p:spPr>
      </p:sp>
      <p:sp>
        <p:nvSpPr>
          <p:cNvPr id="17" name="Text 15"/>
          <p:cNvSpPr txBox="1"/>
          <p:nvPr/>
        </p:nvSpPr>
        <p:spPr>
          <a:xfrm>
            <a:off x="6370168" y="4069080"/>
            <a:ext cx="5181448"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CARBON</a:t>
            </a:r>
            <a:endParaRPr lang="en-US" sz="1200" dirty="0"/>
          </a:p>
        </p:txBody>
      </p:sp>
      <p:sp>
        <p:nvSpPr>
          <p:cNvPr id="18" name="Text 16"/>
          <p:cNvSpPr txBox="1"/>
          <p:nvPr/>
        </p:nvSpPr>
        <p:spPr>
          <a:xfrm>
            <a:off x="6370168" y="4389120"/>
            <a:ext cx="5181448" cy="457200"/>
          </a:xfrm>
          <a:prstGeom prst="rect">
            <a:avLst/>
          </a:prstGeom>
          <a:noFill/>
          <a:ln/>
        </p:spPr>
        <p:txBody>
          <a:bodyPr wrap="square" lIns="0" tIns="0" rIns="0" bIns="0" rtlCol="0" anchor="t"/>
          <a:lstStyle/>
          <a:p>
            <a:pPr indent="0" marL="0">
              <a:buNone/>
            </a:pPr>
            <a:r>
              <a:rPr lang="en-US" sz="2200" b="1" dirty="0">
                <a:solidFill>
                  <a:schemeClr val="tx1"/>
                </a:solidFill>
              </a:rPr>
              <a:t>Know the carbon in your materials.</a:t>
            </a:r>
            <a:endParaRPr lang="en-US" sz="2200" dirty="0"/>
          </a:p>
        </p:txBody>
      </p:sp>
      <p:sp>
        <p:nvSpPr>
          <p:cNvPr id="19" name="Text 17"/>
          <p:cNvSpPr txBox="1"/>
          <p:nvPr/>
        </p:nvSpPr>
        <p:spPr>
          <a:xfrm>
            <a:off x="6370168" y="4910328"/>
            <a:ext cx="5181448" cy="777240"/>
          </a:xfrm>
          <a:prstGeom prst="rect">
            <a:avLst/>
          </a:prstGeom>
          <a:noFill/>
          <a:ln/>
        </p:spPr>
        <p:txBody>
          <a:bodyPr wrap="square" lIns="0" tIns="0" rIns="0" bIns="0" rtlCol="0" anchor="t"/>
          <a:lstStyle/>
          <a:p>
            <a:pPr indent="0" marL="0">
              <a:lnSpc>
                <a:spcPct val="115000"/>
              </a:lnSpc>
              <a:buNone/>
            </a:pPr>
            <a:r>
              <a:rPr lang="en-US" sz="1500" dirty="0">
                <a:solidFill>
                  <a:schemeClr val="tx2"/>
                </a:solidFill>
              </a:rPr>
              <a:t>Whole-building and product LCA in One Click LCA and Excel, EPD support, links to Scope 3.</a:t>
            </a:r>
            <a:endParaRPr lang="en-US" sz="1500" dirty="0"/>
          </a:p>
        </p:txBody>
      </p:sp>
      <p:sp>
        <p:nvSpPr>
          <p:cNvPr id="20" name="Divider"/>
          <p:cNvSpPr/>
          <p:nvPr/>
        </p:nvSpPr>
        <p:spPr>
          <a:xfrm>
            <a:off x="640080" y="5623560"/>
            <a:ext cx="10911535" cy="0"/>
          </a:xfrm>
          <a:prstGeom prst="line">
            <a:avLst/>
          </a:prstGeom>
          <a:noFill/>
          <a:ln w="9525">
            <a:solidFill>
              <a:schemeClr val="accent6"/>
            </a:solidFill>
            <a:prstDash val="solid"/>
          </a:ln>
        </p:spPr>
      </p:sp>
      <p:sp>
        <p:nvSpPr>
          <p:cNvPr id="21" name="Text 19"/>
          <p:cNvSpPr txBox="1"/>
          <p:nvPr/>
        </p:nvSpPr>
        <p:spPr>
          <a:xfrm>
            <a:off x="640080" y="5742432"/>
            <a:ext cx="10911535" cy="365760"/>
          </a:xfrm>
          <a:prstGeom prst="rect">
            <a:avLst/>
          </a:prstGeom>
          <a:noFill/>
          <a:ln/>
        </p:spPr>
        <p:txBody>
          <a:bodyPr wrap="square" lIns="0" tIns="0" rIns="0" bIns="0" rtlCol="0" anchor="t"/>
          <a:lstStyle/>
          <a:p>
            <a:pPr indent="0" marL="0">
              <a:buNone/>
            </a:pPr>
            <a:r>
              <a:rPr lang="en-US" sz="1700" dirty="0">
                <a:solidFill>
                  <a:schemeClr val="accent2"/>
                </a:solidFill>
              </a:rPr>
              <a:t>Every study ends with a one-page summary in plain English: what to change, what it costs and which credits it earns.</a:t>
            </a:r>
            <a:endParaRPr lang="en-US" sz="17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ection label"/>
          <p:cNvSpPr txBox="1"/>
          <p:nvPr/>
        </p:nvSpPr>
        <p:spPr>
          <a:xfrm>
            <a:off x="640080" y="411480"/>
            <a:ext cx="10911535"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02   CERTIFICATION</a:t>
            </a:r>
            <a:endParaRPr lang="en-US" sz="1200" dirty="0"/>
          </a:p>
        </p:txBody>
      </p:sp>
      <p:sp>
        <p:nvSpPr>
          <p:cNvPr id="3" name="Text 1"/>
          <p:cNvSpPr/>
          <p:nvPr>
            <p:ph idx="102" type="title" hasCustomPrompt="1"/>
          </p:nvPr>
        </p:nvSpPr>
        <p:spPr>
          <a:xfrm>
            <a:off x="640080" y="777240"/>
            <a:ext cx="10911535" cy="685800"/>
          </a:xfrm>
          <a:prstGeom prst="rect">
            <a:avLst/>
          </a:prstGeom>
          <a:noFill/>
          <a:ln/>
        </p:spPr>
        <p:txBody>
          <a:bodyPr wrap="square" lIns="0" tIns="0" rIns="0" bIns="0" rtlCol="0" anchor="t"/>
          <a:lstStyle/>
          <a:p>
            <a:pPr algn="l" indent="0" marL="0">
              <a:buNone/>
            </a:pPr>
            <a:r>
              <a:rPr lang="en-US" sz="3000" b="1" dirty="0">
                <a:solidFill>
                  <a:schemeClr val="tx1"/>
                </a:solidFill>
              </a:rPr>
              <a:t>Six rating systems, chosen to fit the project</a:t>
            </a:r>
            <a:endParaRPr lang="en-US" sz="3000" dirty="0"/>
          </a:p>
        </p:txBody>
      </p:sp>
      <p:graphicFrame>
        <p:nvGraphicFramePr>
          <p:cNvPr id="10" name="Rating systems table"/>
          <p:cNvGraphicFramePr>
            <a:graphicFrameLocks noGrp="1"/>
          </p:cNvGraphicFramePr>
          <p:nvPr>
            <p:extLst>
              <p:ext uri="{D42A27DB-BD31-4B8C-83A1-F6EECF244321}">
                <p14:modId xmlns:p14="http://schemas.microsoft.com/office/powerpoint/2010/main" val="1579011935"/>
              </p:ext>
            </p:extLst>
          </p:nvPr>
        </p:nvGraphicFramePr>
        <p:xfrm>
          <a:off x="640080" y="1828800"/>
          <a:ext cx="7315200" cy="914400"/>
        </p:xfrm>
        <a:graphic>
          <a:graphicData uri="http://schemas.openxmlformats.org/drawingml/2006/table">
            <a:tbl>
              <a:tblPr/>
              <a:tblGrid>
                <a:gridCol w="1371600"/>
                <a:gridCol w="2377440"/>
                <a:gridCol w="3566160"/>
              </a:tblGrid>
              <a:tr h="411480">
                <a:tc>
                  <a:txBody>
                    <a:bodyPr/>
                    <a:lstStyle/>
                    <a:p>
                      <a:pPr indent="0" marL="0">
                        <a:buNone/>
                      </a:pPr>
                      <a:r>
                        <a:rPr lang="en-US" sz="1200" b="1" dirty="0">
                          <a:solidFill>
                            <a:schemeClr val="accent4"/>
                          </a:solidFill>
                          <a:latin typeface="Times New Roman" pitchFamily="34" charset="0"/>
                          <a:ea typeface="Times New Roman" pitchFamily="34" charset="-122"/>
                          <a:cs typeface="Times New Roman" pitchFamily="34" charset="-120"/>
                        </a:rPr>
                        <a:t>SYSTEM</a:t>
                      </a:r>
                      <a:endParaRPr lang="en-US" sz="12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12700" cap="flat" cmpd="sng" algn="ctr">
                      <a:solidFill>
                        <a:srgbClr val="1F1D1B"/>
                      </a:solidFill>
                      <a:prstDash val="solid"/>
                      <a:round/>
                      <a:headEnd type="none" w="med" len="med"/>
                      <a:tailEnd type="none" w="med" len="med"/>
                    </a:lnB>
                  </a:tcPr>
                </a:tc>
                <a:tc>
                  <a:txBody>
                    <a:bodyPr/>
                    <a:lstStyle/>
                    <a:p>
                      <a:pPr indent="0" marL="0">
                        <a:buNone/>
                      </a:pPr>
                      <a:r>
                        <a:rPr lang="en-US" sz="1200" b="1" dirty="0">
                          <a:solidFill>
                            <a:schemeClr val="accent4"/>
                          </a:solidFill>
                          <a:latin typeface="Times New Roman" pitchFamily="34" charset="0"/>
                          <a:ea typeface="Times New Roman" pitchFamily="34" charset="-122"/>
                          <a:cs typeface="Times New Roman" pitchFamily="34" charset="-120"/>
                        </a:rPr>
                        <a:t>ISSUED BY</a:t>
                      </a:r>
                      <a:endParaRPr lang="en-US" sz="12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12700" cap="flat" cmpd="sng" algn="ctr">
                      <a:solidFill>
                        <a:srgbClr val="1F1D1B"/>
                      </a:solidFill>
                      <a:prstDash val="solid"/>
                      <a:round/>
                      <a:headEnd type="none" w="med" len="med"/>
                      <a:tailEnd type="none" w="med" len="med"/>
                    </a:lnB>
                  </a:tcPr>
                </a:tc>
                <a:tc>
                  <a:txBody>
                    <a:bodyPr/>
                    <a:lstStyle/>
                    <a:p>
                      <a:pPr indent="0" marL="0">
                        <a:buNone/>
                      </a:pPr>
                      <a:r>
                        <a:rPr lang="en-US" sz="1200" b="1" dirty="0">
                          <a:solidFill>
                            <a:schemeClr val="accent4"/>
                          </a:solidFill>
                          <a:latin typeface="Times New Roman" pitchFamily="34" charset="0"/>
                          <a:ea typeface="Times New Roman" pitchFamily="34" charset="-122"/>
                          <a:cs typeface="Times New Roman" pitchFamily="34" charset="-120"/>
                        </a:rPr>
                        <a:t>WHAT WE DELIVER</a:t>
                      </a:r>
                      <a:endParaRPr lang="en-US" sz="12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12700" cap="flat" cmpd="sng" algn="ctr">
                      <a:solidFill>
                        <a:srgbClr val="1F1D1B"/>
                      </a:solidFill>
                      <a:prstDash val="solid"/>
                      <a:round/>
                      <a:headEnd type="none" w="med" len="med"/>
                      <a:tailEnd type="none" w="med" len="med"/>
                    </a:lnB>
                  </a:tcPr>
                </a:tc>
              </a:tr>
              <a:tr h="548640">
                <a:tc>
                  <a:txBody>
                    <a:bodyPr/>
                    <a:lstStyle/>
                    <a:p>
                      <a:pPr indent="0" marL="0">
                        <a:buNone/>
                      </a:pPr>
                      <a:r>
                        <a:rPr lang="en-US" sz="1500" b="1" dirty="0">
                          <a:solidFill>
                            <a:schemeClr val="tx1"/>
                          </a:solidFill>
                          <a:latin typeface="Times New Roman" pitchFamily="34" charset="0"/>
                          <a:ea typeface="Times New Roman" pitchFamily="34" charset="-122"/>
                          <a:cs typeface="Times New Roman" pitchFamily="34" charset="-120"/>
                        </a:rPr>
                        <a:t>LEED</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tx2"/>
                          </a:solidFill>
                          <a:latin typeface="Times New Roman" pitchFamily="34" charset="0"/>
                          <a:ea typeface="Times New Roman" pitchFamily="34" charset="-122"/>
                          <a:cs typeface="Times New Roman" pitchFamily="34" charset="-120"/>
                        </a:rPr>
                        <a:t>USGBC / GBCI</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tx2"/>
                          </a:solidFill>
                          <a:latin typeface="Times New Roman" pitchFamily="34" charset="0"/>
                          <a:ea typeface="Times New Roman" pitchFamily="34" charset="-122"/>
                          <a:cs typeface="Times New Roman" pitchFamily="34" charset="-120"/>
                        </a:rPr>
                        <a:t>BD+C, Core and Shell, ID+C, O+M</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r>
              <a:tr h="548640">
                <a:tc>
                  <a:txBody>
                    <a:bodyPr/>
                    <a:lstStyle/>
                    <a:p>
                      <a:pPr indent="0" marL="0">
                        <a:buNone/>
                      </a:pPr>
                      <a:r>
                        <a:rPr lang="en-US" sz="1500" b="1" dirty="0">
                          <a:solidFill>
                            <a:schemeClr val="tx1"/>
                          </a:solidFill>
                          <a:latin typeface="Times New Roman" pitchFamily="34" charset="0"/>
                          <a:ea typeface="Times New Roman" pitchFamily="34" charset="-122"/>
                          <a:cs typeface="Times New Roman" pitchFamily="34" charset="-120"/>
                        </a:rPr>
                        <a:t>EDGE</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tx2"/>
                          </a:solidFill>
                          <a:latin typeface="Times New Roman" pitchFamily="34" charset="0"/>
                          <a:ea typeface="Times New Roman" pitchFamily="34" charset="-122"/>
                          <a:cs typeface="Times New Roman" pitchFamily="34" charset="-120"/>
                        </a:rPr>
                        <a:t>IFC / GBCI</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tx2"/>
                          </a:solidFill>
                          <a:latin typeface="Times New Roman" pitchFamily="34" charset="0"/>
                          <a:ea typeface="Times New Roman" pitchFamily="34" charset="-122"/>
                          <a:cs typeface="Times New Roman" pitchFamily="34" charset="-120"/>
                        </a:rPr>
                        <a:t>Design and final certification, EDGE audits</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r>
              <a:tr h="548640">
                <a:tc>
                  <a:txBody>
                    <a:bodyPr/>
                    <a:lstStyle/>
                    <a:p>
                      <a:pPr indent="0" marL="0">
                        <a:buNone/>
                      </a:pPr>
                      <a:r>
                        <a:rPr lang="en-US" sz="1500" b="1" dirty="0">
                          <a:solidFill>
                            <a:schemeClr val="tx1"/>
                          </a:solidFill>
                          <a:latin typeface="Times New Roman" pitchFamily="34" charset="0"/>
                          <a:ea typeface="Times New Roman" pitchFamily="34" charset="-122"/>
                          <a:cs typeface="Times New Roman" pitchFamily="34" charset="-120"/>
                        </a:rPr>
                        <a:t>IGBC</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tx2"/>
                          </a:solidFill>
                          <a:latin typeface="Times New Roman" pitchFamily="34" charset="0"/>
                          <a:ea typeface="Times New Roman" pitchFamily="34" charset="-122"/>
                          <a:cs typeface="Times New Roman" pitchFamily="34" charset="-120"/>
                        </a:rPr>
                        <a:t>CII</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tx2"/>
                          </a:solidFill>
                          <a:latin typeface="Times New Roman" pitchFamily="34" charset="0"/>
                          <a:ea typeface="Times New Roman" pitchFamily="34" charset="-122"/>
                          <a:cs typeface="Times New Roman" pitchFamily="34" charset="-120"/>
                        </a:rPr>
                        <a:t>New buildings, green factories, homes</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r>
              <a:tr h="548640">
                <a:tc>
                  <a:txBody>
                    <a:bodyPr/>
                    <a:lstStyle/>
                    <a:p>
                      <a:pPr indent="0" marL="0">
                        <a:buNone/>
                      </a:pPr>
                      <a:r>
                        <a:rPr lang="en-US" sz="1500" b="1" dirty="0">
                          <a:solidFill>
                            <a:schemeClr val="tx1"/>
                          </a:solidFill>
                          <a:latin typeface="Times New Roman" pitchFamily="34" charset="0"/>
                          <a:ea typeface="Times New Roman" pitchFamily="34" charset="-122"/>
                          <a:cs typeface="Times New Roman" pitchFamily="34" charset="-120"/>
                        </a:rPr>
                        <a:t>GRIHA</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tx2"/>
                          </a:solidFill>
                          <a:latin typeface="Times New Roman" pitchFamily="34" charset="0"/>
                          <a:ea typeface="Times New Roman" pitchFamily="34" charset="-122"/>
                          <a:cs typeface="Times New Roman" pitchFamily="34" charset="-120"/>
                        </a:rPr>
                        <a:t>GRIHA Council</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tx2"/>
                          </a:solidFill>
                          <a:latin typeface="Times New Roman" pitchFamily="34" charset="0"/>
                          <a:ea typeface="Times New Roman" pitchFamily="34" charset="-122"/>
                          <a:cs typeface="Times New Roman" pitchFamily="34" charset="-120"/>
                        </a:rPr>
                        <a:t>GRIHA V-2019, Large Developments</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r>
              <a:tr h="548640">
                <a:tc>
                  <a:txBody>
                    <a:bodyPr/>
                    <a:lstStyle/>
                    <a:p>
                      <a:pPr indent="0" marL="0">
                        <a:buNone/>
                      </a:pPr>
                      <a:r>
                        <a:rPr lang="en-US" sz="1500" b="1" dirty="0">
                          <a:solidFill>
                            <a:schemeClr val="tx1"/>
                          </a:solidFill>
                          <a:latin typeface="Times New Roman" pitchFamily="34" charset="0"/>
                          <a:ea typeface="Times New Roman" pitchFamily="34" charset="-122"/>
                          <a:cs typeface="Times New Roman" pitchFamily="34" charset="-120"/>
                        </a:rPr>
                        <a:t>WELL</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tx2"/>
                          </a:solidFill>
                          <a:latin typeface="Times New Roman" pitchFamily="34" charset="0"/>
                          <a:ea typeface="Times New Roman" pitchFamily="34" charset="-122"/>
                          <a:cs typeface="Times New Roman" pitchFamily="34" charset="-120"/>
                        </a:rPr>
                        <a:t>IWBI</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tx2"/>
                          </a:solidFill>
                          <a:latin typeface="Times New Roman" pitchFamily="34" charset="0"/>
                          <a:ea typeface="Times New Roman" pitchFamily="34" charset="-122"/>
                          <a:cs typeface="Times New Roman" pitchFamily="34" charset="-120"/>
                        </a:rPr>
                        <a:t>Health and wellbeing strategy</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r>
              <a:tr h="548640">
                <a:tc>
                  <a:txBody>
                    <a:bodyPr/>
                    <a:lstStyle/>
                    <a:p>
                      <a:pPr indent="0" marL="0">
                        <a:buNone/>
                      </a:pPr>
                      <a:r>
                        <a:rPr lang="en-US" sz="1500" b="1" dirty="0">
                          <a:solidFill>
                            <a:schemeClr val="tx1"/>
                          </a:solidFill>
                          <a:latin typeface="Times New Roman" pitchFamily="34" charset="0"/>
                          <a:ea typeface="Times New Roman" pitchFamily="34" charset="-122"/>
                          <a:cs typeface="Times New Roman" pitchFamily="34" charset="-120"/>
                        </a:rPr>
                        <a:t>Fitwel</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tx2"/>
                          </a:solidFill>
                          <a:latin typeface="Times New Roman" pitchFamily="34" charset="0"/>
                          <a:ea typeface="Times New Roman" pitchFamily="34" charset="-122"/>
                          <a:cs typeface="Times New Roman" pitchFamily="34" charset="-120"/>
                        </a:rPr>
                        <a:t>Center for Active Design</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tx2"/>
                          </a:solidFill>
                          <a:latin typeface="Times New Roman" pitchFamily="34" charset="0"/>
                          <a:ea typeface="Times New Roman" pitchFamily="34" charset="-122"/>
                          <a:cs typeface="Times New Roman" pitchFamily="34" charset="-120"/>
                        </a:rPr>
                        <a:t>Occupant health certification</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r>
            </a:tbl>
          </a:graphicData>
        </a:graphic>
      </p:graphicFrame>
      <p:sp>
        <p:nvSpPr>
          <p:cNvPr id="5" name="Credentials panel"/>
          <p:cNvSpPr/>
          <p:nvPr/>
        </p:nvSpPr>
        <p:spPr>
          <a:xfrm>
            <a:off x="8503920" y="1828800"/>
            <a:ext cx="3047695" cy="3703320"/>
          </a:xfrm>
          <a:prstGeom prst="rect">
            <a:avLst/>
          </a:prstGeom>
          <a:solidFill>
            <a:schemeClr val="bg2"/>
          </a:solidFill>
          <a:ln/>
        </p:spPr>
      </p:sp>
      <p:sp>
        <p:nvSpPr>
          <p:cNvPr id="6" name="Text 3"/>
          <p:cNvSpPr txBox="1"/>
          <p:nvPr/>
        </p:nvSpPr>
        <p:spPr>
          <a:xfrm>
            <a:off x="8823960" y="2103120"/>
            <a:ext cx="2407615"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FOUNDER CREDENTIALS</a:t>
            </a:r>
            <a:endParaRPr lang="en-US" sz="1200" dirty="0"/>
          </a:p>
        </p:txBody>
      </p:sp>
      <p:sp>
        <p:nvSpPr>
          <p:cNvPr id="7" name="Text 4"/>
          <p:cNvSpPr txBox="1"/>
          <p:nvPr/>
        </p:nvSpPr>
        <p:spPr>
          <a:xfrm>
            <a:off x="8823960" y="2560320"/>
            <a:ext cx="2407615" cy="777240"/>
          </a:xfrm>
          <a:prstGeom prst="rect">
            <a:avLst/>
          </a:prstGeom>
          <a:noFill/>
          <a:ln/>
        </p:spPr>
        <p:txBody>
          <a:bodyPr wrap="square" lIns="0" tIns="0" rIns="0" bIns="0" rtlCol="0" anchor="t"/>
          <a:lstStyle/>
          <a:p>
            <a:pPr indent="0" marL="0">
              <a:buNone/>
            </a:pPr>
            <a:r>
              <a:rPr lang="en-US" sz="2200" b="1" dirty="0">
                <a:solidFill>
                  <a:schemeClr val="tx1"/>
                </a:solidFill>
              </a:rPr>
              <a:t>IGBC AP</a:t>
            </a:r>
            <a:endParaRPr lang="en-US" sz="2200" dirty="0"/>
          </a:p>
          <a:p>
            <a:pPr indent="0" marL="0">
              <a:buNone/>
            </a:pPr>
            <a:r>
              <a:rPr lang="en-US" sz="1300" dirty="0">
                <a:solidFill>
                  <a:schemeClr val="accent4"/>
                </a:solidFill>
              </a:rPr>
              <a:t>Accredited Professional, CII-IGBC</a:t>
            </a:r>
            <a:endParaRPr lang="en-US" sz="2200" dirty="0"/>
          </a:p>
        </p:txBody>
      </p:sp>
      <p:sp>
        <p:nvSpPr>
          <p:cNvPr id="8" name="Text 5"/>
          <p:cNvSpPr txBox="1"/>
          <p:nvPr/>
        </p:nvSpPr>
        <p:spPr>
          <a:xfrm>
            <a:off x="8823960" y="3429000"/>
            <a:ext cx="2407615" cy="777240"/>
          </a:xfrm>
          <a:prstGeom prst="rect">
            <a:avLst/>
          </a:prstGeom>
          <a:noFill/>
          <a:ln/>
        </p:spPr>
        <p:txBody>
          <a:bodyPr wrap="square" lIns="0" tIns="0" rIns="0" bIns="0" rtlCol="0" anchor="t"/>
          <a:lstStyle/>
          <a:p>
            <a:pPr indent="0" marL="0">
              <a:buNone/>
            </a:pPr>
            <a:r>
              <a:rPr lang="en-US" sz="2200" b="1" dirty="0">
                <a:solidFill>
                  <a:schemeClr val="tx1"/>
                </a:solidFill>
              </a:rPr>
              <a:t>EDGE Expert</a:t>
            </a:r>
            <a:endParaRPr lang="en-US" sz="2200" dirty="0"/>
          </a:p>
          <a:p>
            <a:pPr indent="0" marL="0">
              <a:buNone/>
            </a:pPr>
            <a:r>
              <a:rPr lang="en-US" sz="1300" dirty="0">
                <a:solidFill>
                  <a:schemeClr val="accent4"/>
                </a:solidFill>
              </a:rPr>
              <a:t>IFC / GBCI</a:t>
            </a:r>
            <a:endParaRPr lang="en-US" sz="2200" dirty="0"/>
          </a:p>
        </p:txBody>
      </p:sp>
      <p:sp>
        <p:nvSpPr>
          <p:cNvPr id="9" name="Text 6"/>
          <p:cNvSpPr txBox="1"/>
          <p:nvPr/>
        </p:nvSpPr>
        <p:spPr>
          <a:xfrm>
            <a:off x="8823960" y="4297680"/>
            <a:ext cx="2407615" cy="777240"/>
          </a:xfrm>
          <a:prstGeom prst="rect">
            <a:avLst/>
          </a:prstGeom>
          <a:noFill/>
          <a:ln/>
        </p:spPr>
        <p:txBody>
          <a:bodyPr wrap="square" lIns="0" tIns="0" rIns="0" bIns="0" rtlCol="0" anchor="t"/>
          <a:lstStyle/>
          <a:p>
            <a:pPr indent="0" marL="0">
              <a:buNone/>
            </a:pPr>
            <a:r>
              <a:rPr lang="en-US" sz="2200" b="1" dirty="0">
                <a:solidFill>
                  <a:schemeClr val="tx1"/>
                </a:solidFill>
              </a:rPr>
              <a:t>EDGE Auditor</a:t>
            </a:r>
            <a:endParaRPr lang="en-US" sz="2200" dirty="0"/>
          </a:p>
          <a:p>
            <a:pPr indent="0" marL="0">
              <a:buNone/>
            </a:pPr>
            <a:r>
              <a:rPr lang="en-US" sz="1300" dirty="0">
                <a:solidFill>
                  <a:schemeClr val="accent4"/>
                </a:solidFill>
              </a:rPr>
              <a:t>GBCI</a:t>
            </a:r>
            <a:endParaRPr lang="en-US" sz="2200" dirty="0"/>
          </a:p>
        </p:txBody>
      </p:sp>
      <p:sp>
        <p:nvSpPr>
          <p:cNvPr id="10" name="Text 7"/>
          <p:cNvSpPr txBox="1"/>
          <p:nvPr/>
        </p:nvSpPr>
        <p:spPr>
          <a:xfrm>
            <a:off x="640080" y="5715000"/>
            <a:ext cx="7315200" cy="320040"/>
          </a:xfrm>
          <a:prstGeom prst="rect">
            <a:avLst/>
          </a:prstGeom>
          <a:noFill/>
          <a:ln/>
        </p:spPr>
        <p:txBody>
          <a:bodyPr wrap="square" lIns="0" tIns="0" rIns="0" bIns="0" rtlCol="0" anchor="t"/>
          <a:lstStyle/>
          <a:p>
            <a:pPr indent="0" marL="0">
              <a:buNone/>
            </a:pPr>
            <a:r>
              <a:rPr lang="en-US" sz="1500" dirty="0">
                <a:solidFill>
                  <a:schemeClr val="accent2"/>
                </a:solidFill>
              </a:rPr>
              <a:t>Not sure which system fits? That is what the free feasibility review is for.</a:t>
            </a:r>
            <a:endParaRPr lang="en-US" sz="15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Founder portrait" descr="Portrait of Siddhant Jain, founder of VERDEAXIS">    </p:cNvPr>
          <p:cNvPicPr>
            <a:picLocks noChangeAspect="1"/>
          </p:cNvPicPr>
          <p:nvPr/>
        </p:nvPicPr>
        <p:blipFill>
          <a:blip r:embed="rId1"/>
          <a:stretch>
            <a:fillRect/>
          </a:stretch>
        </p:blipFill>
        <p:spPr>
          <a:xfrm>
            <a:off x="0" y="0"/>
            <a:ext cx="5120640" cy="6858000"/>
          </a:xfrm>
          <a:prstGeom prst="rect">
            <a:avLst/>
          </a:prstGeom>
        </p:spPr>
      </p:pic>
      <p:sp>
        <p:nvSpPr>
          <p:cNvPr id="3" name="Text 0"/>
          <p:cNvSpPr txBox="1"/>
          <p:nvPr/>
        </p:nvSpPr>
        <p:spPr>
          <a:xfrm>
            <a:off x="5852160" y="731520"/>
            <a:ext cx="576072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03   MEET THE FOUNDER</a:t>
            </a:r>
            <a:endParaRPr lang="en-US" sz="1200" dirty="0"/>
          </a:p>
        </p:txBody>
      </p:sp>
      <p:sp>
        <p:nvSpPr>
          <p:cNvPr id="4" name="Text 1"/>
          <p:cNvSpPr txBox="1"/>
          <p:nvPr/>
        </p:nvSpPr>
        <p:spPr>
          <a:xfrm>
            <a:off x="5852160" y="1097280"/>
            <a:ext cx="5760720" cy="640080"/>
          </a:xfrm>
          <a:prstGeom prst="rect">
            <a:avLst/>
          </a:prstGeom>
          <a:noFill/>
          <a:ln/>
        </p:spPr>
        <p:txBody>
          <a:bodyPr wrap="square" lIns="0" tIns="0" rIns="0" bIns="0" rtlCol="0" anchor="t"/>
          <a:lstStyle/>
          <a:p>
            <a:pPr indent="0" marL="0">
              <a:buNone/>
            </a:pPr>
            <a:r>
              <a:rPr lang="en-US" sz="3600" b="1" dirty="0">
                <a:solidFill>
                  <a:schemeClr val="tx1"/>
                </a:solidFill>
              </a:rPr>
              <a:t>Siddhant Jain</a:t>
            </a:r>
            <a:endParaRPr lang="en-US" sz="3600" dirty="0"/>
          </a:p>
        </p:txBody>
      </p:sp>
      <p:sp>
        <p:nvSpPr>
          <p:cNvPr id="5" name="Text 2"/>
          <p:cNvSpPr txBox="1"/>
          <p:nvPr/>
        </p:nvSpPr>
        <p:spPr>
          <a:xfrm>
            <a:off x="5852160" y="1783080"/>
            <a:ext cx="5760720" cy="320040"/>
          </a:xfrm>
          <a:prstGeom prst="rect">
            <a:avLst/>
          </a:prstGeom>
          <a:noFill/>
          <a:ln/>
        </p:spPr>
        <p:txBody>
          <a:bodyPr wrap="square" lIns="0" tIns="0" rIns="0" bIns="0" rtlCol="0" anchor="t"/>
          <a:lstStyle/>
          <a:p>
            <a:pPr indent="0" marL="0">
              <a:buNone/>
            </a:pPr>
            <a:r>
              <a:rPr lang="en-US" sz="1500" dirty="0">
                <a:solidFill>
                  <a:schemeClr val="accent2"/>
                </a:solidFill>
              </a:rPr>
              <a:t>Founder and Principal Consultant  ·  IGBC AP  ·  EDGE Expert &amp; Auditor</a:t>
            </a:r>
            <a:endParaRPr lang="en-US" sz="1500" dirty="0"/>
          </a:p>
        </p:txBody>
      </p:sp>
      <p:sp>
        <p:nvSpPr>
          <p:cNvPr id="6" name="Founder rule"/>
          <p:cNvSpPr/>
          <p:nvPr/>
        </p:nvSpPr>
        <p:spPr>
          <a:xfrm>
            <a:off x="5852160" y="2377440"/>
            <a:ext cx="5696712" cy="0"/>
          </a:xfrm>
          <a:prstGeom prst="line">
            <a:avLst/>
          </a:prstGeom>
          <a:noFill/>
          <a:ln w="9525">
            <a:solidFill>
              <a:schemeClr val="accent6"/>
            </a:solidFill>
            <a:prstDash val="solid"/>
          </a:ln>
        </p:spPr>
      </p:sp>
      <p:sp>
        <p:nvSpPr>
          <p:cNvPr id="7" name="Text 4"/>
          <p:cNvSpPr txBox="1"/>
          <p:nvPr/>
        </p:nvSpPr>
        <p:spPr>
          <a:xfrm>
            <a:off x="5852160" y="2606040"/>
            <a:ext cx="5669280" cy="3383280"/>
          </a:xfrm>
          <a:prstGeom prst="rect">
            <a:avLst/>
          </a:prstGeom>
          <a:noFill/>
          <a:ln/>
        </p:spPr>
        <p:txBody>
          <a:bodyPr wrap="square" lIns="0" tIns="0" rIns="0" bIns="0" rtlCol="0" anchor="t"/>
          <a:lstStyle/>
          <a:p>
            <a:pPr indent="0" marL="0">
              <a:lnSpc>
                <a:spcPct val="120000"/>
              </a:lnSpc>
              <a:buNone/>
            </a:pPr>
            <a:r>
              <a:rPr lang="en-US" sz="1800" i="1" dirty="0">
                <a:solidFill>
                  <a:schemeClr val="tx1"/>
                </a:solidFill>
              </a:rPr>
              <a:t>Over seven years I've worked on more than 200 certified green building projects, from retail stores to logistics parks. The same thing kept happening: certification was left to the end, after the big decisions were already made.</a:t>
            </a:r>
            <a:endParaRPr lang="en-US" sz="1800" dirty="0"/>
          </a:p>
          <a:p>
            <a:pPr indent="0" marL="0">
              <a:lnSpc>
                <a:spcPct val="120000"/>
              </a:lnSpc>
              <a:buNone/>
            </a:pPr>
            <a:r>
              <a:rPr lang="en-US" sz="900" i="1" dirty="0">
                <a:solidFill>
                  <a:schemeClr val="tx1"/>
                </a:solidFill>
              </a:rPr>
              <a:t> </a:t>
            </a:r>
            <a:endParaRPr lang="en-US" sz="1800" dirty="0"/>
          </a:p>
          <a:p>
            <a:pPr indent="0" marL="0">
              <a:lnSpc>
                <a:spcPct val="120000"/>
              </a:lnSpc>
              <a:buNone/>
            </a:pPr>
            <a:r>
              <a:rPr lang="en-US" sz="1800" i="1" dirty="0">
                <a:solidFill>
                  <a:schemeClr val="tx1"/>
                </a:solidFill>
              </a:rPr>
              <a:t>VERDEAXIS works the other way round. We model first, decide with numbers, and then certify what actually gets built.</a:t>
            </a:r>
            <a:endParaRPr lang="en-US" sz="1800" dirty="0"/>
          </a:p>
          <a:p>
            <a:pPr indent="0" marL="0">
              <a:lnSpc>
                <a:spcPct val="120000"/>
              </a:lnSpc>
              <a:buNone/>
            </a:pPr>
            <a:r>
              <a:rPr lang="en-US" sz="900" i="1" dirty="0">
                <a:solidFill>
                  <a:schemeClr val="tx1"/>
                </a:solidFill>
              </a:rPr>
              <a:t> </a:t>
            </a:r>
            <a:endParaRPr lang="en-US" sz="1800" dirty="0"/>
          </a:p>
          <a:p>
            <a:pPr indent="0" marL="0">
              <a:lnSpc>
                <a:spcPct val="120000"/>
              </a:lnSpc>
              <a:buNone/>
            </a:pPr>
            <a:r>
              <a:rPr lang="en-US" sz="1800" i="1" dirty="0">
                <a:solidFill>
                  <a:schemeClr val="tx1"/>
                </a:solidFill>
              </a:rPr>
              <a:t>And if a certification isn't worth it for your project, I'll tell you.</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ection label"/>
          <p:cNvSpPr txBox="1"/>
          <p:nvPr/>
        </p:nvSpPr>
        <p:spPr>
          <a:xfrm>
            <a:off x="640080" y="411480"/>
            <a:ext cx="10911535"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03   EXPERIENCE</a:t>
            </a:r>
            <a:endParaRPr lang="en-US" sz="1200" dirty="0"/>
          </a:p>
        </p:txBody>
      </p:sp>
      <p:sp>
        <p:nvSpPr>
          <p:cNvPr id="3" name="Text 1"/>
          <p:cNvSpPr/>
          <p:nvPr>
            <p:ph idx="102" type="title" hasCustomPrompt="1"/>
          </p:nvPr>
        </p:nvSpPr>
        <p:spPr>
          <a:xfrm>
            <a:off x="640080" y="777240"/>
            <a:ext cx="10911535" cy="685800"/>
          </a:xfrm>
          <a:prstGeom prst="rect">
            <a:avLst/>
          </a:prstGeom>
          <a:noFill/>
          <a:ln/>
        </p:spPr>
        <p:txBody>
          <a:bodyPr wrap="square" lIns="0" tIns="0" rIns="0" bIns="0" rtlCol="0" anchor="t"/>
          <a:lstStyle/>
          <a:p>
            <a:pPr algn="l" indent="0" marL="0">
              <a:buNone/>
            </a:pPr>
            <a:r>
              <a:rPr lang="en-US" sz="3000" b="1" dirty="0">
                <a:solidFill>
                  <a:schemeClr val="tx1"/>
                </a:solidFill>
              </a:rPr>
              <a:t>The experience behind VERDEAXIS</a:t>
            </a:r>
            <a:endParaRPr lang="en-US" sz="3000" dirty="0"/>
          </a:p>
        </p:txBody>
      </p:sp>
      <p:sp>
        <p:nvSpPr>
          <p:cNvPr id="4" name="Text 2"/>
          <p:cNvSpPr txBox="1"/>
          <p:nvPr/>
        </p:nvSpPr>
        <p:spPr>
          <a:xfrm>
            <a:off x="640080" y="1828800"/>
            <a:ext cx="3393338"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CERTIFICATION</a:t>
            </a:r>
            <a:endParaRPr lang="en-US" sz="1200" dirty="0"/>
          </a:p>
        </p:txBody>
      </p:sp>
      <p:sp>
        <p:nvSpPr>
          <p:cNvPr id="5" name="Experience CERTIFICATION"/>
          <p:cNvSpPr txBox="1"/>
          <p:nvPr/>
        </p:nvSpPr>
        <p:spPr>
          <a:xfrm>
            <a:off x="640080" y="2240280"/>
            <a:ext cx="3301898" cy="2240280"/>
          </a:xfrm>
          <a:prstGeom prst="rect">
            <a:avLst/>
          </a:prstGeom>
          <a:noFill/>
          <a:ln/>
        </p:spPr>
        <p:txBody>
          <a:bodyPr wrap="square" lIns="0" tIns="0" rIns="0" bIns="0" rtlCol="0" anchor="t"/>
          <a:lstStyle/>
          <a:p>
            <a:pPr marL="190500" indent="-190500">
              <a:lnSpc>
                <a:spcPct val="115000"/>
              </a:lnSpc>
              <a:spcAft>
                <a:spcPts val="800"/>
              </a:spcAft>
              <a:buSzPct val="100000"/>
              <a:buChar char="•"/>
            </a:pPr>
            <a:r>
              <a:rPr lang="en-US" sz="1600" dirty="0">
                <a:solidFill>
                  <a:schemeClr val="tx1"/>
                </a:solidFill>
              </a:rPr>
              <a:t>200+ certified green building projects in India and Malaysia</a:t>
            </a:r>
            <a:endParaRPr lang="en-US" sz="1600" dirty="0"/>
          </a:p>
          <a:p>
            <a:pPr marL="190500" indent="-190500">
              <a:lnSpc>
                <a:spcPct val="115000"/>
              </a:lnSpc>
              <a:spcAft>
                <a:spcPts val="800"/>
              </a:spcAft>
              <a:buSzPct val="100000"/>
              <a:buChar char="•"/>
            </a:pPr>
            <a:r>
              <a:rPr lang="en-US" sz="1600" dirty="0">
                <a:solidFill>
                  <a:schemeClr val="tx1"/>
                </a:solidFill>
              </a:rPr>
              <a:t>Retail, offices, stores, logistics parks and industry</a:t>
            </a:r>
            <a:endParaRPr lang="en-US" sz="1600" dirty="0"/>
          </a:p>
          <a:p>
            <a:pPr marL="190500" indent="-190500">
              <a:lnSpc>
                <a:spcPct val="115000"/>
              </a:lnSpc>
              <a:spcAft>
                <a:spcPts val="800"/>
              </a:spcAft>
              <a:buSzPct val="100000"/>
              <a:buChar char="•"/>
            </a:pPr>
            <a:r>
              <a:rPr lang="en-US" sz="1600" dirty="0">
                <a:solidFill>
                  <a:schemeClr val="tx1"/>
                </a:solidFill>
              </a:rPr>
              <a:t>LEED, EDGE, IGBC, GRIHA, WELL and Fitwel</a:t>
            </a:r>
            <a:endParaRPr lang="en-US" sz="1600" dirty="0"/>
          </a:p>
        </p:txBody>
      </p:sp>
      <p:sp>
        <p:nvSpPr>
          <p:cNvPr id="6" name="Column rule 1"/>
          <p:cNvSpPr/>
          <p:nvPr/>
        </p:nvSpPr>
        <p:spPr>
          <a:xfrm>
            <a:off x="4216298" y="1828800"/>
            <a:ext cx="0" cy="3108960"/>
          </a:xfrm>
          <a:prstGeom prst="line">
            <a:avLst/>
          </a:prstGeom>
          <a:noFill/>
          <a:ln w="9525">
            <a:solidFill>
              <a:schemeClr val="accent6"/>
            </a:solidFill>
            <a:prstDash val="solid"/>
          </a:ln>
        </p:spPr>
      </p:sp>
      <p:sp>
        <p:nvSpPr>
          <p:cNvPr id="7" name="Text 5"/>
          <p:cNvSpPr txBox="1"/>
          <p:nvPr/>
        </p:nvSpPr>
        <p:spPr>
          <a:xfrm>
            <a:off x="4399178" y="1828800"/>
            <a:ext cx="3393338"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CARBON AND REPORTING</a:t>
            </a:r>
            <a:endParaRPr lang="en-US" sz="1200" dirty="0"/>
          </a:p>
        </p:txBody>
      </p:sp>
      <p:sp>
        <p:nvSpPr>
          <p:cNvPr id="8" name="Experience CARBON AND REPORTING"/>
          <p:cNvSpPr txBox="1"/>
          <p:nvPr/>
        </p:nvSpPr>
        <p:spPr>
          <a:xfrm>
            <a:off x="4399178" y="2240280"/>
            <a:ext cx="3301898" cy="2240280"/>
          </a:xfrm>
          <a:prstGeom prst="rect">
            <a:avLst/>
          </a:prstGeom>
          <a:noFill/>
          <a:ln/>
        </p:spPr>
        <p:txBody>
          <a:bodyPr wrap="square" lIns="0" tIns="0" rIns="0" bIns="0" rtlCol="0" anchor="t"/>
          <a:lstStyle/>
          <a:p>
            <a:pPr marL="190500" indent="-190500">
              <a:lnSpc>
                <a:spcPct val="115000"/>
              </a:lnSpc>
              <a:spcAft>
                <a:spcPts val="800"/>
              </a:spcAft>
              <a:buSzPct val="100000"/>
              <a:buChar char="•"/>
            </a:pPr>
            <a:r>
              <a:rPr lang="en-US" sz="1600" dirty="0">
                <a:solidFill>
                  <a:schemeClr val="tx1"/>
                </a:solidFill>
              </a:rPr>
              <a:t>GHG reporting for multinational organisations</a:t>
            </a:r>
            <a:endParaRPr lang="en-US" sz="1600" dirty="0"/>
          </a:p>
          <a:p>
            <a:pPr marL="190500" indent="-190500">
              <a:lnSpc>
                <a:spcPct val="115000"/>
              </a:lnSpc>
              <a:spcAft>
                <a:spcPts val="800"/>
              </a:spcAft>
              <a:buSzPct val="100000"/>
              <a:buChar char="•"/>
            </a:pPr>
            <a:r>
              <a:rPr lang="en-US" sz="1600" dirty="0">
                <a:solidFill>
                  <a:schemeClr val="tx1"/>
                </a:solidFill>
              </a:rPr>
              <a:t>Decarbonisation roadmaps to meet climate targets</a:t>
            </a:r>
            <a:endParaRPr lang="en-US" sz="1600" dirty="0"/>
          </a:p>
          <a:p>
            <a:pPr marL="190500" indent="-190500">
              <a:lnSpc>
                <a:spcPct val="115000"/>
              </a:lnSpc>
              <a:spcAft>
                <a:spcPts val="800"/>
              </a:spcAft>
              <a:buSzPct val="100000"/>
              <a:buChar char="•"/>
            </a:pPr>
            <a:r>
              <a:rPr lang="en-US" sz="1600" dirty="0">
                <a:solidFill>
                  <a:schemeClr val="tx1"/>
                </a:solidFill>
              </a:rPr>
              <a:t>GRESB, GRI Standards and the UN SDGs</a:t>
            </a:r>
            <a:endParaRPr lang="en-US" sz="1600" dirty="0"/>
          </a:p>
        </p:txBody>
      </p:sp>
      <p:sp>
        <p:nvSpPr>
          <p:cNvPr id="9" name="Column rule 2"/>
          <p:cNvSpPr/>
          <p:nvPr/>
        </p:nvSpPr>
        <p:spPr>
          <a:xfrm>
            <a:off x="7975397" y="1828800"/>
            <a:ext cx="0" cy="3108960"/>
          </a:xfrm>
          <a:prstGeom prst="line">
            <a:avLst/>
          </a:prstGeom>
          <a:noFill/>
          <a:ln w="9525">
            <a:solidFill>
              <a:schemeClr val="accent6"/>
            </a:solidFill>
            <a:prstDash val="solid"/>
          </a:ln>
        </p:spPr>
      </p:sp>
      <p:sp>
        <p:nvSpPr>
          <p:cNvPr id="10" name="Text 8"/>
          <p:cNvSpPr txBox="1"/>
          <p:nvPr/>
        </p:nvSpPr>
        <p:spPr>
          <a:xfrm>
            <a:off x="8158277" y="1828800"/>
            <a:ext cx="3393338"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MODELLING</a:t>
            </a:r>
            <a:endParaRPr lang="en-US" sz="1200" dirty="0"/>
          </a:p>
        </p:txBody>
      </p:sp>
      <p:sp>
        <p:nvSpPr>
          <p:cNvPr id="11" name="Experience MODELLING"/>
          <p:cNvSpPr txBox="1"/>
          <p:nvPr/>
        </p:nvSpPr>
        <p:spPr>
          <a:xfrm>
            <a:off x="8158277" y="2240280"/>
            <a:ext cx="3301898" cy="2240280"/>
          </a:xfrm>
          <a:prstGeom prst="rect">
            <a:avLst/>
          </a:prstGeom>
          <a:noFill/>
          <a:ln/>
        </p:spPr>
        <p:txBody>
          <a:bodyPr wrap="square" lIns="0" tIns="0" rIns="0" bIns="0" rtlCol="0" anchor="t"/>
          <a:lstStyle/>
          <a:p>
            <a:pPr marL="190500" indent="-190500">
              <a:lnSpc>
                <a:spcPct val="115000"/>
              </a:lnSpc>
              <a:spcAft>
                <a:spcPts val="800"/>
              </a:spcAft>
              <a:buSzPct val="100000"/>
              <a:buChar char="•"/>
            </a:pPr>
            <a:r>
              <a:rPr lang="en-US" sz="1600" dirty="0">
                <a:solidFill>
                  <a:schemeClr val="tx1"/>
                </a:solidFill>
              </a:rPr>
              <a:t>Energy, daylight and microclimate in DesignBuilder and EnergyPlus</a:t>
            </a:r>
            <a:endParaRPr lang="en-US" sz="1600" dirty="0"/>
          </a:p>
          <a:p>
            <a:pPr marL="190500" indent="-190500">
              <a:lnSpc>
                <a:spcPct val="115000"/>
              </a:lnSpc>
              <a:spcAft>
                <a:spcPts val="800"/>
              </a:spcAft>
              <a:buSzPct val="100000"/>
              <a:buChar char="•"/>
            </a:pPr>
            <a:r>
              <a:rPr lang="en-US" sz="1600" dirty="0">
                <a:solidFill>
                  <a:schemeClr val="tx1"/>
                </a:solidFill>
              </a:rPr>
              <a:t>Building and product LCA in One Click LCA and Excel</a:t>
            </a:r>
            <a:endParaRPr lang="en-US" sz="1600" dirty="0"/>
          </a:p>
          <a:p>
            <a:pPr marL="190500" indent="-190500">
              <a:lnSpc>
                <a:spcPct val="115000"/>
              </a:lnSpc>
              <a:spcAft>
                <a:spcPts val="800"/>
              </a:spcAft>
              <a:buSzPct val="100000"/>
              <a:buChar char="•"/>
            </a:pPr>
            <a:r>
              <a:rPr lang="en-US" sz="1600" dirty="0">
                <a:solidFill>
                  <a:schemeClr val="tx1"/>
                </a:solidFill>
              </a:rPr>
              <a:t>Physical climate-risk assessments</a:t>
            </a:r>
            <a:endParaRPr lang="en-US" sz="1600" dirty="0"/>
          </a:p>
        </p:txBody>
      </p:sp>
      <p:sp>
        <p:nvSpPr>
          <p:cNvPr id="12" name="Tools panel"/>
          <p:cNvSpPr/>
          <p:nvPr/>
        </p:nvSpPr>
        <p:spPr>
          <a:xfrm>
            <a:off x="640080" y="5166360"/>
            <a:ext cx="10911535" cy="731520"/>
          </a:xfrm>
          <a:prstGeom prst="rect">
            <a:avLst/>
          </a:prstGeom>
          <a:solidFill>
            <a:schemeClr val="bg2"/>
          </a:solidFill>
          <a:ln/>
        </p:spPr>
      </p:sp>
      <p:sp>
        <p:nvSpPr>
          <p:cNvPr id="13" name="Text 11"/>
          <p:cNvSpPr txBox="1"/>
          <p:nvPr/>
        </p:nvSpPr>
        <p:spPr>
          <a:xfrm>
            <a:off x="960120" y="5166360"/>
            <a:ext cx="10271455" cy="731520"/>
          </a:xfrm>
          <a:prstGeom prst="rect">
            <a:avLst/>
          </a:prstGeom>
          <a:noFill/>
          <a:ln/>
        </p:spPr>
        <p:txBody>
          <a:bodyPr wrap="square" lIns="0" tIns="0" rIns="0" bIns="0" rtlCol="0" anchor="ctr"/>
          <a:lstStyle/>
          <a:p>
            <a:pPr indent="0" marL="0">
              <a:buNone/>
            </a:pPr>
            <a:r>
              <a:rPr lang="en-US" sz="1200" b="1" spc="200" kern="0" dirty="0">
                <a:solidFill>
                  <a:schemeClr val="accent2"/>
                </a:solidFill>
              </a:rPr>
              <a:t>TOOLS   </a:t>
            </a:r>
            <a:pPr indent="0" marL="0">
              <a:buNone/>
            </a:pPr>
            <a:r>
              <a:rPr lang="en-US" sz="1600" dirty="0">
                <a:solidFill>
                  <a:schemeClr val="tx1"/>
                </a:solidFill>
              </a:rPr>
              <a:t>DesignBuilder  ·  EnergyPlus  ·  eQUEST  ·  One Click LCA  ·  Excel-based carbon models</a:t>
            </a:r>
            <a:endParaRPr lang="en-US" sz="12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ection label"/>
          <p:cNvSpPr txBox="1"/>
          <p:nvPr/>
        </p:nvSpPr>
        <p:spPr>
          <a:xfrm>
            <a:off x="640080" y="411480"/>
            <a:ext cx="10911535"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03   TRACK RECORD</a:t>
            </a:r>
            <a:endParaRPr lang="en-US" sz="1200" dirty="0"/>
          </a:p>
        </p:txBody>
      </p:sp>
      <p:sp>
        <p:nvSpPr>
          <p:cNvPr id="3" name="Text 1"/>
          <p:cNvSpPr/>
          <p:nvPr>
            <p:ph idx="102" type="title" hasCustomPrompt="1"/>
          </p:nvPr>
        </p:nvSpPr>
        <p:spPr>
          <a:xfrm>
            <a:off x="640080" y="777240"/>
            <a:ext cx="10911535" cy="685800"/>
          </a:xfrm>
          <a:prstGeom prst="rect">
            <a:avLst/>
          </a:prstGeom>
          <a:noFill/>
          <a:ln/>
        </p:spPr>
        <p:txBody>
          <a:bodyPr wrap="square" lIns="0" tIns="0" rIns="0" bIns="0" rtlCol="0" anchor="t"/>
          <a:lstStyle/>
          <a:p>
            <a:pPr algn="l" indent="0" marL="0">
              <a:buNone/>
            </a:pPr>
            <a:r>
              <a:rPr lang="en-US" sz="3000" b="1" dirty="0">
                <a:solidFill>
                  <a:schemeClr val="tx1"/>
                </a:solidFill>
              </a:rPr>
              <a:t>Selected projects the founder has worked on</a:t>
            </a:r>
            <a:endParaRPr lang="en-US" sz="3000" dirty="0"/>
          </a:p>
        </p:txBody>
      </p:sp>
      <p:graphicFrame>
        <p:nvGraphicFramePr>
          <p:cNvPr id="13" name="Track record table"/>
          <p:cNvGraphicFramePr>
            <a:graphicFrameLocks noGrp="1"/>
          </p:cNvGraphicFramePr>
          <p:nvPr>
            <p:extLst>
              <p:ext uri="{D42A27DB-BD31-4B8C-83A1-F6EECF244321}">
                <p14:modId xmlns:p14="http://schemas.microsoft.com/office/powerpoint/2010/main" val="1579011935"/>
              </p:ext>
            </p:extLst>
          </p:nvPr>
        </p:nvGraphicFramePr>
        <p:xfrm>
          <a:off x="640080" y="1828800"/>
          <a:ext cx="10911535" cy="914400"/>
        </p:xfrm>
        <a:graphic>
          <a:graphicData uri="http://schemas.openxmlformats.org/drawingml/2006/table">
            <a:tbl>
              <a:tblPr/>
              <a:tblGrid>
                <a:gridCol w="2743200"/>
                <a:gridCol w="2743200"/>
                <a:gridCol w="3017520"/>
                <a:gridCol w="2407615"/>
              </a:tblGrid>
              <a:tr h="411480">
                <a:tc>
                  <a:txBody>
                    <a:bodyPr/>
                    <a:lstStyle/>
                    <a:p>
                      <a:pPr indent="0" marL="0">
                        <a:buNone/>
                      </a:pPr>
                      <a:r>
                        <a:rPr lang="en-US" sz="1200" b="1" dirty="0">
                          <a:solidFill>
                            <a:schemeClr val="accent4"/>
                          </a:solidFill>
                          <a:latin typeface="Times New Roman" pitchFamily="34" charset="0"/>
                          <a:ea typeface="Times New Roman" pitchFamily="34" charset="-122"/>
                          <a:cs typeface="Times New Roman" pitchFamily="34" charset="-120"/>
                        </a:rPr>
                        <a:t>PROJECT</a:t>
                      </a:r>
                      <a:endParaRPr lang="en-US" sz="12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12700" cap="flat" cmpd="sng" algn="ctr">
                      <a:solidFill>
                        <a:srgbClr val="1F1D1B"/>
                      </a:solidFill>
                      <a:prstDash val="solid"/>
                      <a:round/>
                      <a:headEnd type="none" w="med" len="med"/>
                      <a:tailEnd type="none" w="med" len="med"/>
                    </a:lnB>
                  </a:tcPr>
                </a:tc>
                <a:tc>
                  <a:txBody>
                    <a:bodyPr/>
                    <a:lstStyle/>
                    <a:p>
                      <a:pPr indent="0" marL="0">
                        <a:buNone/>
                      </a:pPr>
                      <a:r>
                        <a:rPr lang="en-US" sz="1200" b="1" dirty="0">
                          <a:solidFill>
                            <a:schemeClr val="accent4"/>
                          </a:solidFill>
                          <a:latin typeface="Times New Roman" pitchFamily="34" charset="0"/>
                          <a:ea typeface="Times New Roman" pitchFamily="34" charset="-122"/>
                          <a:cs typeface="Times New Roman" pitchFamily="34" charset="-120"/>
                        </a:rPr>
                        <a:t>LOCATION</a:t>
                      </a:r>
                      <a:endParaRPr lang="en-US" sz="12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12700" cap="flat" cmpd="sng" algn="ctr">
                      <a:solidFill>
                        <a:srgbClr val="1F1D1B"/>
                      </a:solidFill>
                      <a:prstDash val="solid"/>
                      <a:round/>
                      <a:headEnd type="none" w="med" len="med"/>
                      <a:tailEnd type="none" w="med" len="med"/>
                    </a:lnB>
                  </a:tcPr>
                </a:tc>
                <a:tc>
                  <a:txBody>
                    <a:bodyPr/>
                    <a:lstStyle/>
                    <a:p>
                      <a:pPr indent="0" marL="0">
                        <a:buNone/>
                      </a:pPr>
                      <a:r>
                        <a:rPr lang="en-US" sz="1200" b="1" dirty="0">
                          <a:solidFill>
                            <a:schemeClr val="accent4"/>
                          </a:solidFill>
                          <a:latin typeface="Times New Roman" pitchFamily="34" charset="0"/>
                          <a:ea typeface="Times New Roman" pitchFamily="34" charset="-122"/>
                          <a:cs typeface="Times New Roman" pitchFamily="34" charset="-120"/>
                        </a:rPr>
                        <a:t>SCOPE</a:t>
                      </a:r>
                      <a:endParaRPr lang="en-US" sz="12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12700" cap="flat" cmpd="sng" algn="ctr">
                      <a:solidFill>
                        <a:srgbClr val="1F1D1B"/>
                      </a:solidFill>
                      <a:prstDash val="solid"/>
                      <a:round/>
                      <a:headEnd type="none" w="med" len="med"/>
                      <a:tailEnd type="none" w="med" len="med"/>
                    </a:lnB>
                  </a:tcPr>
                </a:tc>
                <a:tc>
                  <a:txBody>
                    <a:bodyPr/>
                    <a:lstStyle/>
                    <a:p>
                      <a:pPr indent="0" marL="0">
                        <a:buNone/>
                      </a:pPr>
                      <a:r>
                        <a:rPr lang="en-US" sz="1200" b="1" dirty="0">
                          <a:solidFill>
                            <a:schemeClr val="accent4"/>
                          </a:solidFill>
                          <a:latin typeface="Times New Roman" pitchFamily="34" charset="0"/>
                          <a:ea typeface="Times New Roman" pitchFamily="34" charset="-122"/>
                          <a:cs typeface="Times New Roman" pitchFamily="34" charset="-120"/>
                        </a:rPr>
                        <a:t>NOTES</a:t>
                      </a:r>
                      <a:endParaRPr lang="en-US" sz="12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12700" cap="flat" cmpd="sng" algn="ctr">
                      <a:solidFill>
                        <a:srgbClr val="1F1D1B"/>
                      </a:solidFill>
                      <a:prstDash val="solid"/>
                      <a:round/>
                      <a:headEnd type="none" w="med" len="med"/>
                      <a:tailEnd type="none" w="med" len="med"/>
                    </a:lnB>
                  </a:tcPr>
                </a:tc>
              </a:tr>
              <a:tr h="512064">
                <a:tc>
                  <a:txBody>
                    <a:bodyPr/>
                    <a:lstStyle/>
                    <a:p>
                      <a:pPr indent="0" marL="0">
                        <a:buNone/>
                      </a:pPr>
                      <a:r>
                        <a:rPr lang="en-US" sz="1500" b="1" dirty="0">
                          <a:solidFill>
                            <a:schemeClr val="tx1"/>
                          </a:solidFill>
                          <a:latin typeface="Times New Roman" pitchFamily="34" charset="0"/>
                          <a:ea typeface="Times New Roman" pitchFamily="34" charset="-122"/>
                          <a:cs typeface="Times New Roman" pitchFamily="34" charset="-120"/>
                        </a:rPr>
                        <a:t>Green building portfolio</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tx2"/>
                          </a:solidFill>
                          <a:latin typeface="Times New Roman" pitchFamily="34" charset="0"/>
                          <a:ea typeface="Times New Roman" pitchFamily="34" charset="-122"/>
                          <a:cs typeface="Times New Roman" pitchFamily="34" charset="-120"/>
                        </a:rPr>
                        <a:t>India and Malaysia</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tx2"/>
                          </a:solidFill>
                          <a:latin typeface="Times New Roman" pitchFamily="34" charset="0"/>
                          <a:ea typeface="Times New Roman" pitchFamily="34" charset="-122"/>
                          <a:cs typeface="Times New Roman" pitchFamily="34" charset="-120"/>
                        </a:rPr>
                        <a:t>Multiple rating systems</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accent2"/>
                          </a:solidFill>
                          <a:latin typeface="Times New Roman" pitchFamily="34" charset="0"/>
                          <a:ea typeface="Times New Roman" pitchFamily="34" charset="-122"/>
                          <a:cs typeface="Times New Roman" pitchFamily="34" charset="-120"/>
                        </a:rPr>
                        <a:t>200+ certified projects</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r>
              <a:tr h="512064">
                <a:tc>
                  <a:txBody>
                    <a:bodyPr/>
                    <a:lstStyle/>
                    <a:p>
                      <a:pPr indent="0" marL="0">
                        <a:buNone/>
                      </a:pPr>
                      <a:r>
                        <a:rPr lang="en-US" sz="1500" b="1" dirty="0">
                          <a:solidFill>
                            <a:schemeClr val="tx1"/>
                          </a:solidFill>
                          <a:latin typeface="Times New Roman" pitchFamily="34" charset="0"/>
                          <a:ea typeface="Times New Roman" pitchFamily="34" charset="-122"/>
                          <a:cs typeface="Times New Roman" pitchFamily="34" charset="-120"/>
                        </a:rPr>
                        <a:t>Commercial campus</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tx2"/>
                          </a:solidFill>
                          <a:latin typeface="Times New Roman" pitchFamily="34" charset="0"/>
                          <a:ea typeface="Times New Roman" pitchFamily="34" charset="-122"/>
                          <a:cs typeface="Times New Roman" pitchFamily="34" charset="-120"/>
                        </a:rPr>
                        <a:t>Gandhinagar, India</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tx2"/>
                          </a:solidFill>
                          <a:latin typeface="Times New Roman" pitchFamily="34" charset="0"/>
                          <a:ea typeface="Times New Roman" pitchFamily="34" charset="-122"/>
                          <a:cs typeface="Times New Roman" pitchFamily="34" charset="-120"/>
                        </a:rPr>
                        <a:t>LEED v4.1 O+M</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accent2"/>
                          </a:solidFill>
                          <a:latin typeface="Times New Roman" pitchFamily="34" charset="0"/>
                          <a:ea typeface="Times New Roman" pitchFamily="34" charset="-122"/>
                          <a:cs typeface="Times New Roman" pitchFamily="34" charset="-120"/>
                        </a:rPr>
                        <a:t>Targeting Gold</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r>
              <a:tr h="512064">
                <a:tc>
                  <a:txBody>
                    <a:bodyPr/>
                    <a:lstStyle/>
                    <a:p>
                      <a:pPr indent="0" marL="0">
                        <a:buNone/>
                      </a:pPr>
                      <a:r>
                        <a:rPr lang="en-US" sz="1500" b="1" dirty="0">
                          <a:solidFill>
                            <a:schemeClr val="tx1"/>
                          </a:solidFill>
                          <a:latin typeface="Times New Roman" pitchFamily="34" charset="0"/>
                          <a:ea typeface="Times New Roman" pitchFamily="34" charset="-122"/>
                          <a:cs typeface="Times New Roman" pitchFamily="34" charset="-120"/>
                        </a:rPr>
                        <a:t>28-floor tower</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tx2"/>
                          </a:solidFill>
                          <a:latin typeface="Times New Roman" pitchFamily="34" charset="0"/>
                          <a:ea typeface="Times New Roman" pitchFamily="34" charset="-122"/>
                          <a:cs typeface="Times New Roman" pitchFamily="34" charset="-120"/>
                        </a:rPr>
                        <a:t>Ho Chi Minh City, Vietnam</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tx2"/>
                          </a:solidFill>
                          <a:latin typeface="Times New Roman" pitchFamily="34" charset="0"/>
                          <a:ea typeface="Times New Roman" pitchFamily="34" charset="-122"/>
                          <a:cs typeface="Times New Roman" pitchFamily="34" charset="-120"/>
                        </a:rPr>
                        <a:t>LEED BD+C v4</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accent2"/>
                          </a:solidFill>
                          <a:latin typeface="Times New Roman" pitchFamily="34" charset="0"/>
                          <a:ea typeface="Times New Roman" pitchFamily="34" charset="-122"/>
                          <a:cs typeface="Times New Roman" pitchFamily="34" charset="-120"/>
                        </a:rPr>
                        <a:t>Core and Shell</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r>
              <a:tr h="512064">
                <a:tc>
                  <a:txBody>
                    <a:bodyPr/>
                    <a:lstStyle/>
                    <a:p>
                      <a:pPr indent="0" marL="0">
                        <a:buNone/>
                      </a:pPr>
                      <a:r>
                        <a:rPr lang="en-US" sz="1500" b="1" dirty="0">
                          <a:solidFill>
                            <a:schemeClr val="tx1"/>
                          </a:solidFill>
                          <a:latin typeface="Times New Roman" pitchFamily="34" charset="0"/>
                          <a:ea typeface="Times New Roman" pitchFamily="34" charset="-122"/>
                          <a:cs typeface="Times New Roman" pitchFamily="34" charset="-120"/>
                        </a:rPr>
                        <a:t>Pet food facilities</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tx2"/>
                          </a:solidFill>
                          <a:latin typeface="Times New Roman" pitchFamily="34" charset="0"/>
                          <a:ea typeface="Times New Roman" pitchFamily="34" charset="-122"/>
                          <a:cs typeface="Times New Roman" pitchFamily="34" charset="-120"/>
                        </a:rPr>
                        <a:t>France</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tx2"/>
                          </a:solidFill>
                          <a:latin typeface="Times New Roman" pitchFamily="34" charset="0"/>
                          <a:ea typeface="Times New Roman" pitchFamily="34" charset="-122"/>
                          <a:cs typeface="Times New Roman" pitchFamily="34" charset="-120"/>
                        </a:rPr>
                        <a:t>LEED BD+C v4</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accent2"/>
                          </a:solidFill>
                          <a:latin typeface="Times New Roman" pitchFamily="34" charset="0"/>
                          <a:ea typeface="Times New Roman" pitchFamily="34" charset="-122"/>
                          <a:cs typeface="Times New Roman" pitchFamily="34" charset="-120"/>
                        </a:rPr>
                        <a:t>Two industrial sites</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r>
              <a:tr h="512064">
                <a:tc>
                  <a:txBody>
                    <a:bodyPr/>
                    <a:lstStyle/>
                    <a:p>
                      <a:pPr indent="0" marL="0">
                        <a:buNone/>
                      </a:pPr>
                      <a:r>
                        <a:rPr lang="en-US" sz="1500" b="1" dirty="0">
                          <a:solidFill>
                            <a:schemeClr val="tx1"/>
                          </a:solidFill>
                          <a:latin typeface="Times New Roman" pitchFamily="34" charset="0"/>
                          <a:ea typeface="Times New Roman" pitchFamily="34" charset="-122"/>
                          <a:cs typeface="Times New Roman" pitchFamily="34" charset="-120"/>
                        </a:rPr>
                        <a:t>Rice milling factory</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tx2"/>
                          </a:solidFill>
                          <a:latin typeface="Times New Roman" pitchFamily="34" charset="0"/>
                          <a:ea typeface="Times New Roman" pitchFamily="34" charset="-122"/>
                          <a:cs typeface="Times New Roman" pitchFamily="34" charset="-120"/>
                        </a:rPr>
                        <a:t>Cambodia</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tx2"/>
                          </a:solidFill>
                          <a:latin typeface="Times New Roman" pitchFamily="34" charset="0"/>
                          <a:ea typeface="Times New Roman" pitchFamily="34" charset="-122"/>
                          <a:cs typeface="Times New Roman" pitchFamily="34" charset="-120"/>
                        </a:rPr>
                        <a:t>EDGE v3.1</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accent2"/>
                          </a:solidFill>
                          <a:latin typeface="Times New Roman" pitchFamily="34" charset="0"/>
                          <a:ea typeface="Times New Roman" pitchFamily="34" charset="-122"/>
                          <a:cs typeface="Times New Roman" pitchFamily="34" charset="-120"/>
                        </a:rPr>
                        <a:t>Final certification</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r>
              <a:tr h="512064">
                <a:tc>
                  <a:txBody>
                    <a:bodyPr/>
                    <a:lstStyle/>
                    <a:p>
                      <a:pPr indent="0" marL="0">
                        <a:buNone/>
                      </a:pPr>
                      <a:r>
                        <a:rPr lang="en-US" sz="1500" b="1" dirty="0">
                          <a:solidFill>
                            <a:schemeClr val="tx1"/>
                          </a:solidFill>
                          <a:latin typeface="Times New Roman" pitchFamily="34" charset="0"/>
                          <a:ea typeface="Times New Roman" pitchFamily="34" charset="-122"/>
                          <a:cs typeface="Times New Roman" pitchFamily="34" charset="-120"/>
                        </a:rPr>
                        <a:t>Industrial portfolio</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tx2"/>
                          </a:solidFill>
                          <a:latin typeface="Times New Roman" pitchFamily="34" charset="0"/>
                          <a:ea typeface="Times New Roman" pitchFamily="34" charset="-122"/>
                          <a:cs typeface="Times New Roman" pitchFamily="34" charset="-120"/>
                        </a:rPr>
                        <a:t>Thailand</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tx2"/>
                          </a:solidFill>
                          <a:latin typeface="Times New Roman" pitchFamily="34" charset="0"/>
                          <a:ea typeface="Times New Roman" pitchFamily="34" charset="-122"/>
                          <a:cs typeface="Times New Roman" pitchFamily="34" charset="-120"/>
                        </a:rPr>
                        <a:t>ESG and GHG, Scope 1–3</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accent2"/>
                          </a:solidFill>
                          <a:latin typeface="Times New Roman" pitchFamily="34" charset="0"/>
                          <a:ea typeface="Times New Roman" pitchFamily="34" charset="-122"/>
                          <a:cs typeface="Times New Roman" pitchFamily="34" charset="-120"/>
                        </a:rPr>
                        <a:t>GRESB-aligned reporting</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r>
              <a:tr h="512064">
                <a:tc>
                  <a:txBody>
                    <a:bodyPr/>
                    <a:lstStyle/>
                    <a:p>
                      <a:pPr indent="0" marL="0">
                        <a:buNone/>
                      </a:pPr>
                      <a:r>
                        <a:rPr lang="en-US" sz="1500" b="1" dirty="0">
                          <a:solidFill>
                            <a:schemeClr val="tx1"/>
                          </a:solidFill>
                          <a:latin typeface="Times New Roman" pitchFamily="34" charset="0"/>
                          <a:ea typeface="Times New Roman" pitchFamily="34" charset="-122"/>
                          <a:cs typeface="Times New Roman" pitchFamily="34" charset="-120"/>
                        </a:rPr>
                        <a:t>Industrial park</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tx2"/>
                          </a:solidFill>
                          <a:latin typeface="Times New Roman" pitchFamily="34" charset="0"/>
                          <a:ea typeface="Times New Roman" pitchFamily="34" charset="-122"/>
                          <a:cs typeface="Times New Roman" pitchFamily="34" charset="-120"/>
                        </a:rPr>
                        <a:t>Samut Sakhon, Thailand</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tx2"/>
                          </a:solidFill>
                          <a:latin typeface="Times New Roman" pitchFamily="34" charset="0"/>
                          <a:ea typeface="Times New Roman" pitchFamily="34" charset="-122"/>
                          <a:cs typeface="Times New Roman" pitchFamily="34" charset="-120"/>
                        </a:rPr>
                        <a:t>Physical climate risk</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accent2"/>
                          </a:solidFill>
                          <a:latin typeface="Times New Roman" pitchFamily="34" charset="0"/>
                          <a:ea typeface="Times New Roman" pitchFamily="34" charset="-122"/>
                          <a:cs typeface="Times New Roman" pitchFamily="34" charset="-120"/>
                        </a:rPr>
                        <a:t>WRI, NASA and Fathom data</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r>
            </a:tbl>
          </a:graphicData>
        </a:graphic>
      </p:graphicFrame>
      <p:sp>
        <p:nvSpPr>
          <p:cNvPr id="5" name="Text 2"/>
          <p:cNvSpPr txBox="1"/>
          <p:nvPr/>
        </p:nvSpPr>
        <p:spPr>
          <a:xfrm>
            <a:off x="640080" y="5897880"/>
            <a:ext cx="10911535" cy="274320"/>
          </a:xfrm>
          <a:prstGeom prst="rect">
            <a:avLst/>
          </a:prstGeom>
          <a:noFill/>
          <a:ln/>
        </p:spPr>
        <p:txBody>
          <a:bodyPr wrap="square" lIns="0" tIns="0" rIns="0" bIns="0" rtlCol="0" anchor="t"/>
          <a:lstStyle/>
          <a:p>
            <a:pPr indent="0" marL="0">
              <a:buNone/>
            </a:pPr>
            <a:r>
              <a:rPr lang="en-US" sz="1200" dirty="0">
                <a:solidFill>
                  <a:schemeClr val="accent4"/>
                </a:solidFill>
              </a:rPr>
              <a:t>Worked on by the founder as part of previous consultancy teams, before VERDEAXIS was formed. Client names withheld.</a:t>
            </a:r>
            <a:endParaRPr lang="en-US" sz="12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ection label"/>
          <p:cNvSpPr txBox="1"/>
          <p:nvPr/>
        </p:nvSpPr>
        <p:spPr>
          <a:xfrm>
            <a:off x="640080" y="411480"/>
            <a:ext cx="10911535"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04   HOW WE WORK</a:t>
            </a:r>
            <a:endParaRPr lang="en-US" sz="1200" dirty="0"/>
          </a:p>
        </p:txBody>
      </p:sp>
      <p:sp>
        <p:nvSpPr>
          <p:cNvPr id="3" name="Text 1"/>
          <p:cNvSpPr/>
          <p:nvPr>
            <p:ph idx="102" type="title" hasCustomPrompt="1"/>
          </p:nvPr>
        </p:nvSpPr>
        <p:spPr>
          <a:xfrm>
            <a:off x="640080" y="777240"/>
            <a:ext cx="10911535" cy="685800"/>
          </a:xfrm>
          <a:prstGeom prst="rect">
            <a:avLst/>
          </a:prstGeom>
          <a:noFill/>
          <a:ln/>
        </p:spPr>
        <p:txBody>
          <a:bodyPr wrap="square" lIns="0" tIns="0" rIns="0" bIns="0" rtlCol="0" anchor="t"/>
          <a:lstStyle/>
          <a:p>
            <a:pPr algn="l" indent="0" marL="0">
              <a:buNone/>
            </a:pPr>
            <a:r>
              <a:rPr lang="en-US" sz="3000" b="1" dirty="0">
                <a:solidFill>
                  <a:schemeClr val="tx1"/>
                </a:solidFill>
              </a:rPr>
              <a:t>Five steps from first call to certificate</a:t>
            </a:r>
            <a:endParaRPr lang="en-US" sz="3000" dirty="0"/>
          </a:p>
        </p:txBody>
      </p:sp>
      <p:sp>
        <p:nvSpPr>
          <p:cNvPr id="4" name="Process line"/>
          <p:cNvSpPr/>
          <p:nvPr/>
        </p:nvSpPr>
        <p:spPr>
          <a:xfrm>
            <a:off x="640080" y="2697480"/>
            <a:ext cx="10911535" cy="0"/>
          </a:xfrm>
          <a:prstGeom prst="line">
            <a:avLst/>
          </a:prstGeom>
          <a:noFill/>
          <a:ln w="9525">
            <a:solidFill>
              <a:schemeClr val="tx1"/>
            </a:solidFill>
            <a:prstDash val="solid"/>
          </a:ln>
        </p:spPr>
      </p:sp>
      <p:sp>
        <p:nvSpPr>
          <p:cNvPr id="5" name="Text 3"/>
          <p:cNvSpPr txBox="1"/>
          <p:nvPr/>
        </p:nvSpPr>
        <p:spPr>
          <a:xfrm>
            <a:off x="640080" y="1828800"/>
            <a:ext cx="1097280" cy="731520"/>
          </a:xfrm>
          <a:prstGeom prst="rect">
            <a:avLst/>
          </a:prstGeom>
          <a:noFill/>
          <a:ln/>
        </p:spPr>
        <p:txBody>
          <a:bodyPr wrap="square" lIns="0" tIns="0" rIns="0" bIns="0" rtlCol="0" anchor="b"/>
          <a:lstStyle/>
          <a:p>
            <a:pPr indent="0" marL="0">
              <a:buNone/>
            </a:pPr>
            <a:r>
              <a:rPr lang="en-US" sz="4400" b="1" dirty="0">
                <a:solidFill>
                  <a:schemeClr val="accent1"/>
                </a:solidFill>
              </a:rPr>
              <a:t>01</a:t>
            </a:r>
            <a:endParaRPr lang="en-US" sz="4400" dirty="0"/>
          </a:p>
        </p:txBody>
      </p:sp>
      <p:sp>
        <p:nvSpPr>
          <p:cNvPr id="6" name="Step marker 1"/>
          <p:cNvSpPr/>
          <p:nvPr/>
        </p:nvSpPr>
        <p:spPr>
          <a:xfrm>
            <a:off x="640080" y="2633472"/>
            <a:ext cx="128016" cy="128016"/>
          </a:xfrm>
          <a:prstGeom prst="ellipse">
            <a:avLst/>
          </a:prstGeom>
          <a:solidFill>
            <a:schemeClr val="tx1"/>
          </a:solidFill>
          <a:ln/>
        </p:spPr>
      </p:sp>
      <p:sp>
        <p:nvSpPr>
          <p:cNvPr id="7" name="Text 5"/>
          <p:cNvSpPr txBox="1"/>
          <p:nvPr/>
        </p:nvSpPr>
        <p:spPr>
          <a:xfrm>
            <a:off x="640080" y="2971800"/>
            <a:ext cx="1907987" cy="457200"/>
          </a:xfrm>
          <a:prstGeom prst="rect">
            <a:avLst/>
          </a:prstGeom>
          <a:noFill/>
          <a:ln/>
        </p:spPr>
        <p:txBody>
          <a:bodyPr wrap="square" lIns="0" tIns="0" rIns="0" bIns="0" rtlCol="0" anchor="t"/>
          <a:lstStyle/>
          <a:p>
            <a:pPr indent="0" marL="0">
              <a:buNone/>
            </a:pPr>
            <a:r>
              <a:rPr lang="en-US" sz="2200" b="1" dirty="0">
                <a:solidFill>
                  <a:schemeClr val="tx1"/>
                </a:solidFill>
              </a:rPr>
              <a:t>Scope</a:t>
            </a:r>
            <a:endParaRPr lang="en-US" sz="2200" dirty="0"/>
          </a:p>
        </p:txBody>
      </p:sp>
      <p:sp>
        <p:nvSpPr>
          <p:cNvPr id="8" name="Text 6"/>
          <p:cNvSpPr txBox="1"/>
          <p:nvPr/>
        </p:nvSpPr>
        <p:spPr>
          <a:xfrm>
            <a:off x="640080" y="3520440"/>
            <a:ext cx="1862267" cy="1280160"/>
          </a:xfrm>
          <a:prstGeom prst="rect">
            <a:avLst/>
          </a:prstGeom>
          <a:noFill/>
          <a:ln/>
        </p:spPr>
        <p:txBody>
          <a:bodyPr wrap="square" lIns="0" tIns="0" rIns="0" bIns="0" rtlCol="0" anchor="t"/>
          <a:lstStyle/>
          <a:p>
            <a:pPr indent="0" marL="0">
              <a:lnSpc>
                <a:spcPct val="120000"/>
              </a:lnSpc>
              <a:buNone/>
            </a:pPr>
            <a:r>
              <a:rPr lang="en-US" sz="1600" dirty="0">
                <a:solidFill>
                  <a:schemeClr val="tx2"/>
                </a:solidFill>
              </a:rPr>
              <a:t>Brief, goals and the right rating system.</a:t>
            </a:r>
            <a:endParaRPr lang="en-US" sz="1600" dirty="0"/>
          </a:p>
        </p:txBody>
      </p:sp>
      <p:sp>
        <p:nvSpPr>
          <p:cNvPr id="9" name="Text 7"/>
          <p:cNvSpPr txBox="1"/>
          <p:nvPr/>
        </p:nvSpPr>
        <p:spPr>
          <a:xfrm>
            <a:off x="2822387" y="1828800"/>
            <a:ext cx="1097280" cy="731520"/>
          </a:xfrm>
          <a:prstGeom prst="rect">
            <a:avLst/>
          </a:prstGeom>
          <a:noFill/>
          <a:ln/>
        </p:spPr>
        <p:txBody>
          <a:bodyPr wrap="square" lIns="0" tIns="0" rIns="0" bIns="0" rtlCol="0" anchor="b"/>
          <a:lstStyle/>
          <a:p>
            <a:pPr indent="0" marL="0">
              <a:buNone/>
            </a:pPr>
            <a:r>
              <a:rPr lang="en-US" sz="4400" b="1" dirty="0">
                <a:solidFill>
                  <a:schemeClr val="accent1"/>
                </a:solidFill>
              </a:rPr>
              <a:t>02</a:t>
            </a:r>
            <a:endParaRPr lang="en-US" sz="4400" dirty="0"/>
          </a:p>
        </p:txBody>
      </p:sp>
      <p:sp>
        <p:nvSpPr>
          <p:cNvPr id="10" name="Step marker 2"/>
          <p:cNvSpPr/>
          <p:nvPr/>
        </p:nvSpPr>
        <p:spPr>
          <a:xfrm>
            <a:off x="2822387" y="2633472"/>
            <a:ext cx="128016" cy="128016"/>
          </a:xfrm>
          <a:prstGeom prst="ellipse">
            <a:avLst/>
          </a:prstGeom>
          <a:solidFill>
            <a:schemeClr val="tx1"/>
          </a:solidFill>
          <a:ln/>
        </p:spPr>
      </p:sp>
      <p:sp>
        <p:nvSpPr>
          <p:cNvPr id="11" name="Text 9"/>
          <p:cNvSpPr txBox="1"/>
          <p:nvPr/>
        </p:nvSpPr>
        <p:spPr>
          <a:xfrm>
            <a:off x="2822387" y="2971800"/>
            <a:ext cx="1907987" cy="457200"/>
          </a:xfrm>
          <a:prstGeom prst="rect">
            <a:avLst/>
          </a:prstGeom>
          <a:noFill/>
          <a:ln/>
        </p:spPr>
        <p:txBody>
          <a:bodyPr wrap="square" lIns="0" tIns="0" rIns="0" bIns="0" rtlCol="0" anchor="t"/>
          <a:lstStyle/>
          <a:p>
            <a:pPr indent="0" marL="0">
              <a:buNone/>
            </a:pPr>
            <a:r>
              <a:rPr lang="en-US" sz="2200" b="1" dirty="0">
                <a:solidFill>
                  <a:schemeClr val="tx1"/>
                </a:solidFill>
              </a:rPr>
              <a:t>Analyse</a:t>
            </a:r>
            <a:endParaRPr lang="en-US" sz="2200" dirty="0"/>
          </a:p>
        </p:txBody>
      </p:sp>
      <p:sp>
        <p:nvSpPr>
          <p:cNvPr id="12" name="Text 10"/>
          <p:cNvSpPr txBox="1"/>
          <p:nvPr/>
        </p:nvSpPr>
        <p:spPr>
          <a:xfrm>
            <a:off x="2822387" y="3520440"/>
            <a:ext cx="1862267" cy="1280160"/>
          </a:xfrm>
          <a:prstGeom prst="rect">
            <a:avLst/>
          </a:prstGeom>
          <a:noFill/>
          <a:ln/>
        </p:spPr>
        <p:txBody>
          <a:bodyPr wrap="square" lIns="0" tIns="0" rIns="0" bIns="0" rtlCol="0" anchor="t"/>
          <a:lstStyle/>
          <a:p>
            <a:pPr indent="0" marL="0">
              <a:lnSpc>
                <a:spcPct val="120000"/>
              </a:lnSpc>
              <a:buNone/>
            </a:pPr>
            <a:r>
              <a:rPr lang="en-US" sz="1600" dirty="0">
                <a:solidFill>
                  <a:schemeClr val="tx2"/>
                </a:solidFill>
              </a:rPr>
              <a:t>Site visit, data audit, models and GHG baseline.</a:t>
            </a:r>
            <a:endParaRPr lang="en-US" sz="1600" dirty="0"/>
          </a:p>
        </p:txBody>
      </p:sp>
      <p:sp>
        <p:nvSpPr>
          <p:cNvPr id="13" name="Text 11"/>
          <p:cNvSpPr txBox="1"/>
          <p:nvPr/>
        </p:nvSpPr>
        <p:spPr>
          <a:xfrm>
            <a:off x="5004694" y="1828800"/>
            <a:ext cx="1097280" cy="731520"/>
          </a:xfrm>
          <a:prstGeom prst="rect">
            <a:avLst/>
          </a:prstGeom>
          <a:noFill/>
          <a:ln/>
        </p:spPr>
        <p:txBody>
          <a:bodyPr wrap="square" lIns="0" tIns="0" rIns="0" bIns="0" rtlCol="0" anchor="b"/>
          <a:lstStyle/>
          <a:p>
            <a:pPr indent="0" marL="0">
              <a:buNone/>
            </a:pPr>
            <a:r>
              <a:rPr lang="en-US" sz="4400" b="1" dirty="0">
                <a:solidFill>
                  <a:schemeClr val="accent1"/>
                </a:solidFill>
              </a:rPr>
              <a:t>03</a:t>
            </a:r>
            <a:endParaRPr lang="en-US" sz="4400" dirty="0"/>
          </a:p>
        </p:txBody>
      </p:sp>
      <p:sp>
        <p:nvSpPr>
          <p:cNvPr id="14" name="Step marker 3"/>
          <p:cNvSpPr/>
          <p:nvPr/>
        </p:nvSpPr>
        <p:spPr>
          <a:xfrm>
            <a:off x="5004694" y="2633472"/>
            <a:ext cx="128016" cy="128016"/>
          </a:xfrm>
          <a:prstGeom prst="ellipse">
            <a:avLst/>
          </a:prstGeom>
          <a:solidFill>
            <a:schemeClr val="tx1"/>
          </a:solidFill>
          <a:ln/>
        </p:spPr>
      </p:sp>
      <p:sp>
        <p:nvSpPr>
          <p:cNvPr id="15" name="Text 13"/>
          <p:cNvSpPr txBox="1"/>
          <p:nvPr/>
        </p:nvSpPr>
        <p:spPr>
          <a:xfrm>
            <a:off x="5004694" y="2971800"/>
            <a:ext cx="1907987" cy="457200"/>
          </a:xfrm>
          <a:prstGeom prst="rect">
            <a:avLst/>
          </a:prstGeom>
          <a:noFill/>
          <a:ln/>
        </p:spPr>
        <p:txBody>
          <a:bodyPr wrap="square" lIns="0" tIns="0" rIns="0" bIns="0" rtlCol="0" anchor="t"/>
          <a:lstStyle/>
          <a:p>
            <a:pPr indent="0" marL="0">
              <a:buNone/>
            </a:pPr>
            <a:r>
              <a:rPr lang="en-US" sz="2200" b="1" dirty="0">
                <a:solidFill>
                  <a:schemeClr val="tx1"/>
                </a:solidFill>
              </a:rPr>
              <a:t>Document</a:t>
            </a:r>
            <a:endParaRPr lang="en-US" sz="2200" dirty="0"/>
          </a:p>
        </p:txBody>
      </p:sp>
      <p:sp>
        <p:nvSpPr>
          <p:cNvPr id="16" name="Text 14"/>
          <p:cNvSpPr txBox="1"/>
          <p:nvPr/>
        </p:nvSpPr>
        <p:spPr>
          <a:xfrm>
            <a:off x="5004694" y="3520440"/>
            <a:ext cx="1862267" cy="1280160"/>
          </a:xfrm>
          <a:prstGeom prst="rect">
            <a:avLst/>
          </a:prstGeom>
          <a:noFill/>
          <a:ln/>
        </p:spPr>
        <p:txBody>
          <a:bodyPr wrap="square" lIns="0" tIns="0" rIns="0" bIns="0" rtlCol="0" anchor="t"/>
          <a:lstStyle/>
          <a:p>
            <a:pPr indent="0" marL="0">
              <a:lnSpc>
                <a:spcPct val="120000"/>
              </a:lnSpc>
              <a:buNone/>
            </a:pPr>
            <a:r>
              <a:rPr lang="en-US" sz="1600" dirty="0">
                <a:solidFill>
                  <a:schemeClr val="tx2"/>
                </a:solidFill>
              </a:rPr>
              <a:t>Credit documents, drawings and model files.</a:t>
            </a:r>
            <a:endParaRPr lang="en-US" sz="1600" dirty="0"/>
          </a:p>
        </p:txBody>
      </p:sp>
      <p:sp>
        <p:nvSpPr>
          <p:cNvPr id="17" name="Text 15"/>
          <p:cNvSpPr txBox="1"/>
          <p:nvPr/>
        </p:nvSpPr>
        <p:spPr>
          <a:xfrm>
            <a:off x="7187001" y="1828800"/>
            <a:ext cx="1097280" cy="731520"/>
          </a:xfrm>
          <a:prstGeom prst="rect">
            <a:avLst/>
          </a:prstGeom>
          <a:noFill/>
          <a:ln/>
        </p:spPr>
        <p:txBody>
          <a:bodyPr wrap="square" lIns="0" tIns="0" rIns="0" bIns="0" rtlCol="0" anchor="b"/>
          <a:lstStyle/>
          <a:p>
            <a:pPr indent="0" marL="0">
              <a:buNone/>
            </a:pPr>
            <a:r>
              <a:rPr lang="en-US" sz="4400" b="1" dirty="0">
                <a:solidFill>
                  <a:schemeClr val="accent1"/>
                </a:solidFill>
              </a:rPr>
              <a:t>04</a:t>
            </a:r>
            <a:endParaRPr lang="en-US" sz="4400" dirty="0"/>
          </a:p>
        </p:txBody>
      </p:sp>
      <p:sp>
        <p:nvSpPr>
          <p:cNvPr id="18" name="Step marker 4"/>
          <p:cNvSpPr/>
          <p:nvPr/>
        </p:nvSpPr>
        <p:spPr>
          <a:xfrm>
            <a:off x="7187001" y="2633472"/>
            <a:ext cx="128016" cy="128016"/>
          </a:xfrm>
          <a:prstGeom prst="ellipse">
            <a:avLst/>
          </a:prstGeom>
          <a:solidFill>
            <a:schemeClr val="tx1"/>
          </a:solidFill>
          <a:ln/>
        </p:spPr>
      </p:sp>
      <p:sp>
        <p:nvSpPr>
          <p:cNvPr id="19" name="Text 17"/>
          <p:cNvSpPr txBox="1"/>
          <p:nvPr/>
        </p:nvSpPr>
        <p:spPr>
          <a:xfrm>
            <a:off x="7187001" y="2971800"/>
            <a:ext cx="1907987" cy="457200"/>
          </a:xfrm>
          <a:prstGeom prst="rect">
            <a:avLst/>
          </a:prstGeom>
          <a:noFill/>
          <a:ln/>
        </p:spPr>
        <p:txBody>
          <a:bodyPr wrap="square" lIns="0" tIns="0" rIns="0" bIns="0" rtlCol="0" anchor="t"/>
          <a:lstStyle/>
          <a:p>
            <a:pPr indent="0" marL="0">
              <a:buNone/>
            </a:pPr>
            <a:r>
              <a:rPr lang="en-US" sz="2200" b="1" dirty="0">
                <a:solidFill>
                  <a:schemeClr val="tx1"/>
                </a:solidFill>
              </a:rPr>
              <a:t>Submit</a:t>
            </a:r>
            <a:endParaRPr lang="en-US" sz="2200" dirty="0"/>
          </a:p>
        </p:txBody>
      </p:sp>
      <p:sp>
        <p:nvSpPr>
          <p:cNvPr id="20" name="Text 18"/>
          <p:cNvSpPr txBox="1"/>
          <p:nvPr/>
        </p:nvSpPr>
        <p:spPr>
          <a:xfrm>
            <a:off x="7187001" y="3520440"/>
            <a:ext cx="1862267" cy="1280160"/>
          </a:xfrm>
          <a:prstGeom prst="rect">
            <a:avLst/>
          </a:prstGeom>
          <a:noFill/>
          <a:ln/>
        </p:spPr>
        <p:txBody>
          <a:bodyPr wrap="square" lIns="0" tIns="0" rIns="0" bIns="0" rtlCol="0" anchor="t"/>
          <a:lstStyle/>
          <a:p>
            <a:pPr indent="0" marL="0">
              <a:lnSpc>
                <a:spcPct val="120000"/>
              </a:lnSpc>
              <a:buNone/>
            </a:pPr>
            <a:r>
              <a:rPr lang="en-US" sz="1600" dirty="0">
                <a:solidFill>
                  <a:schemeClr val="tx2"/>
                </a:solidFill>
              </a:rPr>
              <a:t>Upload, reviewer queries and any appeals.</a:t>
            </a:r>
            <a:endParaRPr lang="en-US" sz="1600" dirty="0"/>
          </a:p>
        </p:txBody>
      </p:sp>
      <p:sp>
        <p:nvSpPr>
          <p:cNvPr id="21" name="Text 19"/>
          <p:cNvSpPr txBox="1"/>
          <p:nvPr/>
        </p:nvSpPr>
        <p:spPr>
          <a:xfrm>
            <a:off x="9369308" y="1828800"/>
            <a:ext cx="1097280" cy="731520"/>
          </a:xfrm>
          <a:prstGeom prst="rect">
            <a:avLst/>
          </a:prstGeom>
          <a:noFill/>
          <a:ln/>
        </p:spPr>
        <p:txBody>
          <a:bodyPr wrap="square" lIns="0" tIns="0" rIns="0" bIns="0" rtlCol="0" anchor="b"/>
          <a:lstStyle/>
          <a:p>
            <a:pPr indent="0" marL="0">
              <a:buNone/>
            </a:pPr>
            <a:r>
              <a:rPr lang="en-US" sz="4400" b="1" dirty="0">
                <a:solidFill>
                  <a:schemeClr val="accent1"/>
                </a:solidFill>
              </a:rPr>
              <a:t>05</a:t>
            </a:r>
            <a:endParaRPr lang="en-US" sz="4400" dirty="0"/>
          </a:p>
        </p:txBody>
      </p:sp>
      <p:sp>
        <p:nvSpPr>
          <p:cNvPr id="22" name="Step marker 5"/>
          <p:cNvSpPr/>
          <p:nvPr/>
        </p:nvSpPr>
        <p:spPr>
          <a:xfrm>
            <a:off x="9369308" y="2633472"/>
            <a:ext cx="128016" cy="128016"/>
          </a:xfrm>
          <a:prstGeom prst="ellipse">
            <a:avLst/>
          </a:prstGeom>
          <a:solidFill>
            <a:schemeClr val="tx1"/>
          </a:solidFill>
          <a:ln/>
        </p:spPr>
      </p:sp>
      <p:sp>
        <p:nvSpPr>
          <p:cNvPr id="23" name="Text 21"/>
          <p:cNvSpPr txBox="1"/>
          <p:nvPr/>
        </p:nvSpPr>
        <p:spPr>
          <a:xfrm>
            <a:off x="9369308" y="2971800"/>
            <a:ext cx="1907987" cy="457200"/>
          </a:xfrm>
          <a:prstGeom prst="rect">
            <a:avLst/>
          </a:prstGeom>
          <a:noFill/>
          <a:ln/>
        </p:spPr>
        <p:txBody>
          <a:bodyPr wrap="square" lIns="0" tIns="0" rIns="0" bIns="0" rtlCol="0" anchor="t"/>
          <a:lstStyle/>
          <a:p>
            <a:pPr indent="0" marL="0">
              <a:buNone/>
            </a:pPr>
            <a:r>
              <a:rPr lang="en-US" sz="2200" b="1" dirty="0">
                <a:solidFill>
                  <a:schemeClr val="tx1"/>
                </a:solidFill>
              </a:rPr>
              <a:t>Certify</a:t>
            </a:r>
            <a:endParaRPr lang="en-US" sz="2200" dirty="0"/>
          </a:p>
        </p:txBody>
      </p:sp>
      <p:sp>
        <p:nvSpPr>
          <p:cNvPr id="24" name="Text 22"/>
          <p:cNvSpPr txBox="1"/>
          <p:nvPr/>
        </p:nvSpPr>
        <p:spPr>
          <a:xfrm>
            <a:off x="9369308" y="3520440"/>
            <a:ext cx="1862267" cy="1280160"/>
          </a:xfrm>
          <a:prstGeom prst="rect">
            <a:avLst/>
          </a:prstGeom>
          <a:noFill/>
          <a:ln/>
        </p:spPr>
        <p:txBody>
          <a:bodyPr wrap="square" lIns="0" tIns="0" rIns="0" bIns="0" rtlCol="0" anchor="t"/>
          <a:lstStyle/>
          <a:p>
            <a:pPr indent="0" marL="0">
              <a:lnSpc>
                <a:spcPct val="120000"/>
              </a:lnSpc>
              <a:buNone/>
            </a:pPr>
            <a:r>
              <a:rPr lang="en-US" sz="1600" dirty="0">
                <a:solidFill>
                  <a:schemeClr val="tx2"/>
                </a:solidFill>
              </a:rPr>
              <a:t>Award, handover, then re-certification and reporting.</a:t>
            </a:r>
            <a:endParaRPr lang="en-US" sz="1600" dirty="0"/>
          </a:p>
        </p:txBody>
      </p:sp>
      <p:sp>
        <p:nvSpPr>
          <p:cNvPr id="25" name="Promise panel"/>
          <p:cNvSpPr/>
          <p:nvPr/>
        </p:nvSpPr>
        <p:spPr>
          <a:xfrm>
            <a:off x="640080" y="5120640"/>
            <a:ext cx="10911535" cy="777240"/>
          </a:xfrm>
          <a:prstGeom prst="rect">
            <a:avLst/>
          </a:prstGeom>
          <a:solidFill>
            <a:schemeClr val="bg2"/>
          </a:solidFill>
          <a:ln/>
        </p:spPr>
      </p:sp>
      <p:sp>
        <p:nvSpPr>
          <p:cNvPr id="26" name="Text 24"/>
          <p:cNvSpPr txBox="1"/>
          <p:nvPr/>
        </p:nvSpPr>
        <p:spPr>
          <a:xfrm>
            <a:off x="960120" y="5120640"/>
            <a:ext cx="10271455" cy="777240"/>
          </a:xfrm>
          <a:prstGeom prst="rect">
            <a:avLst/>
          </a:prstGeom>
          <a:noFill/>
          <a:ln/>
        </p:spPr>
        <p:txBody>
          <a:bodyPr wrap="square" lIns="0" tIns="0" rIns="0" bIns="0" rtlCol="0" anchor="ctr"/>
          <a:lstStyle/>
          <a:p>
            <a:pPr indent="0" marL="0">
              <a:buNone/>
            </a:pPr>
            <a:r>
              <a:rPr lang="en-US" sz="1600" b="1" dirty="0">
                <a:solidFill>
                  <a:schemeClr val="tx1"/>
                </a:solidFill>
              </a:rPr>
              <a:t>What you can expect:  </a:t>
            </a:r>
            <a:pPr indent="0" marL="0">
              <a:buNone/>
            </a:pPr>
            <a:r>
              <a:rPr lang="en-US" sz="1600" dirty="0">
                <a:solidFill>
                  <a:schemeClr val="tx2"/>
                </a:solidFill>
              </a:rPr>
              <a:t>a timeline agreed up front, a direct line to the founder, and no surprise costs.</a:t>
            </a:r>
            <a:endParaRPr lang="en-US" sz="16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ection label"/>
          <p:cNvSpPr txBox="1"/>
          <p:nvPr/>
        </p:nvSpPr>
        <p:spPr>
          <a:xfrm>
            <a:off x="640080" y="411480"/>
            <a:ext cx="10911535"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04   ENGAGEMENT</a:t>
            </a:r>
            <a:endParaRPr lang="en-US" sz="1200" dirty="0"/>
          </a:p>
        </p:txBody>
      </p:sp>
      <p:sp>
        <p:nvSpPr>
          <p:cNvPr id="3" name="Text 1"/>
          <p:cNvSpPr/>
          <p:nvPr>
            <p:ph idx="102" type="title" hasCustomPrompt="1"/>
          </p:nvPr>
        </p:nvSpPr>
        <p:spPr>
          <a:xfrm>
            <a:off x="640080" y="777240"/>
            <a:ext cx="10911535" cy="685800"/>
          </a:xfrm>
          <a:prstGeom prst="rect">
            <a:avLst/>
          </a:prstGeom>
          <a:noFill/>
          <a:ln/>
        </p:spPr>
        <p:txBody>
          <a:bodyPr wrap="square" lIns="0" tIns="0" rIns="0" bIns="0" rtlCol="0" anchor="t"/>
          <a:lstStyle/>
          <a:p>
            <a:pPr algn="l" indent="0" marL="0">
              <a:buNone/>
            </a:pPr>
            <a:r>
              <a:rPr lang="en-US" sz="3000" b="1" dirty="0">
                <a:solidFill>
                  <a:schemeClr val="tx1"/>
                </a:solidFill>
              </a:rPr>
              <a:t>Start with a free review, or bring us in for the whole job</a:t>
            </a:r>
            <a:endParaRPr lang="en-US" sz="3000" dirty="0"/>
          </a:p>
        </p:txBody>
      </p:sp>
      <p:sp>
        <p:nvSpPr>
          <p:cNvPr id="4" name="Engagement panel 1"/>
          <p:cNvSpPr/>
          <p:nvPr/>
        </p:nvSpPr>
        <p:spPr>
          <a:xfrm>
            <a:off x="640080" y="1828800"/>
            <a:ext cx="2522144" cy="4023360"/>
          </a:xfrm>
          <a:prstGeom prst="rect">
            <a:avLst/>
          </a:prstGeom>
          <a:solidFill>
            <a:schemeClr val="accent1"/>
          </a:solidFill>
          <a:ln/>
        </p:spPr>
      </p:sp>
      <p:sp>
        <p:nvSpPr>
          <p:cNvPr id="5" name="Text 3"/>
          <p:cNvSpPr txBox="1"/>
          <p:nvPr/>
        </p:nvSpPr>
        <p:spPr>
          <a:xfrm>
            <a:off x="914400" y="2103120"/>
            <a:ext cx="1973504" cy="274320"/>
          </a:xfrm>
          <a:prstGeom prst="rect">
            <a:avLst/>
          </a:prstGeom>
          <a:noFill/>
          <a:ln/>
        </p:spPr>
        <p:txBody>
          <a:bodyPr wrap="square" lIns="0" tIns="0" rIns="0" bIns="0" rtlCol="0" anchor="t"/>
          <a:lstStyle/>
          <a:p>
            <a:pPr indent="0" marL="0">
              <a:buNone/>
            </a:pPr>
            <a:r>
              <a:rPr lang="en-US" sz="1200" b="1" spc="200" kern="0" dirty="0">
                <a:solidFill>
                  <a:schemeClr val="bg1"/>
                </a:solidFill>
              </a:rPr>
              <a:t>START HERE</a:t>
            </a:r>
            <a:endParaRPr lang="en-US" sz="1200" dirty="0"/>
          </a:p>
        </p:txBody>
      </p:sp>
      <p:sp>
        <p:nvSpPr>
          <p:cNvPr id="6" name="Text 4"/>
          <p:cNvSpPr txBox="1"/>
          <p:nvPr/>
        </p:nvSpPr>
        <p:spPr>
          <a:xfrm>
            <a:off x="914400" y="2560320"/>
            <a:ext cx="1973504" cy="822960"/>
          </a:xfrm>
          <a:prstGeom prst="rect">
            <a:avLst/>
          </a:prstGeom>
          <a:noFill/>
          <a:ln/>
        </p:spPr>
        <p:txBody>
          <a:bodyPr wrap="square" lIns="0" tIns="0" rIns="0" bIns="0" rtlCol="0" anchor="t"/>
          <a:lstStyle/>
          <a:p>
            <a:pPr indent="0" marL="0">
              <a:buNone/>
            </a:pPr>
            <a:r>
              <a:rPr lang="en-US" sz="2200" b="1" dirty="0">
                <a:solidFill>
                  <a:schemeClr val="bg1"/>
                </a:solidFill>
              </a:rPr>
              <a:t>Feasibility review</a:t>
            </a:r>
            <a:endParaRPr lang="en-US" sz="2200" dirty="0"/>
          </a:p>
        </p:txBody>
      </p:sp>
      <p:sp>
        <p:nvSpPr>
          <p:cNvPr id="7" name="Text 5"/>
          <p:cNvSpPr txBox="1"/>
          <p:nvPr/>
        </p:nvSpPr>
        <p:spPr>
          <a:xfrm>
            <a:off x="914400" y="3474720"/>
            <a:ext cx="1973504" cy="457200"/>
          </a:xfrm>
          <a:prstGeom prst="rect">
            <a:avLst/>
          </a:prstGeom>
          <a:noFill/>
          <a:ln/>
        </p:spPr>
        <p:txBody>
          <a:bodyPr wrap="square" lIns="0" tIns="0" rIns="0" bIns="0" rtlCol="0" anchor="t"/>
          <a:lstStyle/>
          <a:p>
            <a:pPr indent="0" marL="0">
              <a:buNone/>
            </a:pPr>
            <a:r>
              <a:rPr lang="en-US" sz="1400" dirty="0">
                <a:solidFill>
                  <a:schemeClr val="bg1"/>
                </a:solidFill>
              </a:rPr>
              <a:t>Best for  </a:t>
            </a:r>
            <a:pPr indent="0" marL="0">
              <a:buNone/>
            </a:pPr>
            <a:r>
              <a:rPr lang="en-US" sz="1400" b="1" dirty="0">
                <a:solidFill>
                  <a:schemeClr val="bg1"/>
                </a:solidFill>
              </a:rPr>
              <a:t>Any new project</a:t>
            </a:r>
            <a:endParaRPr lang="en-US" sz="1400" dirty="0"/>
          </a:p>
        </p:txBody>
      </p:sp>
      <p:sp>
        <p:nvSpPr>
          <p:cNvPr id="8" name="Text 6"/>
          <p:cNvSpPr txBox="1"/>
          <p:nvPr/>
        </p:nvSpPr>
        <p:spPr>
          <a:xfrm>
            <a:off x="914400" y="4069080"/>
            <a:ext cx="1973504" cy="1645920"/>
          </a:xfrm>
          <a:prstGeom prst="rect">
            <a:avLst/>
          </a:prstGeom>
          <a:noFill/>
          <a:ln/>
        </p:spPr>
        <p:txBody>
          <a:bodyPr wrap="square" lIns="0" tIns="0" rIns="0" bIns="0" rtlCol="0" anchor="t"/>
          <a:lstStyle/>
          <a:p>
            <a:pPr indent="0" marL="0">
              <a:lnSpc>
                <a:spcPct val="120000"/>
              </a:lnSpc>
              <a:buNone/>
            </a:pPr>
            <a:r>
              <a:rPr lang="en-US" sz="1600" dirty="0">
                <a:solidFill>
                  <a:schemeClr val="bg1"/>
                </a:solidFill>
              </a:rPr>
              <a:t>Best-fit system, target rating and the main gaps. Free, with a written fee proposal after.</a:t>
            </a:r>
            <a:endParaRPr lang="en-US" sz="1600" dirty="0"/>
          </a:p>
        </p:txBody>
      </p:sp>
      <p:sp>
        <p:nvSpPr>
          <p:cNvPr id="9" name="Engagement panel 2"/>
          <p:cNvSpPr/>
          <p:nvPr/>
        </p:nvSpPr>
        <p:spPr>
          <a:xfrm>
            <a:off x="3436544" y="1828800"/>
            <a:ext cx="2522144" cy="4023360"/>
          </a:xfrm>
          <a:prstGeom prst="rect">
            <a:avLst/>
          </a:prstGeom>
          <a:solidFill>
            <a:schemeClr val="bg2"/>
          </a:solidFill>
          <a:ln/>
        </p:spPr>
      </p:sp>
      <p:sp>
        <p:nvSpPr>
          <p:cNvPr id="10" name="Text 8"/>
          <p:cNvSpPr txBox="1"/>
          <p:nvPr/>
        </p:nvSpPr>
        <p:spPr>
          <a:xfrm>
            <a:off x="3710864" y="2103120"/>
            <a:ext cx="1973504"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02</a:t>
            </a:r>
            <a:endParaRPr lang="en-US" sz="1200" dirty="0"/>
          </a:p>
        </p:txBody>
      </p:sp>
      <p:sp>
        <p:nvSpPr>
          <p:cNvPr id="11" name="Text 9"/>
          <p:cNvSpPr txBox="1"/>
          <p:nvPr/>
        </p:nvSpPr>
        <p:spPr>
          <a:xfrm>
            <a:off x="3710864" y="2560320"/>
            <a:ext cx="1973504" cy="822960"/>
          </a:xfrm>
          <a:prstGeom prst="rect">
            <a:avLst/>
          </a:prstGeom>
          <a:noFill/>
          <a:ln/>
        </p:spPr>
        <p:txBody>
          <a:bodyPr wrap="square" lIns="0" tIns="0" rIns="0" bIns="0" rtlCol="0" anchor="t"/>
          <a:lstStyle/>
          <a:p>
            <a:pPr indent="0" marL="0">
              <a:buNone/>
            </a:pPr>
            <a:r>
              <a:rPr lang="en-US" sz="2200" b="1" dirty="0">
                <a:solidFill>
                  <a:schemeClr val="tx1"/>
                </a:solidFill>
              </a:rPr>
              <a:t>Certification, end to end</a:t>
            </a:r>
            <a:endParaRPr lang="en-US" sz="2200" dirty="0"/>
          </a:p>
        </p:txBody>
      </p:sp>
      <p:sp>
        <p:nvSpPr>
          <p:cNvPr id="12" name="Text 10"/>
          <p:cNvSpPr txBox="1"/>
          <p:nvPr/>
        </p:nvSpPr>
        <p:spPr>
          <a:xfrm>
            <a:off x="3710864" y="3474720"/>
            <a:ext cx="1973504" cy="457200"/>
          </a:xfrm>
          <a:prstGeom prst="rect">
            <a:avLst/>
          </a:prstGeom>
          <a:noFill/>
          <a:ln/>
        </p:spPr>
        <p:txBody>
          <a:bodyPr wrap="square" lIns="0" tIns="0" rIns="0" bIns="0" rtlCol="0" anchor="t"/>
          <a:lstStyle/>
          <a:p>
            <a:pPr indent="0" marL="0">
              <a:buNone/>
            </a:pPr>
            <a:r>
              <a:rPr lang="en-US" sz="1400" dirty="0">
                <a:solidFill>
                  <a:schemeClr val="accent2"/>
                </a:solidFill>
              </a:rPr>
              <a:t>Best for  </a:t>
            </a:r>
            <a:pPr indent="0" marL="0">
              <a:buNone/>
            </a:pPr>
            <a:r>
              <a:rPr lang="en-US" sz="1400" b="1" dirty="0">
                <a:solidFill>
                  <a:schemeClr val="accent2"/>
                </a:solidFill>
              </a:rPr>
              <a:t>Developers and owners</a:t>
            </a:r>
            <a:endParaRPr lang="en-US" sz="1400" dirty="0"/>
          </a:p>
        </p:txBody>
      </p:sp>
      <p:sp>
        <p:nvSpPr>
          <p:cNvPr id="13" name="Text 11"/>
          <p:cNvSpPr txBox="1"/>
          <p:nvPr/>
        </p:nvSpPr>
        <p:spPr>
          <a:xfrm>
            <a:off x="3710864" y="4069080"/>
            <a:ext cx="1973504" cy="1645920"/>
          </a:xfrm>
          <a:prstGeom prst="rect">
            <a:avLst/>
          </a:prstGeom>
          <a:noFill/>
          <a:ln/>
        </p:spPr>
        <p:txBody>
          <a:bodyPr wrap="square" lIns="0" tIns="0" rIns="0" bIns="0" rtlCol="0" anchor="t"/>
          <a:lstStyle/>
          <a:p>
            <a:pPr indent="0" marL="0">
              <a:lnSpc>
                <a:spcPct val="120000"/>
              </a:lnSpc>
              <a:buNone/>
            </a:pPr>
            <a:r>
              <a:rPr lang="en-US" sz="1600" dirty="0">
                <a:solidFill>
                  <a:schemeClr val="tx2"/>
                </a:solidFill>
              </a:rPr>
              <a:t>Registration, modelling, documents, submission and reviewer responses, through to award.</a:t>
            </a:r>
            <a:endParaRPr lang="en-US" sz="1600" dirty="0"/>
          </a:p>
        </p:txBody>
      </p:sp>
      <p:sp>
        <p:nvSpPr>
          <p:cNvPr id="14" name="Engagement panel 3"/>
          <p:cNvSpPr/>
          <p:nvPr/>
        </p:nvSpPr>
        <p:spPr>
          <a:xfrm>
            <a:off x="6233008" y="1828800"/>
            <a:ext cx="2522144" cy="4023360"/>
          </a:xfrm>
          <a:prstGeom prst="rect">
            <a:avLst/>
          </a:prstGeom>
          <a:solidFill>
            <a:schemeClr val="bg2"/>
          </a:solidFill>
          <a:ln/>
        </p:spPr>
      </p:sp>
      <p:sp>
        <p:nvSpPr>
          <p:cNvPr id="15" name="Text 13"/>
          <p:cNvSpPr txBox="1"/>
          <p:nvPr/>
        </p:nvSpPr>
        <p:spPr>
          <a:xfrm>
            <a:off x="6507328" y="2103120"/>
            <a:ext cx="1973504"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03</a:t>
            </a:r>
            <a:endParaRPr lang="en-US" sz="1200" dirty="0"/>
          </a:p>
        </p:txBody>
      </p:sp>
      <p:sp>
        <p:nvSpPr>
          <p:cNvPr id="16" name="Text 14"/>
          <p:cNvSpPr txBox="1"/>
          <p:nvPr/>
        </p:nvSpPr>
        <p:spPr>
          <a:xfrm>
            <a:off x="6507328" y="2560320"/>
            <a:ext cx="1973504" cy="822960"/>
          </a:xfrm>
          <a:prstGeom prst="rect">
            <a:avLst/>
          </a:prstGeom>
          <a:noFill/>
          <a:ln/>
        </p:spPr>
        <p:txBody>
          <a:bodyPr wrap="square" lIns="0" tIns="0" rIns="0" bIns="0" rtlCol="0" anchor="t"/>
          <a:lstStyle/>
          <a:p>
            <a:pPr indent="0" marL="0">
              <a:buNone/>
            </a:pPr>
            <a:r>
              <a:rPr lang="en-US" sz="2200" b="1" dirty="0">
                <a:solidFill>
                  <a:schemeClr val="tx1"/>
                </a:solidFill>
              </a:rPr>
              <a:t>Simulation support</a:t>
            </a:r>
            <a:endParaRPr lang="en-US" sz="2200" dirty="0"/>
          </a:p>
        </p:txBody>
      </p:sp>
      <p:sp>
        <p:nvSpPr>
          <p:cNvPr id="17" name="Text 15"/>
          <p:cNvSpPr txBox="1"/>
          <p:nvPr/>
        </p:nvSpPr>
        <p:spPr>
          <a:xfrm>
            <a:off x="6507328" y="3474720"/>
            <a:ext cx="1973504" cy="457200"/>
          </a:xfrm>
          <a:prstGeom prst="rect">
            <a:avLst/>
          </a:prstGeom>
          <a:noFill/>
          <a:ln/>
        </p:spPr>
        <p:txBody>
          <a:bodyPr wrap="square" lIns="0" tIns="0" rIns="0" bIns="0" rtlCol="0" anchor="t"/>
          <a:lstStyle/>
          <a:p>
            <a:pPr indent="0" marL="0">
              <a:buNone/>
            </a:pPr>
            <a:r>
              <a:rPr lang="en-US" sz="1400" dirty="0">
                <a:solidFill>
                  <a:schemeClr val="accent2"/>
                </a:solidFill>
              </a:rPr>
              <a:t>Best for  </a:t>
            </a:r>
            <a:pPr indent="0" marL="0">
              <a:buNone/>
            </a:pPr>
            <a:r>
              <a:rPr lang="en-US" sz="1400" b="1" dirty="0">
                <a:solidFill>
                  <a:schemeClr val="accent2"/>
                </a:solidFill>
              </a:rPr>
              <a:t>Architects and MEP teams</a:t>
            </a:r>
            <a:endParaRPr lang="en-US" sz="1400" dirty="0"/>
          </a:p>
        </p:txBody>
      </p:sp>
      <p:sp>
        <p:nvSpPr>
          <p:cNvPr id="18" name="Text 16"/>
          <p:cNvSpPr txBox="1"/>
          <p:nvPr/>
        </p:nvSpPr>
        <p:spPr>
          <a:xfrm>
            <a:off x="6507328" y="4069080"/>
            <a:ext cx="1973504" cy="1645920"/>
          </a:xfrm>
          <a:prstGeom prst="rect">
            <a:avLst/>
          </a:prstGeom>
          <a:noFill/>
          <a:ln/>
        </p:spPr>
        <p:txBody>
          <a:bodyPr wrap="square" lIns="0" tIns="0" rIns="0" bIns="0" rtlCol="0" anchor="t"/>
          <a:lstStyle/>
          <a:p>
            <a:pPr indent="0" marL="0">
              <a:lnSpc>
                <a:spcPct val="120000"/>
              </a:lnSpc>
              <a:buNone/>
            </a:pPr>
            <a:r>
              <a:rPr lang="en-US" sz="1600" dirty="0">
                <a:solidFill>
                  <a:schemeClr val="tx2"/>
                </a:solidFill>
              </a:rPr>
              <a:t>Energy, daylight and microclimate studies, delivered to your design programme.</a:t>
            </a:r>
            <a:endParaRPr lang="en-US" sz="1600" dirty="0"/>
          </a:p>
        </p:txBody>
      </p:sp>
      <p:sp>
        <p:nvSpPr>
          <p:cNvPr id="19" name="Engagement panel 4"/>
          <p:cNvSpPr/>
          <p:nvPr/>
        </p:nvSpPr>
        <p:spPr>
          <a:xfrm>
            <a:off x="9029471" y="1828800"/>
            <a:ext cx="2522144" cy="4023360"/>
          </a:xfrm>
          <a:prstGeom prst="rect">
            <a:avLst/>
          </a:prstGeom>
          <a:solidFill>
            <a:schemeClr val="bg2"/>
          </a:solidFill>
          <a:ln/>
        </p:spPr>
      </p:sp>
      <p:sp>
        <p:nvSpPr>
          <p:cNvPr id="20" name="Text 18"/>
          <p:cNvSpPr txBox="1"/>
          <p:nvPr/>
        </p:nvSpPr>
        <p:spPr>
          <a:xfrm>
            <a:off x="9303791" y="2103120"/>
            <a:ext cx="1973504"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04</a:t>
            </a:r>
            <a:endParaRPr lang="en-US" sz="1200" dirty="0"/>
          </a:p>
        </p:txBody>
      </p:sp>
      <p:sp>
        <p:nvSpPr>
          <p:cNvPr id="21" name="Text 19"/>
          <p:cNvSpPr txBox="1"/>
          <p:nvPr/>
        </p:nvSpPr>
        <p:spPr>
          <a:xfrm>
            <a:off x="9303791" y="2560320"/>
            <a:ext cx="1973504" cy="822960"/>
          </a:xfrm>
          <a:prstGeom prst="rect">
            <a:avLst/>
          </a:prstGeom>
          <a:noFill/>
          <a:ln/>
        </p:spPr>
        <p:txBody>
          <a:bodyPr wrap="square" lIns="0" tIns="0" rIns="0" bIns="0" rtlCol="0" anchor="t"/>
          <a:lstStyle/>
          <a:p>
            <a:pPr indent="0" marL="0">
              <a:buNone/>
            </a:pPr>
            <a:r>
              <a:rPr lang="en-US" sz="2200" b="1" dirty="0">
                <a:solidFill>
                  <a:schemeClr val="tx1"/>
                </a:solidFill>
              </a:rPr>
              <a:t>Carbon and ESG</a:t>
            </a:r>
            <a:endParaRPr lang="en-US" sz="2200" dirty="0"/>
          </a:p>
        </p:txBody>
      </p:sp>
      <p:sp>
        <p:nvSpPr>
          <p:cNvPr id="22" name="Text 20"/>
          <p:cNvSpPr txBox="1"/>
          <p:nvPr/>
        </p:nvSpPr>
        <p:spPr>
          <a:xfrm>
            <a:off x="9303791" y="3474720"/>
            <a:ext cx="1973504" cy="457200"/>
          </a:xfrm>
          <a:prstGeom prst="rect">
            <a:avLst/>
          </a:prstGeom>
          <a:noFill/>
          <a:ln/>
        </p:spPr>
        <p:txBody>
          <a:bodyPr wrap="square" lIns="0" tIns="0" rIns="0" bIns="0" rtlCol="0" anchor="t"/>
          <a:lstStyle/>
          <a:p>
            <a:pPr indent="0" marL="0">
              <a:buNone/>
            </a:pPr>
            <a:r>
              <a:rPr lang="en-US" sz="1400" dirty="0">
                <a:solidFill>
                  <a:schemeClr val="accent2"/>
                </a:solidFill>
              </a:rPr>
              <a:t>Best for  </a:t>
            </a:r>
            <a:pPr indent="0" marL="0">
              <a:buNone/>
            </a:pPr>
            <a:r>
              <a:rPr lang="en-US" sz="1400" b="1" dirty="0">
                <a:solidFill>
                  <a:schemeClr val="accent2"/>
                </a:solidFill>
              </a:rPr>
              <a:t>Manufacturers, listed firms</a:t>
            </a:r>
            <a:endParaRPr lang="en-US" sz="1400" dirty="0"/>
          </a:p>
        </p:txBody>
      </p:sp>
      <p:sp>
        <p:nvSpPr>
          <p:cNvPr id="23" name="Text 21"/>
          <p:cNvSpPr txBox="1"/>
          <p:nvPr/>
        </p:nvSpPr>
        <p:spPr>
          <a:xfrm>
            <a:off x="9303791" y="4069080"/>
            <a:ext cx="1973504" cy="1645920"/>
          </a:xfrm>
          <a:prstGeom prst="rect">
            <a:avLst/>
          </a:prstGeom>
          <a:noFill/>
          <a:ln/>
        </p:spPr>
        <p:txBody>
          <a:bodyPr wrap="square" lIns="0" tIns="0" rIns="0" bIns="0" rtlCol="0" anchor="t"/>
          <a:lstStyle/>
          <a:p>
            <a:pPr indent="0" marL="0">
              <a:lnSpc>
                <a:spcPct val="120000"/>
              </a:lnSpc>
              <a:buNone/>
            </a:pPr>
            <a:r>
              <a:rPr lang="en-US" sz="1600" dirty="0">
                <a:solidFill>
                  <a:schemeClr val="tx2"/>
                </a:solidFill>
              </a:rPr>
              <a:t>GHG inventories, LCA and EPDs, CBAM data and BRSR reporting.</a:t>
            </a:r>
            <a:endParaRPr lang="en-US" sz="16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640080" y="640080"/>
            <a:ext cx="5486400" cy="274320"/>
          </a:xfrm>
          <a:prstGeom prst="rect">
            <a:avLst/>
          </a:prstGeom>
          <a:noFill/>
          <a:ln/>
        </p:spPr>
        <p:txBody>
          <a:bodyPr wrap="square" lIns="0" tIns="0" rIns="0" bIns="0" rtlCol="0" anchor="t"/>
          <a:lstStyle/>
          <a:p>
            <a:pPr indent="0" marL="0">
              <a:buNone/>
            </a:pPr>
            <a:r>
              <a:rPr lang="en-US" sz="1200" b="1" spc="300" kern="0" dirty="0">
                <a:solidFill>
                  <a:schemeClr val="accent2"/>
                </a:solidFill>
              </a:rPr>
              <a:t>NEXT STEP</a:t>
            </a:r>
            <a:endParaRPr lang="en-US" sz="1200" dirty="0"/>
          </a:p>
        </p:txBody>
      </p:sp>
      <p:sp>
        <p:nvSpPr>
          <p:cNvPr id="3" name="Text 1"/>
          <p:cNvSpPr txBox="1"/>
          <p:nvPr/>
        </p:nvSpPr>
        <p:spPr>
          <a:xfrm>
            <a:off x="640080" y="1005840"/>
            <a:ext cx="6766560" cy="1371600"/>
          </a:xfrm>
          <a:prstGeom prst="rect">
            <a:avLst/>
          </a:prstGeom>
          <a:noFill/>
          <a:ln/>
        </p:spPr>
        <p:txBody>
          <a:bodyPr wrap="square" lIns="0" tIns="0" rIns="0" bIns="0" rtlCol="0" anchor="t"/>
          <a:lstStyle/>
          <a:p>
            <a:pPr indent="0" marL="0">
              <a:lnSpc>
                <a:spcPct val="100000"/>
              </a:lnSpc>
              <a:buNone/>
            </a:pPr>
            <a:r>
              <a:rPr lang="en-US" sz="3600" b="1" dirty="0">
                <a:solidFill>
                  <a:schemeClr val="tx1"/>
                </a:solidFill>
              </a:rPr>
              <a:t>Send us your drawings. We'll tell you what's possible.</a:t>
            </a:r>
            <a:endParaRPr lang="en-US" sz="3600" dirty="0"/>
          </a:p>
        </p:txBody>
      </p:sp>
      <p:sp>
        <p:nvSpPr>
          <p:cNvPr id="4" name="Text 2"/>
          <p:cNvSpPr txBox="1"/>
          <p:nvPr/>
        </p:nvSpPr>
        <p:spPr>
          <a:xfrm>
            <a:off x="640080" y="2651760"/>
            <a:ext cx="6400800" cy="365760"/>
          </a:xfrm>
          <a:prstGeom prst="rect">
            <a:avLst/>
          </a:prstGeom>
          <a:noFill/>
          <a:ln/>
        </p:spPr>
        <p:txBody>
          <a:bodyPr wrap="square" lIns="0" tIns="0" rIns="0" bIns="0" rtlCol="0" anchor="t"/>
          <a:lstStyle/>
          <a:p>
            <a:pPr indent="0" marL="0">
              <a:buNone/>
            </a:pPr>
            <a:r>
              <a:rPr lang="en-US" sz="1600" b="1" dirty="0">
                <a:solidFill>
                  <a:schemeClr val="tx2"/>
                </a:solidFill>
              </a:rPr>
              <a:t>The first feasibility review is free. You get:</a:t>
            </a:r>
            <a:endParaRPr lang="en-US" sz="1600" dirty="0"/>
          </a:p>
        </p:txBody>
      </p:sp>
      <p:sp>
        <p:nvSpPr>
          <p:cNvPr id="5" name="Feasibility list"/>
          <p:cNvSpPr txBox="1"/>
          <p:nvPr/>
        </p:nvSpPr>
        <p:spPr>
          <a:xfrm>
            <a:off x="640080" y="3108960"/>
            <a:ext cx="6400800" cy="2011680"/>
          </a:xfrm>
          <a:prstGeom prst="rect">
            <a:avLst/>
          </a:prstGeom>
          <a:noFill/>
          <a:ln/>
        </p:spPr>
        <p:txBody>
          <a:bodyPr wrap="square" lIns="0" tIns="0" rIns="0" bIns="0" rtlCol="0" anchor="t"/>
          <a:lstStyle/>
          <a:p>
            <a:pPr marL="190500" indent="-190500">
              <a:lnSpc>
                <a:spcPct val="120000"/>
              </a:lnSpc>
              <a:spcAft>
                <a:spcPts val="600"/>
              </a:spcAft>
              <a:buSzPct val="100000"/>
              <a:buChar char="•"/>
            </a:pPr>
            <a:r>
              <a:rPr lang="en-US" sz="1600" dirty="0">
                <a:solidFill>
                  <a:schemeClr val="tx1"/>
                </a:solidFill>
              </a:rPr>
              <a:t>The rating system that fits your project, timeline and budget</a:t>
            </a:r>
            <a:endParaRPr lang="en-US" sz="1600" dirty="0"/>
          </a:p>
          <a:p>
            <a:pPr marL="190500" indent="-190500">
              <a:lnSpc>
                <a:spcPct val="120000"/>
              </a:lnSpc>
              <a:spcAft>
                <a:spcPts val="600"/>
              </a:spcAft>
              <a:buSzPct val="100000"/>
              <a:buChar char="•"/>
            </a:pPr>
            <a:r>
              <a:rPr lang="en-US" sz="1600" dirty="0">
                <a:solidFill>
                  <a:schemeClr val="tx1"/>
                </a:solidFill>
              </a:rPr>
              <a:t>The main design and documentation gaps, before you register</a:t>
            </a:r>
            <a:endParaRPr lang="en-US" sz="1600" dirty="0"/>
          </a:p>
          <a:p>
            <a:pPr marL="190500" indent="-190500">
              <a:lnSpc>
                <a:spcPct val="120000"/>
              </a:lnSpc>
              <a:spcAft>
                <a:spcPts val="600"/>
              </a:spcAft>
              <a:buSzPct val="100000"/>
              <a:buChar char="•"/>
            </a:pPr>
            <a:r>
              <a:rPr lang="en-US" sz="1600" dirty="0">
                <a:solidFill>
                  <a:schemeClr val="tx1"/>
                </a:solidFill>
              </a:rPr>
              <a:t>What modelling or carbon work you'll actually need</a:t>
            </a:r>
            <a:endParaRPr lang="en-US" sz="1600" dirty="0"/>
          </a:p>
          <a:p>
            <a:pPr marL="190500" indent="-190500">
              <a:lnSpc>
                <a:spcPct val="120000"/>
              </a:lnSpc>
              <a:spcAft>
                <a:spcPts val="600"/>
              </a:spcAft>
              <a:buSzPct val="100000"/>
              <a:buChar char="•"/>
            </a:pPr>
            <a:r>
              <a:rPr lang="en-US" sz="1600" dirty="0">
                <a:solidFill>
                  <a:schemeClr val="tx1"/>
                </a:solidFill>
              </a:rPr>
              <a:t>A realistic timeline from kickoff to award</a:t>
            </a:r>
            <a:endParaRPr lang="en-US" sz="1600" dirty="0"/>
          </a:p>
        </p:txBody>
      </p:sp>
      <p:sp>
        <p:nvSpPr>
          <p:cNvPr id="6" name="Contact divider"/>
          <p:cNvSpPr/>
          <p:nvPr/>
        </p:nvSpPr>
        <p:spPr>
          <a:xfrm>
            <a:off x="7498080" y="1005840"/>
            <a:ext cx="0" cy="4023360"/>
          </a:xfrm>
          <a:prstGeom prst="line">
            <a:avLst/>
          </a:prstGeom>
          <a:noFill/>
          <a:ln w="9525">
            <a:solidFill>
              <a:schemeClr val="accent6"/>
            </a:solidFill>
            <a:prstDash val="solid"/>
          </a:ln>
        </p:spPr>
      </p:sp>
      <p:sp>
        <p:nvSpPr>
          <p:cNvPr id="7" name="Text 5"/>
          <p:cNvSpPr txBox="1"/>
          <p:nvPr/>
        </p:nvSpPr>
        <p:spPr>
          <a:xfrm>
            <a:off x="7863840" y="1051560"/>
            <a:ext cx="3657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SIDDHANT JAIN, FOUNDER</a:t>
            </a:r>
            <a:endParaRPr lang="en-US" sz="1200" dirty="0"/>
          </a:p>
        </p:txBody>
      </p:sp>
      <p:sp>
        <p:nvSpPr>
          <p:cNvPr id="8" name="Text 6"/>
          <p:cNvSpPr txBox="1"/>
          <p:nvPr/>
        </p:nvSpPr>
        <p:spPr>
          <a:xfrm>
            <a:off x="7863840" y="1463040"/>
            <a:ext cx="3749040" cy="1554480"/>
          </a:xfrm>
          <a:prstGeom prst="rect">
            <a:avLst/>
          </a:prstGeom>
          <a:noFill/>
          <a:ln/>
        </p:spPr>
        <p:txBody>
          <a:bodyPr wrap="square" lIns="0" tIns="0" rIns="0" bIns="0" rtlCol="0" anchor="t"/>
          <a:lstStyle/>
          <a:p>
            <a:pPr indent="0" marL="0">
              <a:lnSpc>
                <a:spcPct val="135000"/>
              </a:lnSpc>
              <a:buNone/>
            </a:pPr>
            <a:r>
              <a:rPr lang="en-US" sz="2200" b="1" u="sng" dirty="0">
                <a:solidFill>
                  <a:schemeClr val="tx1"/>
                </a:solidFill>
                <a:hlinkClick r:id="rId1" invalidUrl="" action="" tgtFrame="" tooltip="" history="1" highlightClick="0" endSnd="0">
                  <a:extLst>
                    <a:ext uri="{A12FA001-AC4F-418D-AE19-62706E023703}">
                      <ahyp:hlinkClr xmlns:ahyp="http://schemas.microsoft.com/office/drawing/2018/hyperlinkcolor" val="tx"/>
                    </a:ext>
                  </a:extLst>
                </a:hlinkClick>
              </a:rPr>
              <a:t>info@verdeaxis.com</a:t>
            </a:r>
            <a:endParaRPr lang="en-US" sz="2200" dirty="0"/>
          </a:p>
          <a:p>
            <a:pPr indent="0" marL="0">
              <a:lnSpc>
                <a:spcPct val="135000"/>
              </a:lnSpc>
              <a:buNone/>
            </a:pPr>
            <a:r>
              <a:rPr lang="en-US" sz="2200" b="1" u="sng" dirty="0">
                <a:solidFill>
                  <a:schemeClr val="tx1"/>
                </a:solidFill>
                <a:hlinkClick r:id="rId2" invalidUrl="" action="" tgtFrame="" tooltip="" history="1" highlightClick="0" endSnd="0">
                  <a:extLst>
                    <a:ext uri="{A12FA001-AC4F-418D-AE19-62706E023703}">
                      <ahyp:hlinkClr xmlns:ahyp="http://schemas.microsoft.com/office/drawing/2018/hyperlinkcolor" val="tx"/>
                    </a:ext>
                  </a:extLst>
                </a:hlinkClick>
              </a:rPr>
              <a:t>+91 97255 23213</a:t>
            </a:r>
            <a:endParaRPr lang="en-US" sz="2200" dirty="0"/>
          </a:p>
          <a:p>
            <a:pPr indent="0" marL="0">
              <a:lnSpc>
                <a:spcPct val="135000"/>
              </a:lnSpc>
              <a:buNone/>
            </a:pPr>
            <a:r>
              <a:rPr lang="en-US" sz="2200" b="1" u="sng" dirty="0">
                <a:solidFill>
                  <a:schemeClr val="tx1"/>
                </a:solidFill>
                <a:hlinkClick r:id="rId3" invalidUrl="" action="" tgtFrame="" tooltip="" history="1" highlightClick="0" endSnd="0">
                  <a:extLst>
                    <a:ext uri="{A12FA001-AC4F-418D-AE19-62706E023703}">
                      <ahyp:hlinkClr xmlns:ahyp="http://schemas.microsoft.com/office/drawing/2018/hyperlinkcolor" val="tx"/>
                    </a:ext>
                  </a:extLst>
                </a:hlinkClick>
              </a:rPr>
              <a:t>verdeaxis.com</a:t>
            </a:r>
            <a:endParaRPr lang="en-US" sz="2200" dirty="0"/>
          </a:p>
        </p:txBody>
      </p:sp>
      <p:sp>
        <p:nvSpPr>
          <p:cNvPr id="9" name="Text 7"/>
          <p:cNvSpPr txBox="1"/>
          <p:nvPr/>
        </p:nvSpPr>
        <p:spPr>
          <a:xfrm>
            <a:off x="7863840" y="3246120"/>
            <a:ext cx="4023360" cy="320040"/>
          </a:xfrm>
          <a:prstGeom prst="rect">
            <a:avLst/>
          </a:prstGeom>
          <a:noFill/>
          <a:ln/>
        </p:spPr>
        <p:txBody>
          <a:bodyPr wrap="square" lIns="0" tIns="0" rIns="0" bIns="0" rtlCol="0" anchor="t"/>
          <a:lstStyle/>
          <a:p>
            <a:pPr indent="0" marL="0">
              <a:buNone/>
            </a:pPr>
            <a:r>
              <a:rPr lang="en-US" sz="1300" dirty="0">
                <a:solidFill>
                  <a:schemeClr val="accent4"/>
                </a:solidFill>
              </a:rPr>
              <a:t>India · Malaysia · France · Vietnam · Cambodia · Thailand</a:t>
            </a:r>
            <a:endParaRPr lang="en-US" sz="1300" dirty="0"/>
          </a:p>
        </p:txBody>
      </p:sp>
      <p:pic>
        <p:nvPicPr>
          <p:cNvPr id="10" name="Closing logo" descr="VERDEAXIS logo">    </p:cNvPr>
          <p:cNvPicPr>
            <a:picLocks noChangeAspect="1"/>
          </p:cNvPicPr>
          <p:nvPr/>
        </p:nvPicPr>
        <p:blipFill>
          <a:blip r:embed="rId4"/>
          <a:stretch>
            <a:fillRect/>
          </a:stretch>
        </p:blipFill>
        <p:spPr>
          <a:xfrm>
            <a:off x="7863840" y="3977640"/>
            <a:ext cx="3383280" cy="882472"/>
          </a:xfrm>
          <a:prstGeom prst="rect">
            <a:avLst/>
          </a:prstGeom>
        </p:spPr>
      </p:pic>
      <p:sp>
        <p:nvSpPr>
          <p:cNvPr id="11" name="Text 8"/>
          <p:cNvSpPr txBox="1"/>
          <p:nvPr/>
        </p:nvSpPr>
        <p:spPr>
          <a:xfrm>
            <a:off x="7863840" y="4956048"/>
            <a:ext cx="3840480" cy="320040"/>
          </a:xfrm>
          <a:prstGeom prst="rect">
            <a:avLst/>
          </a:prstGeom>
          <a:noFill/>
          <a:ln/>
        </p:spPr>
        <p:txBody>
          <a:bodyPr wrap="square" lIns="0" tIns="0" rIns="0" bIns="0" rtlCol="0" anchor="t"/>
          <a:lstStyle/>
          <a:p>
            <a:pPr indent="0" marL="0">
              <a:buNone/>
            </a:pPr>
            <a:r>
              <a:rPr lang="en-US" sz="1200" i="1" dirty="0">
                <a:solidFill>
                  <a:schemeClr val="accent4"/>
                </a:solidFill>
              </a:rPr>
              <a:t>Verde</a:t>
            </a:r>
            <a:pPr indent="0" marL="0">
              <a:buNone/>
            </a:pPr>
            <a:r>
              <a:rPr lang="en-US" sz="1200" dirty="0">
                <a:solidFill>
                  <a:schemeClr val="accent4"/>
                </a:solidFill>
              </a:rPr>
              <a:t> (green) + </a:t>
            </a:r>
            <a:pPr indent="0" marL="0">
              <a:buNone/>
            </a:pPr>
            <a:r>
              <a:rPr lang="en-US" sz="1200" i="1" dirty="0">
                <a:solidFill>
                  <a:schemeClr val="accent4"/>
                </a:solidFill>
              </a:rPr>
              <a:t>axis</a:t>
            </a:r>
            <a:pPr indent="0" marL="0">
              <a:buNone/>
            </a:pPr>
            <a:r>
              <a:rPr lang="en-US" sz="1200" dirty="0">
                <a:solidFill>
                  <a:schemeClr val="accent4"/>
                </a:solidFill>
              </a:rPr>
              <a:t>: the line everything is measured against.</a:t>
            </a:r>
            <a:endParaRPr lang="en-US" sz="1200" dirty="0"/>
          </a:p>
        </p:txBody>
      </p:sp>
      <p:pic>
        <p:nvPicPr>
          <p:cNvPr id="12" name="Warming stripes" descr="Warming stripes: global temperature 1880 to 2025, NASA GISTEMP">    </p:cNvPr>
          <p:cNvPicPr>
            <a:picLocks noChangeAspect="1"/>
          </p:cNvPicPr>
          <p:nvPr/>
        </p:nvPicPr>
        <p:blipFill>
          <a:blip r:embed="rId5"/>
          <a:stretch>
            <a:fillRect/>
          </a:stretch>
        </p:blipFill>
        <p:spPr>
          <a:xfrm>
            <a:off x="0" y="5486400"/>
            <a:ext cx="12191695" cy="502920"/>
          </a:xfrm>
          <a:prstGeom prst="rect">
            <a:avLst/>
          </a:prstGeom>
        </p:spPr>
      </p:pic>
      <p:sp>
        <p:nvSpPr>
          <p:cNvPr id="13" name="Text 9"/>
          <p:cNvSpPr txBox="1"/>
          <p:nvPr/>
        </p:nvSpPr>
        <p:spPr>
          <a:xfrm>
            <a:off x="640080" y="6126480"/>
            <a:ext cx="10911535" cy="502920"/>
          </a:xfrm>
          <a:prstGeom prst="rect">
            <a:avLst/>
          </a:prstGeom>
          <a:noFill/>
          <a:ln/>
        </p:spPr>
        <p:txBody>
          <a:bodyPr wrap="square" lIns="0" tIns="0" rIns="0" bIns="0" rtlCol="0" anchor="t"/>
          <a:lstStyle/>
          <a:p>
            <a:pPr indent="0" marL="0">
              <a:lnSpc>
                <a:spcPct val="110000"/>
              </a:lnSpc>
              <a:buNone/>
            </a:pPr>
            <a:r>
              <a:rPr lang="en-US" sz="1000" dirty="0">
                <a:solidFill>
                  <a:schemeClr val="accent4"/>
                </a:solidFill>
              </a:rPr>
              <a:t>Each stripe is one year of global average temperature, 1880–2025. Data: NASA GISTEMP. Stripes concept: Ed Hawkins, #ShowYourStripes.   Photos via Wikimedia Commons: Hawa Mahal by Adityaoberai (CC BY 4.0); IIM Ahmedabad by Perspectives, IIM Ahmedabad Photography Club (CC BY-SA 4.0).</a:t>
            </a:r>
            <a:endParaRPr lang="en-US" sz="1000" dirty="0"/>
          </a:p>
        </p:txBody>
      </p:sp>
    </p:spTree>
  </p:cSld>
  <p:clrMapOvr>
    <a:masterClrMapping/>
  </p:clrMapOvr>
</p:sld>
</file>

<file path=ppt/theme/theme1.xml><?xml version="1.0" encoding="utf-8"?>
<a:theme xmlns:a="http://schemas.openxmlformats.org/drawingml/2006/main" name="VERDEAXIS Editorial">
  <a:themeElements>
    <a:clrScheme name="VERDEAXIS Editorial">
      <a:dk1>
        <a:srgbClr val="1F1D1B"/>
      </a:dk1>
      <a:lt1>
        <a:srgbClr val="FFFFFF"/>
      </a:lt1>
      <a:dk2>
        <a:srgbClr val="3A3632"/>
      </a:dk2>
      <a:lt2>
        <a:srgbClr val="F4F1EC"/>
      </a:lt2>
      <a:accent1>
        <a:srgbClr val="B4532A"/>
      </a:accent1>
      <a:accent2>
        <a:srgbClr val="8C3B1E"/>
      </a:accent2>
      <a:accent3>
        <a:srgbClr val="EFE4DA"/>
      </a:accent3>
      <a:accent4>
        <a:srgbClr val="6E6862"/>
      </a:accent4>
      <a:accent5>
        <a:srgbClr val="2E5E7E"/>
      </a:accent5>
      <a:accent6>
        <a:srgbClr val="D9D3CC"/>
      </a:accent6>
      <a:hlink>
        <a:srgbClr val="8C3B1E"/>
      </a:hlink>
      <a:folHlink>
        <a:srgbClr val="6E6862"/>
      </a:folHlink>
    </a:clrScheme>
    <a:fontScheme name="VERDEAXIS Editorial">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VERDEAXIS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VERDEAXIS Company Profile</dc:title>
  <dc:subject>Sustainability consulting: green building certification, building performance simulation, carbon and ESG</dc:subject>
  <dc:creator>Siddhant Jain, VERDEAXIS</dc:creator>
  <cp:lastModifiedBy>Siddhant Jain, VERDEAXIS</cp:lastModifiedBy>
  <cp:revision>1</cp:revision>
  <dcterms:created xsi:type="dcterms:W3CDTF">2026-10-25T05:35:13Z</dcterms:created>
  <dcterms:modified xsi:type="dcterms:W3CDTF">2026-10-25T05:35:13Z</dcterms:modified>
</cp:coreProperties>
</file>