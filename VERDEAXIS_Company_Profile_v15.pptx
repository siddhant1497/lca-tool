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1079f9-55b7-096e-0e13-f4a3960575ca}">
          <p14:sldIdLst>
            <p14:sldId id="256"/>
            <p14:sldId id="257"/>
            <p14:sldId id="258"/>
          </p14:sldIdLst>
        </p14:section>
        <p14:section name="01 Context" id="{35dd3872-14f7-c428-4976-b67962732fa9}">
          <p14:sldIdLst>
            <p14:sldId id="259"/>
            <p14:sldId id="260"/>
            <p14:sldId id="261"/>
          </p14:sldIdLst>
        </p14:section>
        <p14:section name="02 Services" id="{af472a87-4129-9cb4-b838-1c452dfe4f71}">
          <p14:sldIdLst>
            <p14:sldId id="262"/>
            <p14:sldId id="263"/>
            <p14:sldId id="264"/>
          </p14:sldIdLst>
        </p14:section>
        <p14:section name="03 Founder" id="{25362185-7c8a-8e45-ba71-7c8e2911d611}">
          <p14:sldIdLst>
            <p14:sldId id="265"/>
            <p14:sldId id="266"/>
            <p14:sldId id="267"/>
          </p14:sldIdLst>
        </p14:section>
        <p14:section name="04 Working together" id="{fd4a3419-b485-aea5-4f8f-c376be075c62}">
          <p14:sldIdLst>
            <p14:sldId id="268"/>
            <p14:sldId id="269"/>
          </p14:sldIdLst>
        </p14:section>
        <p14:section name="Contact" id="{a6091dc8-abd4-1a4a-eb33-3ba9b1e7ea08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mark is a V whose right stroke is built from shading louvres: building design and data in one shape. The stripe along the bottom is real data: global temperature, 1880 to 2025, one stripe per year (NASA GISTEMP).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slide. The point is that good performance is cheapest at design stage, not that modern buildings are bad.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Founder figures are personal track record, not the firm's.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CCTS: targets notified Oct 2025 (aluminium, cement, chlor-alkali, pulp &amp; paper) and Jan 2026 (refineries, petrochemicals, textiles, secondary aluminium), 490 obligated entities (PIB). BRSR Core: SEBI glide path, top 1,000 in FY 2026-27. ECBC notified by 25 states/UTs by Dec 2024; NITI Aayog found no state had yet adopted ECSBC 2024. Star-rating rule: Ministry of Power draft, July 2026. Taxonomy: DEA draft framework, May 2025. NDC 2035: approved 25 March 2026, communicated 24 April 2026. Re-check before each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CBAM: Regulation (EU) 2023/956, definitive phase from 1 Jan 2026; first certificate sales and declarations in 2027 for 2026 imports; 50-tonne de minimis from Omnibus 2025/2083. EPBD recast (EU) 2024/1275: zero-emission new buildings, public bodies from 2028, all from 2030. Malaysia NSRF: Group 1 (RM2bn+ Main Market) from 2025; Scope 3 and Scope 1-2 assurance for Group 1 from 2027. ISSB: IFRS Foundation says 40+ jurisdictions adopting or taking steps (2026).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which row the prospect recognises themselves in, then go to that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pillars. Most clients start with one and come back for the other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 runs these models personally. That is the main technical difference from a documentation-only consultant.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IGBC AP and EDGE Expert &amp; Auditor are the founder's accreditations. LEED, GRIHA, WELL and Fitwel are project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founder's note is a draft in Siddhant's voice. Edit it until it sounds like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Experience gained while working in previous consultancy teams. VERDEAXIS itself is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projects the founder worked on while employed at previous firms. Say so plainly and describe your own role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prices in the profile. Quote after the feasibility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free feasibility review. Credits line must stay while the Commons photos are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309360"/>
            <a:ext cx="329184" cy="3291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tx1"/>
                </a:solidFill>
              </a:rPr>
              <a:t>VERDEAXIS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panel"/>
          <p:cNvSpPr/>
          <p:nvPr/>
        </p:nvSpPr>
        <p:spPr>
          <a:xfrm>
            <a:off x="6583680" y="0"/>
            <a:ext cx="5608015" cy="64922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Cover logo mark" descr="VERDEAXIS logo mark: a V whose right stroke is made of shading louv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6008" y="1234440"/>
            <a:ext cx="4023360" cy="4023360"/>
          </a:xfrm>
          <a:prstGeom prst="rect">
            <a:avLst/>
          </a:prstGeom>
        </p:spPr>
      </p:pic>
      <p:pic>
        <p:nvPicPr>
          <p:cNvPr id="4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2240"/>
            <a:ext cx="12191695" cy="365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SUSTAINABILITY CONSULTING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12344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100" kern="0" dirty="0">
                <a:solidFill>
                  <a:schemeClr val="tx1"/>
                </a:solidFill>
              </a:rPr>
              <a:t>VERDEAXIS</a:t>
            </a:r>
            <a:endParaRPr lang="en-US" sz="6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5146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accent2"/>
                </a:solidFill>
              </a:rPr>
              <a:t>Closing the gap between regulation and reality.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7947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developers, manufacturers and listed companies get certified, cut energy and carbon, and report it with confidence.</a:t>
            </a:r>
            <a:endParaRPr lang="en-US" sz="1600" dirty="0"/>
          </a:p>
        </p:txBody>
      </p:sp>
      <p:sp>
        <p:nvSpPr>
          <p:cNvPr id="9" name="Cover rule"/>
          <p:cNvSpPr/>
          <p:nvPr/>
        </p:nvSpPr>
        <p:spPr>
          <a:xfrm>
            <a:off x="640080" y="4983480"/>
            <a:ext cx="530352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5166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Siddhant Jain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Founder  ·  IGBC AP  ·  EDGE Expert &amp; Auditor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623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info@verdeaxis.com    +91 97255 23213    verdeaxis.com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yline photo" descr="Glass office towers along SG Highway, Ahmedab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5720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chemeClr val="tx1"/>
                </a:solidFill>
              </a:rPr>
              <a:t>India has always known how to build for heat.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6126480" y="46177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Jaalis, courtyards and thick walls kept buildings cool without machines. Modern buildings can do the same, if the right decisions are made early, when they cost the least.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We help you make those decisions with models and real numbers, then get the result certified.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new firm with seven years of practice behind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Green building certification, energy and daylight modelling, GHG accounting, LCA and ESG reporting.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3299384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36544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WHO IT'S FOR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36544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Developers, retail and logistics owners, manufacturers, listed companies, and their architects.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6095848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33008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HOW WE WORK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33008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You deal with the founder, not a junior team. Advice comes from our own models and numbers.</a:t>
            </a:r>
            <a:endParaRPr lang="en-US" sz="1600" dirty="0"/>
          </a:p>
        </p:txBody>
      </p:sp>
      <p:sp>
        <p:nvSpPr>
          <p:cNvPr id="12" name="Column rule 3"/>
          <p:cNvSpPr/>
          <p:nvPr/>
        </p:nvSpPr>
        <p:spPr>
          <a:xfrm>
            <a:off x="8892311" y="1828800"/>
            <a:ext cx="0" cy="22860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29471" y="182880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WHERE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029471" y="2240280"/>
            <a:ext cx="23849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Based in India. Project experience in Malaysia, France, Vietnam, Cambodia and Thailand.</a:t>
            </a:r>
            <a:endParaRPr lang="en-US" sz="1600" dirty="0"/>
          </a:p>
        </p:txBody>
      </p:sp>
      <p:sp>
        <p:nvSpPr>
          <p:cNvPr id="15" name="Numbers panel"/>
          <p:cNvSpPr/>
          <p:nvPr/>
        </p:nvSpPr>
        <p:spPr>
          <a:xfrm>
            <a:off x="640080" y="4434840"/>
            <a:ext cx="1091153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7+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years in practice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550844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200+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3550844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certified projects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countries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640851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8640851" y="5349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rating systems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INDIA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India's rulebook is being rewritten</a:t>
            </a:r>
            <a:endParaRPr lang="en-US" sz="3000" dirty="0"/>
          </a:p>
        </p:txBody>
      </p:sp>
      <p:graphicFrame>
        <p:nvGraphicFramePr>
          <p:cNvPr id="5" name="India mandat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572000"/>
                <a:gridCol w="2240280"/>
                <a:gridCol w="15846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MANDATE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REQUIRES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WHO IT AFFECTS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Carbon Credit Trading Scheme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Emission-intensity targets for 490 plants in eight sectors. Shortfalls are covered by buying carbon credits.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Cement, aluminium, refining, textiles, paper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 force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BRSR Core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Assured ESG data from India's top 1,000 listed companies, with value-chain disclosures phasing in.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Listed companies and their suppliers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Top 1,000 by FY 2026-27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Building energy codes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ECBC is notified in 25 states and UTs. ECSBC 2024, its successor, adds sustainability requirements.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commercial buildings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States adopting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Star rating for large buildings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Proposed: new buildings of 20,000 m² or more need at least a BEE 3-star rating or an approved equivalent.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Developers and owners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Draft, July 2026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Climate finance taxonomy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Will define which projects count as green for banks and investors. Buildings are a priority sector.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Anyone raising green finance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Draft framework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NDC 2035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47% lower emissions intensity than 2005 and 60% non-fossil power by 2035. Net zero by 2070.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Every sector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Submitted April 2026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109728" marT="64008" marB="6400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Status as of October 2026. Sources: MoEFCC/PIB, SEBI, BEE and Ministry of Power, NITI Aayog, Ministry of Finance, UNFCCC.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BEYOND INDIA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Export markets and investors are asking for the same numbers</a:t>
            </a:r>
            <a:endParaRPr lang="en-US" sz="3000" dirty="0"/>
          </a:p>
        </p:txBody>
      </p:sp>
      <p:sp>
        <p:nvSpPr>
          <p:cNvPr id="4" name="Timeline"/>
          <p:cNvSpPr/>
          <p:nvPr/>
        </p:nvSpPr>
        <p:spPr>
          <a:xfrm>
            <a:off x="640080" y="352044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imeline marker 2025"/>
          <p:cNvSpPr/>
          <p:nvPr/>
        </p:nvSpPr>
        <p:spPr>
          <a:xfrm>
            <a:off x="731520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Malaysia starts ISSB-based climate reporting for its largest listed companies.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2025</a:t>
            </a:r>
            <a:endParaRPr lang="en-US" sz="2600" dirty="0"/>
          </a:p>
        </p:txBody>
      </p:sp>
      <p:sp>
        <p:nvSpPr>
          <p:cNvPr id="8" name="Timeline marker 2026"/>
          <p:cNvSpPr/>
          <p:nvPr/>
        </p:nvSpPr>
        <p:spPr>
          <a:xfrm>
            <a:off x="2913827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13827" y="365760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2026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913827" y="416052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EU CBAM's definitive phase: steel, aluminium and cement exporters must show verified emissions.</a:t>
            </a:r>
            <a:endParaRPr lang="en-US" sz="1400" dirty="0"/>
          </a:p>
        </p:txBody>
      </p:sp>
      <p:sp>
        <p:nvSpPr>
          <p:cNvPr id="11" name="Timeline marker 2027"/>
          <p:cNvSpPr/>
          <p:nvPr/>
        </p:nvSpPr>
        <p:spPr>
          <a:xfrm>
            <a:off x="5096134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96134" y="178308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First CBAM certificates bought for 2026 imports. Malaysia adds Scope 3 and assurance for the largest issuers.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96134" y="292608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2027</a:t>
            </a:r>
            <a:endParaRPr lang="en-US" sz="2600" dirty="0"/>
          </a:p>
        </p:txBody>
      </p:sp>
      <p:sp>
        <p:nvSpPr>
          <p:cNvPr id="14" name="Timeline marker 2028"/>
          <p:cNvSpPr/>
          <p:nvPr/>
        </p:nvSpPr>
        <p:spPr>
          <a:xfrm>
            <a:off x="7278441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78441" y="365760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2028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278441" y="4160520"/>
            <a:ext cx="305523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EU: all new public buildings must be zero-emission.</a:t>
            </a:r>
            <a:endParaRPr lang="en-US" sz="1400" dirty="0"/>
          </a:p>
        </p:txBody>
      </p:sp>
      <p:sp>
        <p:nvSpPr>
          <p:cNvPr id="17" name="Timeline marker 2030"/>
          <p:cNvSpPr/>
          <p:nvPr/>
        </p:nvSpPr>
        <p:spPr>
          <a:xfrm>
            <a:off x="9460748" y="34381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60748" y="1783080"/>
            <a:ext cx="209086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EU: every new building must be zero-emission.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60748" y="292608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2030</a:t>
            </a:r>
            <a:endParaRPr lang="en-US" sz="2600" dirty="0"/>
          </a:p>
        </p:txBody>
      </p:sp>
      <p:sp>
        <p:nvSpPr>
          <p:cNvPr id="20" name="Meaning panel"/>
          <p:cNvSpPr/>
          <p:nvPr/>
        </p:nvSpPr>
        <p:spPr>
          <a:xfrm>
            <a:off x="640080" y="5349240"/>
            <a:ext cx="1091153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34924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Over 40 jurisdictions are adopting ISSB climate reporting. 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Your buyers, lenders and parent companies will ask for numbers you can stand behind.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01   WHO WE HELP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kinds of client, four different reasons to call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CLIENT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WHAT'S PUSHING THEM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78308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WHAT WE DO</a:t>
            </a:r>
            <a:endParaRPr lang="en-US" sz="1200" dirty="0"/>
          </a:p>
        </p:txBody>
      </p:sp>
      <p:sp>
        <p:nvSpPr>
          <p:cNvPr id="7" name="Row rule 0"/>
          <p:cNvSpPr/>
          <p:nvPr/>
        </p:nvSpPr>
        <p:spPr>
          <a:xfrm>
            <a:off x="640080" y="219456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591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Developers, retail and logistics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5915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Tenant requirements, green finance, energy codes and the proposed star-rating rule.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359152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Certification under LEED, IGBC, EDGE or GRIHA, backed by energy and daylight models.</a:t>
            </a:r>
            <a:endParaRPr lang="en-US" sz="1500" dirty="0"/>
          </a:p>
        </p:txBody>
      </p:sp>
      <p:sp>
        <p:nvSpPr>
          <p:cNvPr id="11" name="Row rule 1"/>
          <p:cNvSpPr/>
          <p:nvPr/>
        </p:nvSpPr>
        <p:spPr>
          <a:xfrm>
            <a:off x="640080" y="3218688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Manufacturers and exporters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832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EU CBAM, India's carbon market (CCTS) and buyers asking for product carbon data.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383280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GHG inventories, product LCA, EPD support and green factory certification.</a:t>
            </a:r>
            <a:endParaRPr lang="en-US" sz="1500" dirty="0"/>
          </a:p>
        </p:txBody>
      </p:sp>
      <p:sp>
        <p:nvSpPr>
          <p:cNvPr id="15" name="Row rule 2"/>
          <p:cNvSpPr/>
          <p:nvPr/>
        </p:nvSpPr>
        <p:spPr>
          <a:xfrm>
            <a:off x="640080" y="4242816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0740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Listed companies and funds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440740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BRSR Core assurance, investor questionnaires and GRESB.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4407408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Scope 1–3 inventories, BRSR and GRI reporting, and physical climate-risk studies.</a:t>
            </a:r>
            <a:endParaRPr lang="en-US" sz="1500" dirty="0"/>
          </a:p>
        </p:txBody>
      </p:sp>
      <p:sp>
        <p:nvSpPr>
          <p:cNvPr id="19" name="Row rule 3"/>
          <p:cNvSpPr/>
          <p:nvPr/>
        </p:nvSpPr>
        <p:spPr>
          <a:xfrm>
            <a:off x="640080" y="5266944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43153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Architects and MEP teams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5431536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Credits that depend on simulation, on tight design timelines.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5431536"/>
            <a:ext cx="3959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Energy, daylight and microclimate studies, delivered as part of your team.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WHAT WE DO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Measure, certify,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Measure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Find the baseline and build the evidence.</a:t>
            </a:r>
            <a:endParaRPr lang="en-US" sz="1600" dirty="0"/>
          </a:p>
        </p:txBody>
      </p:sp>
      <p:sp>
        <p:nvSpPr>
          <p:cNvPr id="7" name="Bullets Measure"/>
          <p:cNvSpPr txBox="1"/>
          <p:nvPr/>
        </p:nvSpPr>
        <p:spPr>
          <a:xfrm>
            <a:off x="640080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inventory, Scope 1, 2 and 3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and daylight simulation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Microclimate and climate-risk studies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LCA, EPDs, CBAM and CCTS data</a:t>
            </a:r>
            <a:endParaRPr lang="en-US" sz="1600" dirty="0"/>
          </a:p>
        </p:txBody>
      </p:sp>
      <p:sp>
        <p:nvSpPr>
          <p:cNvPr id="8" name="Column rule 1"/>
          <p:cNvSpPr/>
          <p:nvPr/>
        </p:nvSpPr>
        <p:spPr>
          <a:xfrm>
            <a:off x="4216298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9178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99178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Certify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399178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Take the project through to award.</a:t>
            </a:r>
            <a:endParaRPr lang="en-US" sz="1600" dirty="0"/>
          </a:p>
        </p:txBody>
      </p:sp>
      <p:sp>
        <p:nvSpPr>
          <p:cNvPr id="12" name="Bullets Certify"/>
          <p:cNvSpPr txBox="1"/>
          <p:nvPr/>
        </p:nvSpPr>
        <p:spPr>
          <a:xfrm>
            <a:off x="4399178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 and GRIHA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WELL and Fitwel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ECBC, ECSBC and BEE star ratings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Reviewer queries and appeals</a:t>
            </a:r>
            <a:endParaRPr lang="en-US" sz="1600" dirty="0"/>
          </a:p>
        </p:txBody>
      </p:sp>
      <p:sp>
        <p:nvSpPr>
          <p:cNvPr id="13" name="Column rule 2"/>
          <p:cNvSpPr/>
          <p:nvPr/>
        </p:nvSpPr>
        <p:spPr>
          <a:xfrm>
            <a:off x="7975397" y="1828800"/>
            <a:ext cx="0" cy="411480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58277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158277" y="2286000"/>
            <a:ext cx="33933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301752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Show investors and regulators the numbers.</a:t>
            </a:r>
            <a:endParaRPr lang="en-US" sz="1600" dirty="0"/>
          </a:p>
        </p:txBody>
      </p:sp>
      <p:sp>
        <p:nvSpPr>
          <p:cNvPr id="17" name="Bullets Report"/>
          <p:cNvSpPr txBox="1"/>
          <p:nvPr/>
        </p:nvSpPr>
        <p:spPr>
          <a:xfrm>
            <a:off x="8158277" y="3794760"/>
            <a:ext cx="32561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BRSR Core and BRSR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GRI, CDP and TCFD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ESG strategy and roadmaps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SBTi target-setting support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BUILDING PERFORMANCE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 test the design in a model before anyone builds it</a:t>
            </a:r>
            <a:endParaRPr lang="en-US" sz="3000" dirty="0"/>
          </a:p>
        </p:txBody>
      </p:sp>
      <p:sp>
        <p:nvSpPr>
          <p:cNvPr id="4" name="Tile rule 0"/>
          <p:cNvSpPr/>
          <p:nvPr/>
        </p:nvSpPr>
        <p:spPr>
          <a:xfrm>
            <a:off x="640080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ENERGY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energy bill before it's built.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Baseline and proposed models in DesignBuilder, EnergyPlus and eQUEST, for LEED, ECSBC and BEE.</a:t>
            </a:r>
            <a:endParaRPr lang="en-US" sz="1500" dirty="0"/>
          </a:p>
        </p:txBody>
      </p:sp>
      <p:sp>
        <p:nvSpPr>
          <p:cNvPr id="8" name="Tile rule 1"/>
          <p:cNvSpPr/>
          <p:nvPr/>
        </p:nvSpPr>
        <p:spPr>
          <a:xfrm>
            <a:off x="6370168" y="18288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0168" y="20116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DAYLIGHT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370168" y="23317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Bright rooms, without glare or heat.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28529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sDA, ASE, daylight factor and glare (DGP) studies, plus façade and shading options.</a:t>
            </a:r>
            <a:endParaRPr lang="en-US" sz="1500" dirty="0"/>
          </a:p>
        </p:txBody>
      </p:sp>
      <p:sp>
        <p:nvSpPr>
          <p:cNvPr id="12" name="Tile rule 2"/>
          <p:cNvSpPr/>
          <p:nvPr/>
        </p:nvSpPr>
        <p:spPr>
          <a:xfrm>
            <a:off x="640080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MICROCLIMATE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Outdoor spaces people can use in May.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UTCI and PET comfort, pedestrian wind, heat island, solar access and site shading.</a:t>
            </a:r>
            <a:endParaRPr lang="en-US" sz="1500" dirty="0"/>
          </a:p>
        </p:txBody>
      </p:sp>
      <p:sp>
        <p:nvSpPr>
          <p:cNvPr id="16" name="Tile rule 3"/>
          <p:cNvSpPr/>
          <p:nvPr/>
        </p:nvSpPr>
        <p:spPr>
          <a:xfrm>
            <a:off x="6370168" y="3886200"/>
            <a:ext cx="518144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406908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4389120"/>
            <a:ext cx="518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Know the carbon in your materials.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4910328"/>
            <a:ext cx="5181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Whole-building and product LCA in One Click LCA and Excel, EPD support, links to Scope 3.</a:t>
            </a:r>
            <a:endParaRPr lang="en-US" sz="1500" dirty="0"/>
          </a:p>
        </p:txBody>
      </p:sp>
      <p:sp>
        <p:nvSpPr>
          <p:cNvPr id="20" name="Divider"/>
          <p:cNvSpPr/>
          <p:nvPr/>
        </p:nvSpPr>
        <p:spPr>
          <a:xfrm>
            <a:off x="640080" y="5623560"/>
            <a:ext cx="1091153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7424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2"/>
                </a:solidFill>
              </a:rPr>
              <a:t>Every study ends with a one-page summary in plain English: what to change, what it costs and which credits it earns.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   CERTIFICATION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rating systems, chosen to fit the project</a:t>
            </a:r>
            <a:endParaRPr lang="en-US" sz="3000" dirty="0"/>
          </a:p>
        </p:txBody>
      </p:sp>
      <p:graphicFrame>
        <p:nvGraphicFramePr>
          <p:cNvPr id="10" name="Rating system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37744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ISSUED BY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DELIVER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USGBC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BD+C, Core and Shell, ID+C,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IFC / GBCI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Design and final certification, EDGE audits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IGBC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New buildings, green factories, homes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Council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GRIHA V-2019, Large Developments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IWBI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Health and wellbeing strategy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Fitwel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Center for Active Design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Occupant health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redentials panel"/>
          <p:cNvSpPr/>
          <p:nvPr/>
        </p:nvSpPr>
        <p:spPr>
          <a:xfrm>
            <a:off x="8503920" y="1828800"/>
            <a:ext cx="3047695" cy="3703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823960" y="2103120"/>
            <a:ext cx="2407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FOUNDER CREDENTIALS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56032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IGBC AP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Accredited Professional, CII-IGBC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342900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Expert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IFC / GBCI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4297680"/>
            <a:ext cx="2407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EDGE Auditor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GBCI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715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Not sure which system fits? That is what the free feasibility review is for.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under portrait" descr="Portrait of Siddhant Jain, founder of VERDEAX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731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MEET THE FOUNDER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10972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Siddhant Jain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852160" y="17830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Founder and Principal Consultant  ·  IGBC AP  ·  EDGE Expert &amp; Auditor</a:t>
            </a:r>
            <a:endParaRPr lang="en-US" sz="1500" dirty="0"/>
          </a:p>
        </p:txBody>
      </p:sp>
      <p:sp>
        <p:nvSpPr>
          <p:cNvPr id="6" name="Founder rule"/>
          <p:cNvSpPr/>
          <p:nvPr/>
        </p:nvSpPr>
        <p:spPr>
          <a:xfrm>
            <a:off x="5852160" y="2377440"/>
            <a:ext cx="5696712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260604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Over seven years I've worked on more than 200 certified green building projects, from retail stores to logistics parks. The same thing kept happening: certification was left to the end, after the big decisions were already made.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VERDEAXIS works the other way round. We model first, decide with numbers, and then certify what actually gets built.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chemeClr val="tx1"/>
                </a:solidFill>
              </a:rPr>
              <a:t> 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chemeClr val="tx1"/>
                </a:solidFill>
              </a:rPr>
              <a:t>And if a certification isn't worth it for your project, I'll tell you.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EXPERIENCE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experience behind VERDEAXIS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CERTIFICATION</a:t>
            </a:r>
            <a:endParaRPr lang="en-US" sz="1200" dirty="0"/>
          </a:p>
        </p:txBody>
      </p:sp>
      <p:sp>
        <p:nvSpPr>
          <p:cNvPr id="5" name="Experience CERTIFICATION"/>
          <p:cNvSpPr txBox="1"/>
          <p:nvPr/>
        </p:nvSpPr>
        <p:spPr>
          <a:xfrm>
            <a:off x="640080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200+ certified green building projects in India and Malaysia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Retail, offices, stores, logistics parks and industry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LEED, EDGE, IGBC, GRIHA, WELL and Fitwel</a:t>
            </a:r>
            <a:endParaRPr lang="en-US" sz="1600" dirty="0"/>
          </a:p>
        </p:txBody>
      </p:sp>
      <p:sp>
        <p:nvSpPr>
          <p:cNvPr id="6" name="Column rule 1"/>
          <p:cNvSpPr/>
          <p:nvPr/>
        </p:nvSpPr>
        <p:spPr>
          <a:xfrm>
            <a:off x="4216298" y="1828800"/>
            <a:ext cx="0" cy="31089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99178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CARBON AND REPORTING</a:t>
            </a:r>
            <a:endParaRPr lang="en-US" sz="1200" dirty="0"/>
          </a:p>
        </p:txBody>
      </p:sp>
      <p:sp>
        <p:nvSpPr>
          <p:cNvPr id="8" name="Experience CARBON AND REPORTING"/>
          <p:cNvSpPr txBox="1"/>
          <p:nvPr/>
        </p:nvSpPr>
        <p:spPr>
          <a:xfrm>
            <a:off x="4399178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GHG reporting for multinational organisations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Decarbonisation roadmaps to meet climate targets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GRESB, GRI Standards and the UN SDGs</a:t>
            </a:r>
            <a:endParaRPr lang="en-US" sz="1600" dirty="0"/>
          </a:p>
        </p:txBody>
      </p:sp>
      <p:sp>
        <p:nvSpPr>
          <p:cNvPr id="9" name="Column rule 2"/>
          <p:cNvSpPr/>
          <p:nvPr/>
        </p:nvSpPr>
        <p:spPr>
          <a:xfrm>
            <a:off x="7975397" y="1828800"/>
            <a:ext cx="0" cy="31089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58277" y="182880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MODELLING</a:t>
            </a:r>
            <a:endParaRPr lang="en-US" sz="1200" dirty="0"/>
          </a:p>
        </p:txBody>
      </p:sp>
      <p:sp>
        <p:nvSpPr>
          <p:cNvPr id="11" name="Experience MODELLING"/>
          <p:cNvSpPr txBox="1"/>
          <p:nvPr/>
        </p:nvSpPr>
        <p:spPr>
          <a:xfrm>
            <a:off x="8158277" y="2240280"/>
            <a:ext cx="330189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Energy, daylight and microclimate in DesignBuilder and EnergyPlus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Building and product LCA in One Click LCA and Excel</a:t>
            </a:r>
            <a:endParaRPr lang="en-US" sz="1600" dirty="0"/>
          </a:p>
          <a:p>
            <a:pPr marL="190500" indent="-1905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Physical climate-risk assessments</a:t>
            </a:r>
            <a:endParaRPr lang="en-US" sz="1600" dirty="0"/>
          </a:p>
        </p:txBody>
      </p:sp>
      <p:sp>
        <p:nvSpPr>
          <p:cNvPr id="12" name="Tools panel"/>
          <p:cNvSpPr/>
          <p:nvPr/>
        </p:nvSpPr>
        <p:spPr>
          <a:xfrm>
            <a:off x="640080" y="5166360"/>
            <a:ext cx="1091153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5166360"/>
            <a:ext cx="10271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TOOLS 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DesignBuilder  ·  EnergyPlus  ·  eQUEST  ·  One Click LCA  ·  Excel-based carbon models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   TRACK RECORD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Selected projects the founder has worked on</a:t>
            </a:r>
            <a:endParaRPr lang="en-US" sz="3000" dirty="0"/>
          </a:p>
        </p:txBody>
      </p:sp>
      <p:graphicFrame>
        <p:nvGraphicFramePr>
          <p:cNvPr id="13" name="Track rec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017520"/>
                <a:gridCol w="240761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SCOPE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1D1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Green building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India and Malaysia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Multiple rating systems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200+ certified projects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Commercial campus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Gandhinagar, India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v4.1 O+M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Targeting Gold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28-floor tower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 Chi Minh City, Vietnam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and Shell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Pet food facilities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France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LEED BD+C v4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 industrial sites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Rice milling factory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Cambodia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EDGE v3.1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certification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portfolio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ESG and GHG, Scope 1–3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GRESB-aligned reporting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Industrial park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Samut Sakhon, Thailand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 climate risk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WRI, NASA and Fathom data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Worked on by the founder as part of previous consultancy teams, before VERDEAXIS was formed. Client names withheld.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HOW WE WORK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Five steps from first call to certificate</a:t>
            </a:r>
            <a:endParaRPr lang="en-US" sz="3000" dirty="0"/>
          </a:p>
        </p:txBody>
      </p:sp>
      <p:sp>
        <p:nvSpPr>
          <p:cNvPr id="4" name="Process line"/>
          <p:cNvSpPr/>
          <p:nvPr/>
        </p:nvSpPr>
        <p:spPr>
          <a:xfrm>
            <a:off x="640080" y="2697480"/>
            <a:ext cx="1091153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Step marker 1"/>
          <p:cNvSpPr/>
          <p:nvPr/>
        </p:nvSpPr>
        <p:spPr>
          <a:xfrm>
            <a:off x="640080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Scope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Brief, goals and the right rating system.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822387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Step marker 2"/>
          <p:cNvSpPr/>
          <p:nvPr/>
        </p:nvSpPr>
        <p:spPr>
          <a:xfrm>
            <a:off x="2822387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22387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Analyse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822387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Site visit, data audit, models and GHG baseline.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04694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Step marker 3"/>
          <p:cNvSpPr/>
          <p:nvPr/>
        </p:nvSpPr>
        <p:spPr>
          <a:xfrm>
            <a:off x="5004694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4694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Document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4694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Credit documents, drawings and model files.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87001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04</a:t>
            </a:r>
            <a:endParaRPr lang="en-US" sz="4400" dirty="0"/>
          </a:p>
        </p:txBody>
      </p:sp>
      <p:sp>
        <p:nvSpPr>
          <p:cNvPr id="18" name="Step marker 4"/>
          <p:cNvSpPr/>
          <p:nvPr/>
        </p:nvSpPr>
        <p:spPr>
          <a:xfrm>
            <a:off x="7187001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87001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Submit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187001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Upload, reviewer queries and any appeals.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369308" y="1828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05</a:t>
            </a:r>
            <a:endParaRPr lang="en-US" sz="4400" dirty="0"/>
          </a:p>
        </p:txBody>
      </p:sp>
      <p:sp>
        <p:nvSpPr>
          <p:cNvPr id="22" name="Step marker 5"/>
          <p:cNvSpPr/>
          <p:nvPr/>
        </p:nvSpPr>
        <p:spPr>
          <a:xfrm>
            <a:off x="9369308" y="2633472"/>
            <a:ext cx="128016" cy="128016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69308" y="2971800"/>
            <a:ext cx="19079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Certify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369308" y="3520440"/>
            <a:ext cx="186226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Award, handover, then re-certification and reporting.</a:t>
            </a:r>
            <a:endParaRPr lang="en-US" sz="1600" dirty="0"/>
          </a:p>
        </p:txBody>
      </p:sp>
      <p:sp>
        <p:nvSpPr>
          <p:cNvPr id="25" name="Promise panel"/>
          <p:cNvSpPr/>
          <p:nvPr/>
        </p:nvSpPr>
        <p:spPr>
          <a:xfrm>
            <a:off x="640080" y="5120640"/>
            <a:ext cx="10911535" cy="777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512064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can expect: 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timeline agreed up front, a direct line to the founder, and no surprise costs.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411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   ENGAGEMENT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Start with a free review, or bring us in for the whole job</a:t>
            </a:r>
            <a:endParaRPr lang="en-US" sz="3000" dirty="0"/>
          </a:p>
        </p:txBody>
      </p:sp>
      <p:sp>
        <p:nvSpPr>
          <p:cNvPr id="4" name="Engagement panel 1"/>
          <p:cNvSpPr/>
          <p:nvPr/>
        </p:nvSpPr>
        <p:spPr>
          <a:xfrm>
            <a:off x="640080" y="1828800"/>
            <a:ext cx="2522144" cy="4023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Feasibility review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Any new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Best-fit system, target rating and the main gaps. Free, with a written fee proposal after.</a:t>
            </a:r>
            <a:endParaRPr lang="en-US" sz="1600" dirty="0"/>
          </a:p>
        </p:txBody>
      </p:sp>
      <p:sp>
        <p:nvSpPr>
          <p:cNvPr id="9" name="Engagement panel 2"/>
          <p:cNvSpPr/>
          <p:nvPr/>
        </p:nvSpPr>
        <p:spPr>
          <a:xfrm>
            <a:off x="3436544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10864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10864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Certification, end to end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10864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Developers and owners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10864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Registration, modelling, documents, submission and reviewer responses, through to award.</a:t>
            </a:r>
            <a:endParaRPr lang="en-US" sz="1600" dirty="0"/>
          </a:p>
        </p:txBody>
      </p:sp>
      <p:sp>
        <p:nvSpPr>
          <p:cNvPr id="14" name="Engagement panel 3"/>
          <p:cNvSpPr/>
          <p:nvPr/>
        </p:nvSpPr>
        <p:spPr>
          <a:xfrm>
            <a:off x="6233008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07328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Simulation support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Architects and MEP teams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Energy, daylight and microclimate studies, delivered to your design programme.</a:t>
            </a:r>
            <a:endParaRPr lang="en-US" sz="1600" dirty="0"/>
          </a:p>
        </p:txBody>
      </p:sp>
      <p:sp>
        <p:nvSpPr>
          <p:cNvPr id="19" name="Engagement panel 4"/>
          <p:cNvSpPr/>
          <p:nvPr/>
        </p:nvSpPr>
        <p:spPr>
          <a:xfrm>
            <a:off x="9029471" y="1828800"/>
            <a:ext cx="2522144" cy="4023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03791" y="210312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560320"/>
            <a:ext cx="1973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Carbon and ESG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3474720"/>
            <a:ext cx="197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Best for 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Manufacturers, listed firms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4069080"/>
            <a:ext cx="1973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GHG inventories, LCA and EPDs, CBAM data and BRSR reporting.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chemeClr val="tx1"/>
                </a:solidFill>
              </a:rPr>
              <a:t>Send us your drawings. We'll tell you what's possible.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first feasibility review is free. You get:</a:t>
            </a:r>
            <a:endParaRPr lang="en-US" sz="1600" dirty="0"/>
          </a:p>
        </p:txBody>
      </p:sp>
      <p:sp>
        <p:nvSpPr>
          <p:cNvPr id="5" name="Feasibility list"/>
          <p:cNvSpPr txBox="1"/>
          <p:nvPr/>
        </p:nvSpPr>
        <p:spPr>
          <a:xfrm>
            <a:off x="640080" y="31089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rating system that fits your project, timeline and budget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main design and documentation gaps, before you register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 modelling or carbon work you'll actually need</a:t>
            </a:r>
            <a:endParaRPr lang="en-US" sz="1600" dirty="0"/>
          </a:p>
          <a:p>
            <a:pPr marL="190500" indent="-1905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realistic timeline from kickoff to award</a:t>
            </a:r>
            <a:endParaRPr lang="en-US" sz="1600" dirty="0"/>
          </a:p>
        </p:txBody>
      </p:sp>
      <p:sp>
        <p:nvSpPr>
          <p:cNvPr id="6" name="Contact divider"/>
          <p:cNvSpPr/>
          <p:nvPr/>
        </p:nvSpPr>
        <p:spPr>
          <a:xfrm>
            <a:off x="7498080" y="1005840"/>
            <a:ext cx="0" cy="402336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SIDDHANT JAIN, FOUNDER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14630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info@verdeaxis.com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+91 97255 23213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verdeaxis.com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246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India · Malaysia · France · Vietnam · Cambodia · Thailand</a:t>
            </a:r>
            <a:endParaRPr lang="en-US" sz="1300" dirty="0"/>
          </a:p>
        </p:txBody>
      </p:sp>
      <p:pic>
        <p:nvPicPr>
          <p:cNvPr id="10" name="Closing logo" descr="VERDEAXI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3977640"/>
            <a:ext cx="3383280" cy="882472"/>
          </a:xfrm>
          <a:prstGeom prst="rect">
            <a:avLst/>
          </a:prstGeom>
        </p:spPr>
      </p:pic>
      <p:pic>
        <p:nvPicPr>
          <p:cNvPr id="11" name="Warming stripes" descr="Warming stripes: global temperature 1880 to 2025, NASA GISTEM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400"/>
            <a:ext cx="12191695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" y="61264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</a:rPr>
              <a:t>Each stripe is one year of global average temperature, 1880–2025. Data: NASA GISTEMP. Stripes concept: Ed Hawkins, #ShowYourStripes.   Photo: SG Highway, Ahmedabad, by Kushagra140 (CC BY-SA 4.0, Wikimedia Commons).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RDEAXIS Editorial">
  <a:themeElements>
    <a:clrScheme name="VERDEAXIS Editorial">
      <a:dk1>
        <a:srgbClr val="1F1D1B"/>
      </a:dk1>
      <a:lt1>
        <a:srgbClr val="FFFFFF"/>
      </a:lt1>
      <a:dk2>
        <a:srgbClr val="3A3632"/>
      </a:dk2>
      <a:lt2>
        <a:srgbClr val="F4F1EC"/>
      </a:lt2>
      <a:accent1>
        <a:srgbClr val="B4532A"/>
      </a:accent1>
      <a:accent2>
        <a:srgbClr val="8C3B1E"/>
      </a:accent2>
      <a:accent3>
        <a:srgbClr val="EFE4DA"/>
      </a:accent3>
      <a:accent4>
        <a:srgbClr val="6E6862"/>
      </a:accent4>
      <a:accent5>
        <a:srgbClr val="2E5E7E"/>
      </a:accent5>
      <a:accent6>
        <a:srgbClr val="D9D3CC"/>
      </a:accent6>
      <a:hlink>
        <a:srgbClr val="8C3B1E"/>
      </a:hlink>
      <a:folHlink>
        <a:srgbClr val="6E6862"/>
      </a:folHlink>
    </a:clrScheme>
    <a:fontScheme name="VERDEAXIS Editori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VERDEAXIS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VERDEAXIS Company Profile</dc:title>
  <dc:subject>PptxGenJS Presentation</dc:subject>
  <dc:creator>Siddhant Jain, VERDEAXIS</dc:creator>
  <cp:lastModifiedBy>Siddhant Jain, VERDEAXIS</cp:lastModifiedBy>
  <cp:revision>1</cp:revision>
  <dcterms:created xsi:type="dcterms:W3CDTF">2026-10-24T18:03:55Z</dcterms:created>
  <dcterms:modified xsi:type="dcterms:W3CDTF">2026-10-24T18:03:55Z</dcterms:modified>
</cp:coreProperties>
</file>