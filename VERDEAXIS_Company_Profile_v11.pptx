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87b2ab2-983d-3b58-e186-33c512ee7fb5}">
          <p14:sldIdLst>
            <p14:sldId id="256"/>
            <p14:sldId id="257"/>
            <p14:sldId id="258"/>
          </p14:sldIdLst>
        </p14:section>
        <p14:section name="01 Context" id="{52d9672d-0052-1724-56a8-8e46ce651a01}">
          <p14:sldIdLst>
            <p14:sldId id="259"/>
            <p14:sldId id="260"/>
          </p14:sldIdLst>
        </p14:section>
        <p14:section name="02 Services" id="{c78e444e-53a1-e82f-4231-b4beba23f6a0}">
          <p14:sldIdLst>
            <p14:sldId id="261"/>
            <p14:sldId id="262"/>
            <p14:sldId id="263"/>
          </p14:sldIdLst>
        </p14:section>
        <p14:section name="03 Founder" id="{13134674-8ff4-92aa-9b87-28418748c65d}">
          <p14:sldIdLst>
            <p14:sldId id="264"/>
            <p14:sldId id="265"/>
            <p14:sldId id="266"/>
          </p14:sldIdLst>
        </p14:section>
        <p14:section name="04 Working together" id="{e40c4a99-52ec-55e1-a205-630b13f2d2cf}">
          <p14:sldIdLst>
            <p14:sldId id="267"/>
            <p14:sldId id="268"/>
          </p14:sldIdLst>
        </p14:section>
        <p14:section name="Contact" id="{517251d5-219c-e3f2-aefb-8e857b27c053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The jaali image sets up the story on the next slide: India already knew how to build for its climate. The stripe along the bottom is real data: global temperature, 1880 to 2025, one stripe per year (NASA GISTEMP).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story slide. The point is that good performance is cheapest at design stage, not that modern buildings are bad.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summary. Founder figures are personal track record, not the firm's.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each figure against the latest SEBI, BEE and EU text before sending externally.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which row the prospect recognises themselves in, then go to that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pillars. Most clients start with one and come back for the other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founder runs these models personally. That is the main technical difference from a documentation-only consultant.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IGBC AP and EDGE Expert &amp; Auditor are the founder's accreditations. LEED, GRIHA, WELL and Fitwel are project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DRAFT in the founder's voice. Siddhant to rewrite in their own words before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SJ panel with a portrait photo (3.4 x 4.3 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these are the founder's projects, not the firm's. Offer references on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prices in the profile. Quote after the feasibility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free feasibility review. Credits line must stay while the Commons photos are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1"/>
                </a:solidFill>
              </a:rPr>
              <a:t>VERDEAXIS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 photo" descr="Sunlight through a carved stone jaali screen, Humayun's Tomb, Delh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0"/>
            <a:ext cx="5608015" cy="6492240"/>
          </a:xfrm>
          <a:prstGeom prst="rect">
            <a:avLst/>
          </a:prstGeom>
        </p:spPr>
      </p:pic>
      <p:pic>
        <p:nvPicPr>
          <p:cNvPr id="3" name="Warming stripes" descr="Warming stripes: global temperature 1880 to 2025, NASA GISTEM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92240"/>
            <a:ext cx="12191695" cy="3657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SUSTAINABILITY CONSULTING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123444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spc="100" kern="0" dirty="0">
                <a:solidFill>
                  <a:schemeClr val="tx1"/>
                </a:solidFill>
              </a:rPr>
              <a:t>VERDEAXIS</a:t>
            </a:r>
            <a:endParaRPr lang="en-US" sz="60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5146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accent2"/>
                </a:solidFill>
              </a:rPr>
              <a:t>Closing the gap between regulation and reality.</a:t>
            </a:r>
            <a:endParaRPr lang="en-US" sz="28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37947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We help developers, manufacturers and listed companies get certified, cut energy and carbon, and report it with confidence.</a:t>
            </a:r>
            <a:endParaRPr lang="en-US" sz="1600" dirty="0"/>
          </a:p>
        </p:txBody>
      </p:sp>
      <p:sp>
        <p:nvSpPr>
          <p:cNvPr id="8" name="Cover rule"/>
          <p:cNvSpPr/>
          <p:nvPr/>
        </p:nvSpPr>
        <p:spPr>
          <a:xfrm>
            <a:off x="640080" y="4983480"/>
            <a:ext cx="530352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51663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Siddhant Jain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  Founder  ·  IGBC AP  ·  EDGE Expert &amp; Auditor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56235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info@verdeaxis.com    +91 97255 23213    verdeaxis.com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yline photo" descr="Glass office towers along SG Highway, Ahmedab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4114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5720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India has always known how to build for heat.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6126480" y="461772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Jaalis, courtyards and thick walls kept buildings cool without machines. Modern buildings can do the same, if the right decisions are made early, when they cost the least.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chemeClr val="tx2"/>
                </a:solidFill>
              </a:rPr>
              <a:t> 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We help you make those decisions with models and real numbers, then get the result certified.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new firm with seven years of practice behind 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WHAT WE DO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Green building certification, energy and daylight modelling, GHG accounting, LCA and ESG reporting.</a:t>
            </a:r>
            <a:endParaRPr lang="en-US" sz="1600" dirty="0"/>
          </a:p>
        </p:txBody>
      </p:sp>
      <p:sp>
        <p:nvSpPr>
          <p:cNvPr id="6" name="Column rule 1"/>
          <p:cNvSpPr/>
          <p:nvPr/>
        </p:nvSpPr>
        <p:spPr>
          <a:xfrm>
            <a:off x="3299384" y="1828800"/>
            <a:ext cx="0" cy="22860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36544" y="18288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WHO IT'S FOR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436544" y="224028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Developers, manufacturers and exporters, listed companies, and the architects who design for them.</a:t>
            </a:r>
            <a:endParaRPr lang="en-US" sz="1600" dirty="0"/>
          </a:p>
        </p:txBody>
      </p:sp>
      <p:sp>
        <p:nvSpPr>
          <p:cNvPr id="9" name="Column rule 2"/>
          <p:cNvSpPr/>
          <p:nvPr/>
        </p:nvSpPr>
        <p:spPr>
          <a:xfrm>
            <a:off x="6095848" y="1828800"/>
            <a:ext cx="0" cy="22860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33008" y="18288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HOW WE WORK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33008" y="224028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You deal with the founder, not a junior team. Advice comes from our own models and numbers.</a:t>
            </a:r>
            <a:endParaRPr lang="en-US" sz="1600" dirty="0"/>
          </a:p>
        </p:txBody>
      </p:sp>
      <p:sp>
        <p:nvSpPr>
          <p:cNvPr id="12" name="Column rule 3"/>
          <p:cNvSpPr/>
          <p:nvPr/>
        </p:nvSpPr>
        <p:spPr>
          <a:xfrm>
            <a:off x="8892311" y="1828800"/>
            <a:ext cx="0" cy="22860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29471" y="18288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WHERE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029471" y="224028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Based in India. Project experience in France, Vietnam, Cambodia and Thailand.</a:t>
            </a:r>
            <a:endParaRPr lang="en-US" sz="1600" dirty="0"/>
          </a:p>
        </p:txBody>
      </p:sp>
      <p:sp>
        <p:nvSpPr>
          <p:cNvPr id="15" name="Numbers panel"/>
          <p:cNvSpPr/>
          <p:nvPr/>
        </p:nvSpPr>
        <p:spPr>
          <a:xfrm>
            <a:off x="640080" y="4434840"/>
            <a:ext cx="10911535" cy="1463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4572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7+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5349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years in practice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550844" y="4572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100+</a:t>
            </a:r>
            <a:endParaRPr lang="en-US" sz="4800" dirty="0"/>
          </a:p>
        </p:txBody>
      </p:sp>
      <p:sp>
        <p:nvSpPr>
          <p:cNvPr id="19" name="Text 17"/>
          <p:cNvSpPr txBox="1"/>
          <p:nvPr/>
        </p:nvSpPr>
        <p:spPr>
          <a:xfrm>
            <a:off x="3550844" y="5349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projects delivered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095848" y="4572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5</a:t>
            </a:r>
            <a:endParaRPr lang="en-US" sz="4800" dirty="0"/>
          </a:p>
        </p:txBody>
      </p:sp>
      <p:sp>
        <p:nvSpPr>
          <p:cNvPr id="21" name="Text 19"/>
          <p:cNvSpPr txBox="1"/>
          <p:nvPr/>
        </p:nvSpPr>
        <p:spPr>
          <a:xfrm>
            <a:off x="6095848" y="5349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countries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640851" y="4572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6</a:t>
            </a:r>
            <a:endParaRPr lang="en-US" sz="4800" dirty="0"/>
          </a:p>
        </p:txBody>
      </p:sp>
      <p:sp>
        <p:nvSpPr>
          <p:cNvPr id="23" name="Text 21"/>
          <p:cNvSpPr txBox="1"/>
          <p:nvPr/>
        </p:nvSpPr>
        <p:spPr>
          <a:xfrm>
            <a:off x="8640851" y="5349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rating systems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01   WHY NOW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What's changing, and what it means for you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33933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100 kW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26080"/>
            <a:ext cx="3210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New commercial buildings above this connected load fall under ECSBC, India's energy code.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14800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WHAT IT MEANS FOR YOU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43484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Energy modelling is now part of compliance, not an optional extra.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486400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Source: BEE, ECSBC 2024</a:t>
            </a:r>
            <a:endParaRPr lang="en-US" sz="1100" dirty="0"/>
          </a:p>
        </p:txBody>
      </p:sp>
      <p:sp>
        <p:nvSpPr>
          <p:cNvPr id="9" name="Column rule 1"/>
          <p:cNvSpPr/>
          <p:nvPr/>
        </p:nvSpPr>
        <p:spPr>
          <a:xfrm>
            <a:off x="4216298" y="1828800"/>
            <a:ext cx="0" cy="393192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99178" y="1828800"/>
            <a:ext cx="33933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2027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4399178" y="2926080"/>
            <a:ext cx="3210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By March 2027, India's top 1,000 listed companies need BRSR Core assurance.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399178" y="4114800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WHAT IT MEANS FOR YOU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99178" y="443484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Expect their suppliers to be asked for emissions data as well.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399178" y="5486400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Source: SEBI</a:t>
            </a:r>
            <a:endParaRPr lang="en-US" sz="1100" dirty="0"/>
          </a:p>
        </p:txBody>
      </p:sp>
      <p:sp>
        <p:nvSpPr>
          <p:cNvPr id="15" name="Column rule 2"/>
          <p:cNvSpPr/>
          <p:nvPr/>
        </p:nvSpPr>
        <p:spPr>
          <a:xfrm>
            <a:off x="7975397" y="1828800"/>
            <a:ext cx="0" cy="393192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58277" y="1828800"/>
            <a:ext cx="33933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2026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8158277" y="2926080"/>
            <a:ext cx="3210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The EU's carbon border tax (CBAM) entered its definitive phase in January.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158277" y="4114800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WHAT IT MEANS FOR YOU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158277" y="443484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Exporters without verified emissions data are charged on default values, which usually cost more.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158277" y="5486400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Source: EU Regulation 2023/956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01   WHO WE HELP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Four kinds of client, four different reasons to call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CLIENT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WHAT'S PUSHING THEM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178308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WHAT WE DO</a:t>
            </a:r>
            <a:endParaRPr lang="en-US" sz="1200" dirty="0"/>
          </a:p>
        </p:txBody>
      </p:sp>
      <p:sp>
        <p:nvSpPr>
          <p:cNvPr id="7" name="Row rule 0"/>
          <p:cNvSpPr/>
          <p:nvPr/>
        </p:nvSpPr>
        <p:spPr>
          <a:xfrm>
            <a:off x="640080" y="2194560"/>
            <a:ext cx="1091153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35915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Developers and owners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35915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Tenant requirements, green finance and ECSBC compliance.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359152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Certification under LEED, IGBC, EDGE or GRIHA, backed by energy and daylight models.</a:t>
            </a:r>
            <a:endParaRPr lang="en-US" sz="1500" dirty="0"/>
          </a:p>
        </p:txBody>
      </p:sp>
      <p:sp>
        <p:nvSpPr>
          <p:cNvPr id="11" name="Row rule 1"/>
          <p:cNvSpPr/>
          <p:nvPr/>
        </p:nvSpPr>
        <p:spPr>
          <a:xfrm>
            <a:off x="640080" y="3218688"/>
            <a:ext cx="1091153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3832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Manufacturers and exporters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33832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EU CBAM, and buyers asking for product carbon and Scope 3 data.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3383280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GHG inventories, product LCA, EPD support and green factory certification.</a:t>
            </a:r>
            <a:endParaRPr lang="en-US" sz="1500" dirty="0"/>
          </a:p>
        </p:txBody>
      </p:sp>
      <p:sp>
        <p:nvSpPr>
          <p:cNvPr id="15" name="Row rule 2"/>
          <p:cNvSpPr/>
          <p:nvPr/>
        </p:nvSpPr>
        <p:spPr>
          <a:xfrm>
            <a:off x="640080" y="4242816"/>
            <a:ext cx="1091153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40740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Listed companies and funds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44074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BRSR Core assurance, investor questionnaires and GRESB.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4407408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Scope 1–3 inventories, BRSR and GRI reporting, and physical climate-risk studies.</a:t>
            </a:r>
            <a:endParaRPr lang="en-US" sz="1500" dirty="0"/>
          </a:p>
        </p:txBody>
      </p:sp>
      <p:sp>
        <p:nvSpPr>
          <p:cNvPr id="19" name="Row rule 3"/>
          <p:cNvSpPr/>
          <p:nvPr/>
        </p:nvSpPr>
        <p:spPr>
          <a:xfrm>
            <a:off x="640080" y="5266944"/>
            <a:ext cx="1091153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543153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Architects and MEP teams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749040" y="5431536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Credits that depend on simulation, on tight design timelines.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5431536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Energy, daylight and microclimate studies, delivered as part of your team.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02   WHAT WE DO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Measure, certify, report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3393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Measure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1752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Find the baseline and build the evidence.</a:t>
            </a:r>
            <a:endParaRPr lang="en-US" sz="1600" dirty="0"/>
          </a:p>
        </p:txBody>
      </p:sp>
      <p:sp>
        <p:nvSpPr>
          <p:cNvPr id="7" name="Bullets Measure"/>
          <p:cNvSpPr txBox="1"/>
          <p:nvPr/>
        </p:nvSpPr>
        <p:spPr>
          <a:xfrm>
            <a:off x="640080" y="3794760"/>
            <a:ext cx="32561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GHG inventory, Scope 1, 2 and 3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Energy and daylight simulation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Microclimate and climate-risk studies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LCA, EPDs and CBAM emissions data</a:t>
            </a:r>
            <a:endParaRPr lang="en-US" sz="1600" dirty="0"/>
          </a:p>
        </p:txBody>
      </p:sp>
      <p:sp>
        <p:nvSpPr>
          <p:cNvPr id="8" name="Column rule 1"/>
          <p:cNvSpPr/>
          <p:nvPr/>
        </p:nvSpPr>
        <p:spPr>
          <a:xfrm>
            <a:off x="4216298" y="1828800"/>
            <a:ext cx="0" cy="41148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99178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399178" y="2286000"/>
            <a:ext cx="3393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Certify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399178" y="301752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Take the project through to award.</a:t>
            </a:r>
            <a:endParaRPr lang="en-US" sz="1600" dirty="0"/>
          </a:p>
        </p:txBody>
      </p:sp>
      <p:sp>
        <p:nvSpPr>
          <p:cNvPr id="12" name="Bullets Certify"/>
          <p:cNvSpPr txBox="1"/>
          <p:nvPr/>
        </p:nvSpPr>
        <p:spPr>
          <a:xfrm>
            <a:off x="4399178" y="3794760"/>
            <a:ext cx="32561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LEED, EDGE, IGBC and GRIHA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WELL and Fitwel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ECSBC and BEE compliance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Reviewer queries and appeals</a:t>
            </a:r>
            <a:endParaRPr lang="en-US" sz="1600" dirty="0"/>
          </a:p>
        </p:txBody>
      </p:sp>
      <p:sp>
        <p:nvSpPr>
          <p:cNvPr id="13" name="Column rule 2"/>
          <p:cNvSpPr/>
          <p:nvPr/>
        </p:nvSpPr>
        <p:spPr>
          <a:xfrm>
            <a:off x="7975397" y="1828800"/>
            <a:ext cx="0" cy="41148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58277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158277" y="2286000"/>
            <a:ext cx="3393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Report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8158277" y="301752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Show investors and regulators the numbers.</a:t>
            </a:r>
            <a:endParaRPr lang="en-US" sz="1600" dirty="0"/>
          </a:p>
        </p:txBody>
      </p:sp>
      <p:sp>
        <p:nvSpPr>
          <p:cNvPr id="17" name="Bullets Report"/>
          <p:cNvSpPr txBox="1"/>
          <p:nvPr/>
        </p:nvSpPr>
        <p:spPr>
          <a:xfrm>
            <a:off x="8158277" y="3794760"/>
            <a:ext cx="32561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BRSR Core and BRSR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GRI, CDP and TCFD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ESG strategy and roadmaps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SBTi target-setting support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02   BUILDING PERFORMANCE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We test the design in a model before anyone builds it</a:t>
            </a:r>
            <a:endParaRPr lang="en-US" sz="3000" dirty="0"/>
          </a:p>
        </p:txBody>
      </p:sp>
      <p:sp>
        <p:nvSpPr>
          <p:cNvPr id="4" name="Tile rule 0"/>
          <p:cNvSpPr/>
          <p:nvPr/>
        </p:nvSpPr>
        <p:spPr>
          <a:xfrm>
            <a:off x="640080" y="1828800"/>
            <a:ext cx="518144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ENERGY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Know the energy bill before it's built.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52928"/>
            <a:ext cx="518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Baseline and proposed models in DesignBuilder, EnergyPlus and eQUEST, for LEED, ECSBC and BEE.</a:t>
            </a:r>
            <a:endParaRPr lang="en-US" sz="1500" dirty="0"/>
          </a:p>
        </p:txBody>
      </p:sp>
      <p:sp>
        <p:nvSpPr>
          <p:cNvPr id="8" name="Tile rule 1"/>
          <p:cNvSpPr/>
          <p:nvPr/>
        </p:nvSpPr>
        <p:spPr>
          <a:xfrm>
            <a:off x="6370168" y="1828800"/>
            <a:ext cx="518144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0168" y="201168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DAYLIGHT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370168" y="233172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Bright rooms, without glare or heat.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370168" y="2852928"/>
            <a:ext cx="518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sDA, ASE, daylight factor and glare (DGP) studies, plus façade and shading options.</a:t>
            </a:r>
            <a:endParaRPr lang="en-US" sz="1500" dirty="0"/>
          </a:p>
        </p:txBody>
      </p:sp>
      <p:sp>
        <p:nvSpPr>
          <p:cNvPr id="12" name="Tile rule 2"/>
          <p:cNvSpPr/>
          <p:nvPr/>
        </p:nvSpPr>
        <p:spPr>
          <a:xfrm>
            <a:off x="640080" y="3886200"/>
            <a:ext cx="518144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06908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MICROCLIMATE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38912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Outdoor spaces people can use in May.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910328"/>
            <a:ext cx="518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UTCI and PET comfort, pedestrian wind, heat island, solar access and site shading.</a:t>
            </a:r>
            <a:endParaRPr lang="en-US" sz="1500" dirty="0"/>
          </a:p>
        </p:txBody>
      </p:sp>
      <p:sp>
        <p:nvSpPr>
          <p:cNvPr id="16" name="Tile rule 3"/>
          <p:cNvSpPr/>
          <p:nvPr/>
        </p:nvSpPr>
        <p:spPr>
          <a:xfrm>
            <a:off x="6370168" y="3886200"/>
            <a:ext cx="518144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0168" y="406908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CARBON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370168" y="438912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Know the carbon in your materials.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370168" y="4910328"/>
            <a:ext cx="518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Whole-building and product LCA in One Click LCA and Excel, EPD support, links to Scope 3.</a:t>
            </a:r>
            <a:endParaRPr lang="en-US" sz="1500" dirty="0"/>
          </a:p>
        </p:txBody>
      </p:sp>
      <p:sp>
        <p:nvSpPr>
          <p:cNvPr id="20" name="Divider"/>
          <p:cNvSpPr/>
          <p:nvPr/>
        </p:nvSpPr>
        <p:spPr>
          <a:xfrm>
            <a:off x="640080" y="5623560"/>
            <a:ext cx="1091153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74243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2"/>
                </a:solidFill>
              </a:rPr>
              <a:t>Every study ends with a one-page summary in plain English: what to change, what it costs and which credits it earns.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02   CERTIFICATION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Six rating systems, chosen to fit the project</a:t>
            </a:r>
            <a:endParaRPr lang="en-US" sz="3000" dirty="0"/>
          </a:p>
        </p:txBody>
      </p:sp>
      <p:graphicFrame>
        <p:nvGraphicFramePr>
          <p:cNvPr id="9" name="Rating system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7315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377440"/>
                <a:gridCol w="3566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SYSTEM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ISSUED BY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WE DELIVER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LEED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USGBC / GBCI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BD+C, Core and Shell, ID+C, O+M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EDGE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IFC / GBCI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Design and final certification, EDGE audits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IGBC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CII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New buildings, green factories, homes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GRIHA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GRIHA Council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GRIHA V-2019, Large Developments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WELL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IWBI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Health and wellbeing strategy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Fitwel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Center for Active Design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Occupant health certification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redentials panel"/>
          <p:cNvSpPr/>
          <p:nvPr/>
        </p:nvSpPr>
        <p:spPr>
          <a:xfrm>
            <a:off x="8503920" y="1828800"/>
            <a:ext cx="3047695" cy="3703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823960" y="2103120"/>
            <a:ext cx="2407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FOUNDER CREDENTIALS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823960" y="2560320"/>
            <a:ext cx="2407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IGBC AP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Accredited Professional, CII-IGBC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823960" y="3429000"/>
            <a:ext cx="2407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EDGE Expert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IFC / GBCI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823960" y="4297680"/>
            <a:ext cx="2407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EDGE Auditor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GBCI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715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Not sure which system fits? That is what the free feasibility review is for.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under note photo" descr="Louis Kahn Plaza, IIM Ahmedab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1206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852160" y="777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   A NOTE FROM THE FOUNDER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852160" y="1371600"/>
            <a:ext cx="5669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chemeClr val="tx1"/>
                </a:solidFill>
              </a:rPr>
              <a:t>In seven years and more than a hundred projects, I saw the same thing again and again. Certification was left to the end, after the big decisions were already made.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chemeClr val="tx1"/>
                </a:solidFill>
              </a:rPr>
              <a:t> 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chemeClr val="tx1"/>
                </a:solidFill>
              </a:rPr>
              <a:t>VERDEAXIS works the other way round. We model first, decide with numbers, and then certify what actually gets built.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chemeClr val="tx1"/>
                </a:solidFill>
              </a:rPr>
              <a:t> 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chemeClr val="tx1"/>
                </a:solidFill>
              </a:rPr>
              <a:t>And if a certification isn't worth it for your project, I'll tell you.</a:t>
            </a:r>
            <a:endParaRPr lang="en-US" sz="2000" dirty="0"/>
          </a:p>
        </p:txBody>
      </p:sp>
      <p:sp>
        <p:nvSpPr>
          <p:cNvPr id="5" name="Signature rule"/>
          <p:cNvSpPr/>
          <p:nvPr/>
        </p:nvSpPr>
        <p:spPr>
          <a:xfrm>
            <a:off x="5852160" y="5349240"/>
            <a:ext cx="1097280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52160" y="54864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Siddhant Jain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Founder, VERDEAXIS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   FOUNDER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You work with the founder, start to finish</a:t>
            </a:r>
            <a:endParaRPr lang="en-US" sz="3000" dirty="0"/>
          </a:p>
        </p:txBody>
      </p:sp>
      <p:sp>
        <p:nvSpPr>
          <p:cNvPr id="4" name="Portrait frame (replace with photo)"/>
          <p:cNvSpPr/>
          <p:nvPr/>
        </p:nvSpPr>
        <p:spPr>
          <a:xfrm>
            <a:off x="640080" y="1828800"/>
            <a:ext cx="3108960" cy="39319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3108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SJ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828800"/>
            <a:ext cx="7345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Siddhant Jain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2395728"/>
            <a:ext cx="7345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Founder and Principal Consultant  ·  IGBC AP  ·  EDGE Expert &amp; Auditor</a:t>
            </a:r>
            <a:endParaRPr lang="en-US" sz="1500" dirty="0"/>
          </a:p>
        </p:txBody>
      </p:sp>
      <p:sp>
        <p:nvSpPr>
          <p:cNvPr id="8" name="Founder bio"/>
          <p:cNvSpPr txBox="1"/>
          <p:nvPr/>
        </p:nvSpPr>
        <p:spPr>
          <a:xfrm>
            <a:off x="4206240" y="2926080"/>
            <a:ext cx="734537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Seven years and 100+ projects in certification, simulation and carbon, across India, France, Vietnam, Cambodia and Thailand.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Builds the energy, daylight and microclimate models in DesignBuilder and EnergyPlus, and LCA models in One Click LCA and Excel.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Has prepared Scope 1–3 inventories and ESG disclosures for industrial portfolios, including GRESB-aligned reporting.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Leads every VERDEAXIS project personally, from the first call to the final certificate.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   TRACK RECORD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Six projects from the founder's portfolio</a:t>
            </a:r>
            <a:endParaRPr lang="en-US" sz="3000" dirty="0"/>
          </a:p>
        </p:txBody>
      </p:sp>
      <p:graphicFrame>
        <p:nvGraphicFramePr>
          <p:cNvPr id="12" name="Track recor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3017520"/>
                <a:gridCol w="240761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PROJECT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LOCATION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SCOPE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NOTES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Commercial campus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Gandhinagar, India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LEED v4.1 O+M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Targeting Gold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28-floor tower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 Chi Minh City, Vietnam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LEED BD+C v4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Core and Shell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Pet food facilities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France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LEED BD+C v4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Two industrial sites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Rice milling factory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Cambodia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EDGE v3.1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Final certification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Industrial portfolio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Thailand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ESG and GHG, Scope 1–3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GRESB-aligned reporting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Industrial park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Samut Sakhon, Thailand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Physical climate risk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WRI, NASA and Fathom data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7607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Delivered by the founder before VERDEAXIS was formed. Client names withheld; references on request.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04   HOW WE WORK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Five steps from first call to certificate</a:t>
            </a:r>
            <a:endParaRPr lang="en-US" sz="3000" dirty="0"/>
          </a:p>
        </p:txBody>
      </p:sp>
      <p:sp>
        <p:nvSpPr>
          <p:cNvPr id="4" name="Process line"/>
          <p:cNvSpPr/>
          <p:nvPr/>
        </p:nvSpPr>
        <p:spPr>
          <a:xfrm>
            <a:off x="640080" y="2697480"/>
            <a:ext cx="1091153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01</a:t>
            </a:r>
            <a:endParaRPr lang="en-US" sz="4400" dirty="0"/>
          </a:p>
        </p:txBody>
      </p:sp>
      <p:sp>
        <p:nvSpPr>
          <p:cNvPr id="6" name="Step marker 1"/>
          <p:cNvSpPr/>
          <p:nvPr/>
        </p:nvSpPr>
        <p:spPr>
          <a:xfrm>
            <a:off x="640080" y="263347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971800"/>
            <a:ext cx="190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Scope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20440"/>
            <a:ext cx="186226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Brief, goals and the right rating system.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22387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02</a:t>
            </a:r>
            <a:endParaRPr lang="en-US" sz="4400" dirty="0"/>
          </a:p>
        </p:txBody>
      </p:sp>
      <p:sp>
        <p:nvSpPr>
          <p:cNvPr id="10" name="Step marker 2"/>
          <p:cNvSpPr/>
          <p:nvPr/>
        </p:nvSpPr>
        <p:spPr>
          <a:xfrm>
            <a:off x="2822387" y="263347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822387" y="2971800"/>
            <a:ext cx="190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Analyse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822387" y="3520440"/>
            <a:ext cx="186226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Site visit, data audit, models and GHG baseline.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04694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03</a:t>
            </a:r>
            <a:endParaRPr lang="en-US" sz="4400" dirty="0"/>
          </a:p>
        </p:txBody>
      </p:sp>
      <p:sp>
        <p:nvSpPr>
          <p:cNvPr id="14" name="Step marker 3"/>
          <p:cNvSpPr/>
          <p:nvPr/>
        </p:nvSpPr>
        <p:spPr>
          <a:xfrm>
            <a:off x="5004694" y="263347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04694" y="2971800"/>
            <a:ext cx="190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Document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004694" y="3520440"/>
            <a:ext cx="186226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Credit documents, drawings and model files.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187001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04</a:t>
            </a:r>
            <a:endParaRPr lang="en-US" sz="4400" dirty="0"/>
          </a:p>
        </p:txBody>
      </p:sp>
      <p:sp>
        <p:nvSpPr>
          <p:cNvPr id="18" name="Step marker 4"/>
          <p:cNvSpPr/>
          <p:nvPr/>
        </p:nvSpPr>
        <p:spPr>
          <a:xfrm>
            <a:off x="7187001" y="263347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87001" y="2971800"/>
            <a:ext cx="190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Submit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187001" y="3520440"/>
            <a:ext cx="186226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Upload, reviewer queries and any appeals.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369308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05</a:t>
            </a:r>
            <a:endParaRPr lang="en-US" sz="4400" dirty="0"/>
          </a:p>
        </p:txBody>
      </p:sp>
      <p:sp>
        <p:nvSpPr>
          <p:cNvPr id="22" name="Step marker 5"/>
          <p:cNvSpPr/>
          <p:nvPr/>
        </p:nvSpPr>
        <p:spPr>
          <a:xfrm>
            <a:off x="9369308" y="263347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69308" y="2971800"/>
            <a:ext cx="190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Certify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369308" y="3520440"/>
            <a:ext cx="186226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Award, handover, then re-certification and reporting.</a:t>
            </a:r>
            <a:endParaRPr lang="en-US" sz="1600" dirty="0"/>
          </a:p>
        </p:txBody>
      </p:sp>
      <p:sp>
        <p:nvSpPr>
          <p:cNvPr id="25" name="Promise panel"/>
          <p:cNvSpPr/>
          <p:nvPr/>
        </p:nvSpPr>
        <p:spPr>
          <a:xfrm>
            <a:off x="640080" y="5120640"/>
            <a:ext cx="10911535" cy="777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0120" y="512064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you can expect: 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timeline agreed up front, a direct line to the founder, and no surprise costs.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04   ENGAGEMENT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Start with a free review, or bring us in for the whole job</a:t>
            </a:r>
            <a:endParaRPr lang="en-US" sz="3000" dirty="0"/>
          </a:p>
        </p:txBody>
      </p:sp>
      <p:sp>
        <p:nvSpPr>
          <p:cNvPr id="4" name="Engagement panel 1"/>
          <p:cNvSpPr/>
          <p:nvPr/>
        </p:nvSpPr>
        <p:spPr>
          <a:xfrm>
            <a:off x="640080" y="1828800"/>
            <a:ext cx="2522144" cy="40233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START HERE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1973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Feasibility review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74720"/>
            <a:ext cx="197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Best for  </a:t>
            </a:r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Any new project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069080"/>
            <a:ext cx="1973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Best-fit system, target rating and the main gaps. Free, with a written fee proposal after.</a:t>
            </a:r>
            <a:endParaRPr lang="en-US" sz="1600" dirty="0"/>
          </a:p>
        </p:txBody>
      </p:sp>
      <p:sp>
        <p:nvSpPr>
          <p:cNvPr id="9" name="Engagement panel 2"/>
          <p:cNvSpPr/>
          <p:nvPr/>
        </p:nvSpPr>
        <p:spPr>
          <a:xfrm>
            <a:off x="3436544" y="1828800"/>
            <a:ext cx="2522144" cy="4023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10864" y="210312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10864" y="2560320"/>
            <a:ext cx="1973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Certification, end to end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710864" y="3474720"/>
            <a:ext cx="197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Best for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Developers and owners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10864" y="4069080"/>
            <a:ext cx="1973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Registration, modelling, documents, submission and reviewer responses, through to award.</a:t>
            </a:r>
            <a:endParaRPr lang="en-US" sz="1600" dirty="0"/>
          </a:p>
        </p:txBody>
      </p:sp>
      <p:sp>
        <p:nvSpPr>
          <p:cNvPr id="14" name="Engagement panel 3"/>
          <p:cNvSpPr/>
          <p:nvPr/>
        </p:nvSpPr>
        <p:spPr>
          <a:xfrm>
            <a:off x="6233008" y="1828800"/>
            <a:ext cx="2522144" cy="4023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07328" y="210312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07328" y="2560320"/>
            <a:ext cx="1973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Simulation support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507328" y="3474720"/>
            <a:ext cx="197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Best for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Architects and MEP teams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069080"/>
            <a:ext cx="1973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Energy, daylight and microclimate studies, delivered to your design programme.</a:t>
            </a:r>
            <a:endParaRPr lang="en-US" sz="1600" dirty="0"/>
          </a:p>
        </p:txBody>
      </p:sp>
      <p:sp>
        <p:nvSpPr>
          <p:cNvPr id="19" name="Engagement panel 4"/>
          <p:cNvSpPr/>
          <p:nvPr/>
        </p:nvSpPr>
        <p:spPr>
          <a:xfrm>
            <a:off x="9029471" y="1828800"/>
            <a:ext cx="2522144" cy="4023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03791" y="210312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303791" y="2560320"/>
            <a:ext cx="1973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Carbon and ESG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303791" y="3474720"/>
            <a:ext cx="197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Best for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Manufacturers, listed firms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303791" y="4069080"/>
            <a:ext cx="1973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GHG inventories, LCA and EPDs, CBAM data and BRSR reporting.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NEXT STEP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chemeClr val="tx1"/>
                </a:solidFill>
              </a:rPr>
              <a:t>Send us your drawings. We'll tell you what's possible.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first feasibility review is free. You get:</a:t>
            </a:r>
            <a:endParaRPr lang="en-US" sz="1600" dirty="0"/>
          </a:p>
        </p:txBody>
      </p:sp>
      <p:sp>
        <p:nvSpPr>
          <p:cNvPr id="5" name="Feasibility list"/>
          <p:cNvSpPr txBox="1"/>
          <p:nvPr/>
        </p:nvSpPr>
        <p:spPr>
          <a:xfrm>
            <a:off x="640080" y="310896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rating system that fits your project, timeline and budget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main design and documentation gaps, before you register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What modelling or carbon work you'll actually need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realistic timeline from kickoff to award</a:t>
            </a:r>
            <a:endParaRPr lang="en-US" sz="1600" dirty="0"/>
          </a:p>
        </p:txBody>
      </p:sp>
      <p:sp>
        <p:nvSpPr>
          <p:cNvPr id="6" name="Contact divider"/>
          <p:cNvSpPr/>
          <p:nvPr/>
        </p:nvSpPr>
        <p:spPr>
          <a:xfrm>
            <a:off x="7498080" y="1005840"/>
            <a:ext cx="0" cy="402336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SIDDHANT JAIN, FOUNDER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146304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info@verdeaxis.com</a:t>
            </a:r>
            <a:endParaRPr lang="en-US" sz="2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+91 97255 23213</a:t>
            </a:r>
            <a:endParaRPr lang="en-US" sz="2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verdeaxis.com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3246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India · France · Vietnam · Cambodia · Thailand</a:t>
            </a:r>
            <a:endParaRPr lang="en-US" sz="1300" dirty="0"/>
          </a:p>
        </p:txBody>
      </p:sp>
      <p:pic>
        <p:nvPicPr>
          <p:cNvPr id="10" name="Warming stripes" descr="Warming stripes: global temperature 1880 to 2025, NASA GISTEM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486400"/>
            <a:ext cx="12191695" cy="5029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0080" y="612648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4"/>
                </a:solidFill>
              </a:rPr>
              <a:t>Each stripe is one year of global average temperature, 1880–2025. Data: NASA GISTEMP. Stripes concept: Ed Hawkins, #ShowYourStripes.   Photos (CC BY-SA 4.0, Wikimedia Commons): jaali, Om Pratap Singh; SG Highway, Kushagra140; IIM Ahmedabad, Perspectives Photography Club.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RDEAXIS Editorial">
  <a:themeElements>
    <a:clrScheme name="VERDEAXIS Editorial">
      <a:dk1>
        <a:srgbClr val="1F1D1B"/>
      </a:dk1>
      <a:lt1>
        <a:srgbClr val="FFFFFF"/>
      </a:lt1>
      <a:dk2>
        <a:srgbClr val="3A3632"/>
      </a:dk2>
      <a:lt2>
        <a:srgbClr val="F4F1EC"/>
      </a:lt2>
      <a:accent1>
        <a:srgbClr val="B4532A"/>
      </a:accent1>
      <a:accent2>
        <a:srgbClr val="8C3B1E"/>
      </a:accent2>
      <a:accent3>
        <a:srgbClr val="EFE4DA"/>
      </a:accent3>
      <a:accent4>
        <a:srgbClr val="6E6862"/>
      </a:accent4>
      <a:accent5>
        <a:srgbClr val="2E5E7E"/>
      </a:accent5>
      <a:accent6>
        <a:srgbClr val="D9D3CC"/>
      </a:accent6>
      <a:hlink>
        <a:srgbClr val="8C3B1E"/>
      </a:hlink>
      <a:folHlink>
        <a:srgbClr val="6E6862"/>
      </a:folHlink>
    </a:clrScheme>
    <a:fontScheme name="VERDEAXIS Editorial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VERDEAXIS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VERDEAXIS Company Profile</dc:title>
  <dc:subject>PptxGenJS Presentation</dc:subject>
  <dc:creator>Siddhant Jain, VERDEAXIS</dc:creator>
  <cp:lastModifiedBy>Siddhant Jain, VERDEAXIS</cp:lastModifiedBy>
  <cp:revision>1</cp:revision>
  <dcterms:created xsi:type="dcterms:W3CDTF">2026-10-24T17:08:28Z</dcterms:created>
  <dcterms:modified xsi:type="dcterms:W3CDTF">2026-10-24T17:08:28Z</dcterms:modified>
</cp:coreProperties>
</file>