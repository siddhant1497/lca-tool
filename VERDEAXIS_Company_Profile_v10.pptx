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d80a3da-4b4c-903c-0d01-f12054d82522}">
          <p14:sldIdLst>
            <p14:sldId id="256"/>
            <p14:sldId id="257"/>
            <p14:sldId id="258"/>
          </p14:sldIdLst>
        </p14:section>
        <p14:section name="01 Context" id="{eadc6a39-4c4f-1687-0b92-dc68d40f1aa5}">
          <p14:sldIdLst>
            <p14:sldId id="259"/>
            <p14:sldId id="260"/>
          </p14:sldIdLst>
        </p14:section>
        <p14:section name="02 Services" id="{0ddea144-1428-c107-14db-4d964bd07eb1}">
          <p14:sldIdLst>
            <p14:sldId id="261"/>
            <p14:sldId id="262"/>
            <p14:sldId id="263"/>
          </p14:sldIdLst>
        </p14:section>
        <p14:section name="03 Founder" id="{b3f0cddd-d975-f41e-6e1d-db78366c4328}">
          <p14:sldIdLst>
            <p14:sldId id="264"/>
            <p14:sldId id="265"/>
            <p14:sldId id="266"/>
          </p14:sldIdLst>
        </p14:section>
        <p14:section name="04 Working together" id="{abfe9e0a-3f15-1f5e-fcef-67feb0a2cd75}">
          <p14:sldIdLst>
            <p14:sldId id="267"/>
            <p14:sldId id="268"/>
          </p14:sldIdLst>
        </p14:section>
        <p14:section name="Contact" id="{b21de415-3a8b-0b2d-4423-5cc0968f5d3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jaali image sets up the story on the next slide: India already knew how to build for its climate.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Say it plainly: we are not against glass, we are against designing without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each figure against the latest SEBI, BEE and EU text before sending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in the founder's voice. Siddhant to rewrite in their own words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SJ panel with a portrait photo (3.4 x 4.3 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are the founder's projects, not the firm's. Offer references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Sunlight through a carved stone jaali screen, Humayun's Tomb, Del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492240"/>
          </a:xfrm>
          <a:prstGeom prst="rect">
            <a:avLst/>
          </a:prstGeom>
        </p:spPr>
      </p:pic>
      <p:pic>
        <p:nvPicPr>
          <p:cNvPr id="3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Green building certification, building performance simulation, and carbon and ESG work for projects in India and across Asia.</a:t>
            </a:r>
            <a:endParaRPr lang="en-US" sz="1600" dirty="0"/>
          </a:p>
        </p:txBody>
      </p:sp>
      <p:sp>
        <p:nvSpPr>
          <p:cNvPr id="8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knew how to build for heat. Then we started building in glass.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long before air conditioning. Our new skylines are mostly glass, cooled by machines and paid for every month.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VERDEAXIS brings climate sense back into design, and proves it with simulation, carbon data and certification.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manufacturers and exporters, listed companies, and the architects who design for them.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founder leads every project. Advice comes from our own models and carbon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projects delivered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WHY NOW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rules are changing faster than most projects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~33%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2384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of India's electricity is used by buildings.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0060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CEA, MoSPI</a:t>
            </a:r>
            <a:endParaRPr lang="en-US" sz="1100" dirty="0"/>
          </a:p>
        </p:txBody>
      </p:sp>
      <p:sp>
        <p:nvSpPr>
          <p:cNvPr id="7" name="Column rule 1"/>
          <p:cNvSpPr/>
          <p:nvPr/>
        </p:nvSpPr>
        <p:spPr>
          <a:xfrm>
            <a:off x="3299384" y="182880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36544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2070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36544" y="2926080"/>
            <a:ext cx="2384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India's net-zero year. ECSBC already applies to commercial buildings of 100 kW and above.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36544" y="480060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Government of India, BEE</a:t>
            </a:r>
            <a:endParaRPr lang="en-US" sz="1100" dirty="0"/>
          </a:p>
        </p:txBody>
      </p:sp>
      <p:sp>
        <p:nvSpPr>
          <p:cNvPr id="11" name="Column rule 2"/>
          <p:cNvSpPr/>
          <p:nvPr/>
        </p:nvSpPr>
        <p:spPr>
          <a:xfrm>
            <a:off x="6095848" y="182880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1,000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2926080"/>
            <a:ext cx="2384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listed companies come under BRSR Core assurance by March 2027.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80060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SEBI</a:t>
            </a:r>
            <a:endParaRPr lang="en-US" sz="1100" dirty="0"/>
          </a:p>
        </p:txBody>
      </p:sp>
      <p:sp>
        <p:nvSpPr>
          <p:cNvPr id="15" name="Column rule 3"/>
          <p:cNvSpPr/>
          <p:nvPr/>
        </p:nvSpPr>
        <p:spPr>
          <a:xfrm>
            <a:off x="8892311" y="182880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29471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029471" y="2926080"/>
            <a:ext cx="2384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EU CBAM's definitive phase began. Steel, aluminium and cement exporters must back their emissions with data.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29471" y="480060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EU Regulation 2023/956</a:t>
            </a:r>
            <a:endParaRPr lang="en-US" sz="1100" dirty="0"/>
          </a:p>
        </p:txBody>
      </p:sp>
      <p:sp>
        <p:nvSpPr>
          <p:cNvPr id="19" name="Divider"/>
          <p:cNvSpPr/>
          <p:nvPr/>
        </p:nvSpPr>
        <p:spPr>
          <a:xfrm>
            <a:off x="640080" y="544068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Most buildings and supply chains are still being planned for yesterday's rules. That gap is where we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 and owners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 and ECSBC compliance.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and buyers asking for product carbon and Scope 3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 and CBAM emissions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ECSBC and BEE compliance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Tell investors and regulators what changed.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331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Energy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971731" y="2075688"/>
            <a:ext cx="284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DesignBuilder, EnergyPlus, eQUEST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518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Baseline and proposed models for LEED, ECSBC and BEE, HVAC options, ASHRAE 90.1 studies.</a:t>
            </a:r>
            <a:endParaRPr lang="en-US" sz="16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2331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Daylight and glare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701819" y="2075688"/>
            <a:ext cx="284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Climate-based daylight modelling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606040"/>
            <a:ext cx="518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sDA, ASE and daylight factor, glare (DGP), façade and shading for Indian climates.</a:t>
            </a:r>
            <a:endParaRPr lang="en-US" sz="16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2331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Microclimate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71731" y="4133088"/>
            <a:ext cx="284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Outdoor comfort and wind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63440"/>
            <a:ext cx="518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6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2331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LCA and carbon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701819" y="4133088"/>
            <a:ext cx="284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One Click LCA, Excel models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663440"/>
            <a:ext cx="518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Whole-building and product LCA, embodied carbon, EPD support, links into Scope 3.</a:t>
            </a:r>
            <a:endParaRPr lang="en-US" sz="1600" dirty="0"/>
          </a:p>
        </p:txBody>
      </p:sp>
      <p:sp>
        <p:nvSpPr>
          <p:cNvPr id="20" name="Divider"/>
          <p:cNvSpPr/>
          <p:nvPr/>
        </p:nvSpPr>
        <p:spPr>
          <a:xfrm>
            <a:off x="640080" y="544068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577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Every model comes with a plain-language summary of what it means for the design, the cost and the credits.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9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note photo" descr="Louis Kahn Plaza, IIM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77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A NOTE FROM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3716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Over seven years and more than a hundred projects, I kept seeing the same thing. Certification was treated as paperwork at the end, after the big decisions had already been made without data.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 started VERDEAXIS to work the other way round: model first, decide with numbers, then certify what actually gets built.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And if a certification isn't worth it for your project, I'll say so.</a:t>
            </a:r>
            <a:endParaRPr lang="en-US" sz="2000" dirty="0"/>
          </a:p>
        </p:txBody>
      </p:sp>
      <p:sp>
        <p:nvSpPr>
          <p:cNvPr id="5" name="Signature rule"/>
          <p:cNvSpPr/>
          <p:nvPr/>
        </p:nvSpPr>
        <p:spPr>
          <a:xfrm>
            <a:off x="5852160" y="5349240"/>
            <a:ext cx="109728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Siddhant Jain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Founder, VERDEAXIS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FOUNDER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 work with the founder, start to finish</a:t>
            </a:r>
            <a:endParaRPr lang="en-US" sz="3000" dirty="0"/>
          </a:p>
        </p:txBody>
      </p:sp>
      <p:sp>
        <p:nvSpPr>
          <p:cNvPr id="4" name="Portrait frame (replace with photo)"/>
          <p:cNvSpPr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SJ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345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Siddhant Jain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95728"/>
            <a:ext cx="7345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8" name="Founder bio"/>
          <p:cNvSpPr txBox="1"/>
          <p:nvPr/>
        </p:nvSpPr>
        <p:spPr>
          <a:xfrm>
            <a:off x="4206240" y="2926080"/>
            <a:ext cx="73453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years and 100+ projects in certification, simulation and carbon, across India, France, Vietnam, Cambodia and Thailand.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Builds the energy, daylight and microclimate models in DesignBuilder and EnergyPlus, and LCA models in One Click LCA and Excel.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prepared Scope 1–3 inventories and ESG disclosures for industrial portfolios, including GRESB-aligned reporting.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Leads every VERDEAXIS project personally, from the first call to the final certificate.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projects from the founder's portfolio</a:t>
            </a:r>
            <a:endParaRPr lang="en-US" sz="3000" dirty="0"/>
          </a:p>
        </p:txBody>
      </p:sp>
      <p:graphicFrame>
        <p:nvGraphicFramePr>
          <p:cNvPr id="12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Delivered by the founder before VERDEAXIS was formed. Client names withheld.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Target rating, best-fit system, the main gaps and a scope of work. Free of charge.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France · Vietnam · Cambodia · Thailand</a:t>
            </a:r>
            <a:endParaRPr lang="en-US" sz="1300" dirty="0"/>
          </a:p>
        </p:txBody>
      </p:sp>
      <p:pic>
        <p:nvPicPr>
          <p:cNvPr id="10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Photos (CC BY-SA 4.0, Wikimedia Commons): jaali, Om Pratap Singh; SG Highway, Kushagra140; IIM Ahmedabad, Perspectives Photography Club.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2026-10-24T17:02:19Z</dcterms:created>
  <dcterms:modified xsi:type="dcterms:W3CDTF">2026-10-24T17:02:19Z</dcterms:modified>
</cp:coreProperties>
</file>