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3584f52-7b6e-4b07-d8e1-f0ed55cfa4ce}">
          <p14:sldIdLst>
            <p14:sldId id="256"/>
            <p14:sldId id="257"/>
            <p14:sldId id="258"/>
          </p14:sldIdLst>
        </p14:section>
        <p14:section name="01 Context" id="{86e31013-8327-598d-d563-e72222759431}">
          <p14:sldIdLst>
            <p14:sldId id="259"/>
            <p14:sldId id="260"/>
          </p14:sldIdLst>
        </p14:section>
        <p14:section name="02 Services" id="{6574248f-3bb0-7e2d-4078-09f47ac22ea9}">
          <p14:sldIdLst>
            <p14:sldId id="261"/>
            <p14:sldId id="262"/>
            <p14:sldId id="263"/>
          </p14:sldIdLst>
        </p14:section>
        <p14:section name="03 Founder" id="{8d102f78-34ec-be0e-da76-a767bdf11a97}">
          <p14:sldIdLst>
            <p14:sldId id="264"/>
            <p14:sldId id="265"/>
            <p14:sldId id="266"/>
          </p14:sldIdLst>
        </p14:section>
        <p14:section name="04 Working together" id="{c5ab4971-0372-8cf2-8541-aeab066c211d}">
          <p14:sldIdLst>
            <p14:sldId id="267"/>
            <p14:sldId id="268"/>
          </p14:sldIdLst>
        </p14:section>
        <p14:section name="Contact" id="{e71528d3-992f-9e26-9f1c-e97cd8393db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jaali image sets up the story on the next slide: India already knew how to build for its climate. The stripe along the bottom is real data: global temperature, 1880 to 2025, one stripe per year (NASA GISTEMP).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slide. The point is that good performance is cheapest at design stage, not that modern buildings are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Founder figures are personal track record, not the firm's.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each figure against the latest SEBI, BEE and EU text before sending externally.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row the prospect recognises themselves in, then go to that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pillars. Most clients start with one and come back for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 runs these models personally. That is the main technical difference from a documentation-only consultant.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IGBC AP and EDGE Expert &amp; Auditor are the founder's accreditations. LEED, GRIHA, WELL and Fitwel are project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founder's note is a draft in Siddhant's voice. Edit it until it sounds like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Experience gained while working in previous consultancy teams. VERDEAXIS itself is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projects the founder worked on while employed at previous firms. Say so plainly and describe your own role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prices in the profile. Quote after the feasibility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review. Credits line must stay while the Commons photos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VERDEAXIS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Sunlight through a carved stone jaali screen, Humayun's Tomb, Delh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492240"/>
          </a:xfrm>
          <a:prstGeom prst="rect">
            <a:avLst/>
          </a:prstGeom>
        </p:spPr>
      </p:pic>
      <p:pic>
        <p:nvPicPr>
          <p:cNvPr id="3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240"/>
            <a:ext cx="12191695" cy="3657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SUSTAINABILITY CONSULTING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234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chemeClr val="tx1"/>
                </a:solidFill>
              </a:rPr>
              <a:t>VERDEAXIS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514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2"/>
                </a:solidFill>
              </a:rPr>
              <a:t>Closing the gap between regulation and reality.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developers, manufacturers and listed companies get certified, cut energy and carbon, and report it with confidence.</a:t>
            </a:r>
            <a:endParaRPr lang="en-US" sz="1600" dirty="0"/>
          </a:p>
        </p:txBody>
      </p:sp>
      <p:sp>
        <p:nvSpPr>
          <p:cNvPr id="8" name="Cover rule"/>
          <p:cNvSpPr/>
          <p:nvPr/>
        </p:nvSpPr>
        <p:spPr>
          <a:xfrm>
            <a:off x="640080" y="4983480"/>
            <a:ext cx="53035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Siddhant Jain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Founder  ·  IGBC AP  ·  EDGE Expert &amp; Auditor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info@verdeaxis.com    +91 97255 23213    verdeaxis.com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 photo" descr="Glass office towers along SG Highway,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India has always known how to build for heat.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126480" y="46177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Jaalis, courtyards and thick walls kept buildings cool without machines. Modern buildings can do the same, if the right decisions are made early, when they cost the least.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you make those decisions with models and real numbers, then get the result certified.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new firm with seven years of practice behind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Green building certification, energy and daylight modelling, GHG accounting, LCA and ESG reporting.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3299384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6544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WHO IT'S FOR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36544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Developers, retail and logistics owners, manufacturers, listed companies, and their architects.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6095848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3008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You deal with the founder, not a junior team. Advice comes from our own models and numbers.</a:t>
            </a:r>
            <a:endParaRPr lang="en-US" sz="1600" dirty="0"/>
          </a:p>
        </p:txBody>
      </p:sp>
      <p:sp>
        <p:nvSpPr>
          <p:cNvPr id="12" name="Column rule 3"/>
          <p:cNvSpPr/>
          <p:nvPr/>
        </p:nvSpPr>
        <p:spPr>
          <a:xfrm>
            <a:off x="8892311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9471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29471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Based in India. Project experience in Malaysia, France, Vietnam, Cambodia and Thailand.</a:t>
            </a:r>
            <a:endParaRPr lang="en-US" sz="1600" dirty="0"/>
          </a:p>
        </p:txBody>
      </p:sp>
      <p:sp>
        <p:nvSpPr>
          <p:cNvPr id="15" name="Numbers panel"/>
          <p:cNvSpPr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7+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years in practice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50844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200+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3550844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EDGE-certified projects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0851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8640851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rating 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WHY NOW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What's changing, and what it means for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100 kW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New commercial buildings above this connected load fall under ECSBC, India's energy code.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Energy modelling is now part of compliance, not an optional extra.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BEE, ECSBC 2024</a:t>
            </a:r>
            <a:endParaRPr lang="en-US" sz="1100" dirty="0"/>
          </a:p>
        </p:txBody>
      </p:sp>
      <p:sp>
        <p:nvSpPr>
          <p:cNvPr id="9" name="Column rule 1"/>
          <p:cNvSpPr/>
          <p:nvPr/>
        </p:nvSpPr>
        <p:spPr>
          <a:xfrm>
            <a:off x="4216298" y="1828800"/>
            <a:ext cx="0" cy="39319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99178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2027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By March 2027, India's top 1,000 listed companies need BRSR Core assurance.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9178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Expect their suppliers to be asked for emissions data as well.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99178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SEBI</a:t>
            </a:r>
            <a:endParaRPr lang="en-US" sz="1100" dirty="0"/>
          </a:p>
        </p:txBody>
      </p:sp>
      <p:sp>
        <p:nvSpPr>
          <p:cNvPr id="15" name="Column rule 2"/>
          <p:cNvSpPr/>
          <p:nvPr/>
        </p:nvSpPr>
        <p:spPr>
          <a:xfrm>
            <a:off x="7975397" y="1828800"/>
            <a:ext cx="0" cy="393192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58277" y="1828800"/>
            <a:ext cx="33933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2026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158277" y="292608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The EU's carbon border tax (CBAM) entered its definitive phase in January.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58277" y="41148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 IT MEANS FOR YOU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58277" y="443484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Exporters without verified emissions data are charged on default values, which usually cost more.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58277" y="5486400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Source: EU Regulation 2023/956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WHO WE HELP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kinds of client, four different reasons to call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CLIENT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WHAT'S PUSHING THEM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783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7" name="Row rule 0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Developers, retail and logistics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59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Tenant requirements, green finance and ECSBC compliance.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35915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Certification under LEED, IGBC, EDGE or GRIHA, backed by energy and daylight models.</a:t>
            </a:r>
            <a:endParaRPr lang="en-US" sz="1500" dirty="0"/>
          </a:p>
        </p:txBody>
      </p:sp>
      <p:sp>
        <p:nvSpPr>
          <p:cNvPr id="11" name="Row rule 1"/>
          <p:cNvSpPr/>
          <p:nvPr/>
        </p:nvSpPr>
        <p:spPr>
          <a:xfrm>
            <a:off x="640080" y="3218688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Manufacturers and exporters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EU CBAM, and buyers asking for product carbon and Scope 3 data.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38328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GHG inventories, product LCA, EPD support and green factory certification.</a:t>
            </a:r>
            <a:endParaRPr lang="en-US" sz="1500" dirty="0"/>
          </a:p>
        </p:txBody>
      </p:sp>
      <p:sp>
        <p:nvSpPr>
          <p:cNvPr id="15" name="Row rule 2"/>
          <p:cNvSpPr/>
          <p:nvPr/>
        </p:nvSpPr>
        <p:spPr>
          <a:xfrm>
            <a:off x="640080" y="4242816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Listed companies and funds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BRSR Core assurance, investor questionnaires and GRESB.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407408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Scope 1–3 inventories, BRSR and GRI reporting, and physical climate-risk studies.</a:t>
            </a:r>
            <a:endParaRPr lang="en-US" sz="1500" dirty="0"/>
          </a:p>
        </p:txBody>
      </p:sp>
      <p:sp>
        <p:nvSpPr>
          <p:cNvPr id="19" name="Row rule 3"/>
          <p:cNvSpPr/>
          <p:nvPr/>
        </p:nvSpPr>
        <p:spPr>
          <a:xfrm>
            <a:off x="640080" y="5266944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4315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Architects and MEP teams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43153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Credits that depend on simulation, on tight design timelines.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431536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Energy, daylight and microclimate studies, delivered as part of your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WHAT WE DO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Measure, certify,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Find the baseline and build the evidence.</a:t>
            </a:r>
            <a:endParaRPr lang="en-US" sz="1600" dirty="0"/>
          </a:p>
        </p:txBody>
      </p:sp>
      <p:sp>
        <p:nvSpPr>
          <p:cNvPr id="7" name="Bullets Measure"/>
          <p:cNvSpPr txBox="1"/>
          <p:nvPr/>
        </p:nvSpPr>
        <p:spPr>
          <a:xfrm>
            <a:off x="640080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inventory, Scope 1, 2 and 3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and daylight simulation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Microclimate and climate-risk studies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LCA, EPDs and CBAM emissions data</a:t>
            </a:r>
            <a:endParaRPr lang="en-US" sz="1600" dirty="0"/>
          </a:p>
        </p:txBody>
      </p:sp>
      <p:sp>
        <p:nvSpPr>
          <p:cNvPr id="8" name="Column rule 1"/>
          <p:cNvSpPr/>
          <p:nvPr/>
        </p:nvSpPr>
        <p:spPr>
          <a:xfrm>
            <a:off x="4216298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917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Certify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Take the project through to award.</a:t>
            </a:r>
            <a:endParaRPr lang="en-US" sz="1600" dirty="0"/>
          </a:p>
        </p:txBody>
      </p:sp>
      <p:sp>
        <p:nvSpPr>
          <p:cNvPr id="12" name="Bullets Certify"/>
          <p:cNvSpPr txBox="1"/>
          <p:nvPr/>
        </p:nvSpPr>
        <p:spPr>
          <a:xfrm>
            <a:off x="4399178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 and GRIHA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WELL and Fitwel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ECSBC and BEE compliance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Reviewer queries and appeals</a:t>
            </a:r>
            <a:endParaRPr lang="en-US" sz="1600" dirty="0"/>
          </a:p>
        </p:txBody>
      </p:sp>
      <p:sp>
        <p:nvSpPr>
          <p:cNvPr id="13" name="Column rule 2"/>
          <p:cNvSpPr/>
          <p:nvPr/>
        </p:nvSpPr>
        <p:spPr>
          <a:xfrm>
            <a:off x="7975397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827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Show investors and regulators the numbers.</a:t>
            </a:r>
            <a:endParaRPr lang="en-US" sz="1600" dirty="0"/>
          </a:p>
        </p:txBody>
      </p:sp>
      <p:sp>
        <p:nvSpPr>
          <p:cNvPr id="17" name="Bullets Report"/>
          <p:cNvSpPr txBox="1"/>
          <p:nvPr/>
        </p:nvSpPr>
        <p:spPr>
          <a:xfrm>
            <a:off x="8158277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BRSR Core and BRSR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GRI, CDP and TCFD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ESG strategy and roadmaps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SBTi target-setting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BUILDING PERFORMANCE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 test the design in a model before anyone builds it</a:t>
            </a:r>
            <a:endParaRPr lang="en-US" sz="3000" dirty="0"/>
          </a:p>
        </p:txBody>
      </p:sp>
      <p:sp>
        <p:nvSpPr>
          <p:cNvPr id="4" name="Tile rule 0"/>
          <p:cNvSpPr/>
          <p:nvPr/>
        </p:nvSpPr>
        <p:spPr>
          <a:xfrm>
            <a:off x="640080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ENERGY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energy bill before it's built.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Baseline and proposed models in DesignBuilder, EnergyPlus and eQUEST, for LEED, ECSBC and BEE.</a:t>
            </a:r>
            <a:endParaRPr lang="en-US" sz="1500" dirty="0"/>
          </a:p>
        </p:txBody>
      </p:sp>
      <p:sp>
        <p:nvSpPr>
          <p:cNvPr id="8" name="Tile rule 1"/>
          <p:cNvSpPr/>
          <p:nvPr/>
        </p:nvSpPr>
        <p:spPr>
          <a:xfrm>
            <a:off x="6370168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DAYLIGHT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Bright rooms, without glare or heat.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sDA, ASE, daylight factor and glare (DGP) studies, plus façade and shading options.</a:t>
            </a:r>
            <a:endParaRPr lang="en-US" sz="1500" dirty="0"/>
          </a:p>
        </p:txBody>
      </p:sp>
      <p:sp>
        <p:nvSpPr>
          <p:cNvPr id="12" name="Tile rule 2"/>
          <p:cNvSpPr/>
          <p:nvPr/>
        </p:nvSpPr>
        <p:spPr>
          <a:xfrm>
            <a:off x="640080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MICROCLIMATE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Outdoor spaces people can use in May.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UTCI and PET comfort, pedestrian wind, heat island, solar access and site shading.</a:t>
            </a:r>
            <a:endParaRPr lang="en-US" sz="1500" dirty="0"/>
          </a:p>
        </p:txBody>
      </p:sp>
      <p:sp>
        <p:nvSpPr>
          <p:cNvPr id="16" name="Tile rule 3"/>
          <p:cNvSpPr/>
          <p:nvPr/>
        </p:nvSpPr>
        <p:spPr>
          <a:xfrm>
            <a:off x="6370168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carbon in your materials.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Whole-building and product LCA in One Click LCA and Excel, EPD support, links to Scope 3.</a:t>
            </a:r>
            <a:endParaRPr lang="en-US" sz="1500" dirty="0"/>
          </a:p>
        </p:txBody>
      </p:sp>
      <p:sp>
        <p:nvSpPr>
          <p:cNvPr id="20" name="Divider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7424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Every study ends with a one-page summary in plain English: what to change, what it costs and which credits it earns.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CERTIFICATION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rating systems, chosen to fit the project</a:t>
            </a:r>
            <a:endParaRPr lang="en-US" sz="3000" dirty="0"/>
          </a:p>
        </p:txBody>
      </p:sp>
      <p:graphicFrame>
        <p:nvGraphicFramePr>
          <p:cNvPr id="9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ISSUED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Core and Shell, ID+C,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EDGE audits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green factories, homes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Council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V-2019, Large Developments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Fitwel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Center for Active Design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Occupant health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redentials panel"/>
          <p:cNvSpPr/>
          <p:nvPr/>
        </p:nvSpPr>
        <p:spPr>
          <a:xfrm>
            <a:off x="8503920" y="1828800"/>
            <a:ext cx="3047695" cy="3703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21031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FOUNDER CREDENTIALS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56032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IGBC AP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Accredited Professional, CII-IGBC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42900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Expert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IFC / GBCI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29768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Auditor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GBCI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Not sure which system fits? That is what the free feasibility review is for.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under portrait" descr="Portrait of Siddhant Jain, founder of VERDEAX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731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MEET THE FOUNDER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1097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Siddhant Jain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783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Founder and Principal Consultant  ·  IGBC AP  ·  EDGE Expert &amp; Auditor</a:t>
            </a:r>
            <a:endParaRPr lang="en-US" sz="1500" dirty="0"/>
          </a:p>
        </p:txBody>
      </p:sp>
      <p:sp>
        <p:nvSpPr>
          <p:cNvPr id="6" name="Founder rule"/>
          <p:cNvSpPr/>
          <p:nvPr/>
        </p:nvSpPr>
        <p:spPr>
          <a:xfrm>
            <a:off x="5852160" y="2377440"/>
            <a:ext cx="569671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60604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Over seven years I've worked on more than 200 projects certified under EDGE, from retail stores to logistics parks. The same thing kept happening: certification was left to the end, after the big decisions were already made.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VERDEAXIS works the other way round. We model first, decide with numbers, and then certify what actually gets built.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And if a certification isn't worth it for your project, I'll tell you.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EXPERIENCE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experience behind VERDEAXIS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CERTIFICATION</a:t>
            </a:r>
            <a:endParaRPr lang="en-US" sz="1200" dirty="0"/>
          </a:p>
        </p:txBody>
      </p:sp>
      <p:sp>
        <p:nvSpPr>
          <p:cNvPr id="5" name="Experience CERTIFICATION"/>
          <p:cNvSpPr txBox="1"/>
          <p:nvPr/>
        </p:nvSpPr>
        <p:spPr>
          <a:xfrm>
            <a:off x="640080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EDGE Expert on 200+ certified projects in India and Malaysia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Retail, offices, stores and logistics parks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IGBC, GRIHA, WELL and Fitwel project work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4216298" y="1828800"/>
            <a:ext cx="0" cy="31089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99178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 AND REPORTING</a:t>
            </a:r>
            <a:endParaRPr lang="en-US" sz="1200" dirty="0"/>
          </a:p>
        </p:txBody>
      </p:sp>
      <p:sp>
        <p:nvSpPr>
          <p:cNvPr id="8" name="Experience CARBON AND REPORTING"/>
          <p:cNvSpPr txBox="1"/>
          <p:nvPr/>
        </p:nvSpPr>
        <p:spPr>
          <a:xfrm>
            <a:off x="4399178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reporting for multinational organisations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Decarbonisation roadmaps to meet climate targets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GRESB, GRI Standards and the UN SDGs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7975397" y="1828800"/>
            <a:ext cx="0" cy="31089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58277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MODELLING</a:t>
            </a:r>
            <a:endParaRPr lang="en-US" sz="1200" dirty="0"/>
          </a:p>
        </p:txBody>
      </p:sp>
      <p:sp>
        <p:nvSpPr>
          <p:cNvPr id="11" name="Experience MODELLING"/>
          <p:cNvSpPr txBox="1"/>
          <p:nvPr/>
        </p:nvSpPr>
        <p:spPr>
          <a:xfrm>
            <a:off x="8158277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Energy, daylight and microclimate in DesignBuilder and EnergyPlus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Building and product LCA in One Click LCA and Excel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Physical climate-risk assessments</a:t>
            </a:r>
            <a:endParaRPr lang="en-US" sz="1600" dirty="0"/>
          </a:p>
        </p:txBody>
      </p:sp>
      <p:sp>
        <p:nvSpPr>
          <p:cNvPr id="12" name="Tools panel"/>
          <p:cNvSpPr/>
          <p:nvPr/>
        </p:nvSpPr>
        <p:spPr>
          <a:xfrm>
            <a:off x="640080" y="5166360"/>
            <a:ext cx="1091153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516636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TOOLS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DesignBuilder  ·  EnergyPlus  ·  eQUEST  ·  One Click LCA  ·  EDGE App  ·  Excel-based carbon models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TRACK RECORD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Selected projects the founder has worked on</a:t>
            </a:r>
            <a:endParaRPr lang="en-US" sz="3000" dirty="0"/>
          </a:p>
        </p:txBody>
      </p:sp>
      <p:graphicFrame>
        <p:nvGraphicFramePr>
          <p:cNvPr id="12" name="Track rec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017520"/>
                <a:gridCol w="24076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SCOPE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India and Malaysia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200+ certified projects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Commercial campus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Gandhinagar, India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v4.1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Targeting Gold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28-floor tower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 Chi Minh City, Vietnam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and Shell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Pet food facilities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France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industrial sites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Rice milling factory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Cambodia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 v3.1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ESG and GHG, Scope 1–3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GRESB-aligned reporting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park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Samut Sakhon, 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 climate risk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WRI, NASA and Fathom data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Worked on by the founder as part of previous consultancy teams, before VERDEAXIS was formed. Client names withheld.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HOW WE WORK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steps from first call to certificate</a:t>
            </a:r>
            <a:endParaRPr lang="en-US" sz="3000" dirty="0"/>
          </a:p>
        </p:txBody>
      </p:sp>
      <p:sp>
        <p:nvSpPr>
          <p:cNvPr id="4" name="Process line"/>
          <p:cNvSpPr/>
          <p:nvPr/>
        </p:nvSpPr>
        <p:spPr>
          <a:xfrm>
            <a:off x="640080" y="269748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Step marker 1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Brief, goals and the right rating system.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22387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Step marker 2"/>
          <p:cNvSpPr/>
          <p:nvPr/>
        </p:nvSpPr>
        <p:spPr>
          <a:xfrm>
            <a:off x="2822387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2387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22387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Site visit, data audit, models and GHG baseline.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04694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Step marker 3"/>
          <p:cNvSpPr/>
          <p:nvPr/>
        </p:nvSpPr>
        <p:spPr>
          <a:xfrm>
            <a:off x="5004694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4694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Document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4694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Credit documents, drawings and model files.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87001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8" name="Step marker 4"/>
          <p:cNvSpPr/>
          <p:nvPr/>
        </p:nvSpPr>
        <p:spPr>
          <a:xfrm>
            <a:off x="7187001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87001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Submit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87001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Upload, reviewer queries and any appeals.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69308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05</a:t>
            </a:r>
            <a:endParaRPr lang="en-US" sz="4400" dirty="0"/>
          </a:p>
        </p:txBody>
      </p:sp>
      <p:sp>
        <p:nvSpPr>
          <p:cNvPr id="22" name="Step marker 5"/>
          <p:cNvSpPr/>
          <p:nvPr/>
        </p:nvSpPr>
        <p:spPr>
          <a:xfrm>
            <a:off x="9369308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69308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Certify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69308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Award, handover, then re-certification and reporting.</a:t>
            </a:r>
            <a:endParaRPr lang="en-US" sz="1600" dirty="0"/>
          </a:p>
        </p:txBody>
      </p:sp>
      <p:sp>
        <p:nvSpPr>
          <p:cNvPr id="25" name="Promise panel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120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can expect: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timeline agreed up front, a direct line to the founder, and no surprise costs.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ENGAGEMENT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 with a free review, or bring us in for the whole job</a:t>
            </a:r>
            <a:endParaRPr lang="en-US" sz="3000" dirty="0"/>
          </a:p>
        </p:txBody>
      </p:sp>
      <p:sp>
        <p:nvSpPr>
          <p:cNvPr id="4" name="Engagement panel 1"/>
          <p:cNvSpPr/>
          <p:nvPr/>
        </p:nvSpPr>
        <p:spPr>
          <a:xfrm>
            <a:off x="640080" y="1828800"/>
            <a:ext cx="2522144" cy="4023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Feasibility review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Any new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Best-fit system, target rating and the main gaps. Free, with a written fee proposal after.</a:t>
            </a:r>
            <a:endParaRPr lang="en-US" sz="1600" dirty="0"/>
          </a:p>
        </p:txBody>
      </p:sp>
      <p:sp>
        <p:nvSpPr>
          <p:cNvPr id="9" name="Engagement panel 2"/>
          <p:cNvSpPr/>
          <p:nvPr/>
        </p:nvSpPr>
        <p:spPr>
          <a:xfrm>
            <a:off x="3436544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0864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Certification, end to 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Developers and owners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Registration, modelling, documents, submission and reviewer responses, through to award.</a:t>
            </a:r>
            <a:endParaRPr lang="en-US" sz="1600" dirty="0"/>
          </a:p>
        </p:txBody>
      </p:sp>
      <p:sp>
        <p:nvSpPr>
          <p:cNvPr id="14" name="Engagement panel 3"/>
          <p:cNvSpPr/>
          <p:nvPr/>
        </p:nvSpPr>
        <p:spPr>
          <a:xfrm>
            <a:off x="6233008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Simulation support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Architects and MEP teams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Energy, daylight and microclimate studies, delivered to your design programme.</a:t>
            </a:r>
            <a:endParaRPr lang="en-US" sz="1600" dirty="0"/>
          </a:p>
        </p:txBody>
      </p:sp>
      <p:sp>
        <p:nvSpPr>
          <p:cNvPr id="19" name="Engagement panel 4"/>
          <p:cNvSpPr/>
          <p:nvPr/>
        </p:nvSpPr>
        <p:spPr>
          <a:xfrm>
            <a:off x="9029471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3791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Carbon and ESG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Manufacturers, listed firms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GHG inventories, LCA and EPDs, CBAM data and BRSR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Send us your drawings. We'll tell you what's possible.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first feasibility review is free. You get:</a:t>
            </a:r>
            <a:endParaRPr lang="en-US" sz="1600" dirty="0"/>
          </a:p>
        </p:txBody>
      </p:sp>
      <p:sp>
        <p:nvSpPr>
          <p:cNvPr id="5" name="Feasibility list"/>
          <p:cNvSpPr txBox="1"/>
          <p:nvPr/>
        </p:nvSpPr>
        <p:spPr>
          <a:xfrm>
            <a:off x="640080" y="3108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rating system that fits your project, timeline and budget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main design and documentation gaps, before you register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modelling or carbon work you'll actually need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realistic timeline from kickoff to award</a:t>
            </a:r>
            <a:endParaRPr lang="en-US" sz="1600" dirty="0"/>
          </a:p>
        </p:txBody>
      </p:sp>
      <p:sp>
        <p:nvSpPr>
          <p:cNvPr id="6" name="Contact divider"/>
          <p:cNvSpPr/>
          <p:nvPr/>
        </p:nvSpPr>
        <p:spPr>
          <a:xfrm>
            <a:off x="7498080" y="1005840"/>
            <a:ext cx="0" cy="4023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SIDDHANT JAIN, FOUNDER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463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info@verdeaxis.com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+91 97255 23213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verdeaxis.com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India · Malaysia · France · Vietnam · Cambodia · Thailand</a:t>
            </a:r>
            <a:endParaRPr lang="en-US" sz="1300" dirty="0"/>
          </a:p>
        </p:txBody>
      </p:sp>
      <p:pic>
        <p:nvPicPr>
          <p:cNvPr id="10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5029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Each stripe is one year of global average temperature, 1880–2025. Data: NASA GISTEMP. Stripes concept: Ed Hawkins, #ShowYourStripes.   Photos (CC BY-SA 4.0, Wikimedia Commons): jaali, Om Pratap Singh; SG Highway, Kushagra140.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 Editorial">
  <a:themeElements>
    <a:clrScheme name="VERDEAXIS Editorial">
      <a:dk1>
        <a:srgbClr val="1F1D1B"/>
      </a:dk1>
      <a:lt1>
        <a:srgbClr val="FFFFFF"/>
      </a:lt1>
      <a:dk2>
        <a:srgbClr val="3A3632"/>
      </a:dk2>
      <a:lt2>
        <a:srgbClr val="F4F1EC"/>
      </a:lt2>
      <a:accent1>
        <a:srgbClr val="B4532A"/>
      </a:accent1>
      <a:accent2>
        <a:srgbClr val="8C3B1E"/>
      </a:accent2>
      <a:accent3>
        <a:srgbClr val="EFE4DA"/>
      </a:accent3>
      <a:accent4>
        <a:srgbClr val="6E6862"/>
      </a:accent4>
      <a:accent5>
        <a:srgbClr val="2E5E7E"/>
      </a:accent5>
      <a:accent6>
        <a:srgbClr val="D9D3CC"/>
      </a:accent6>
      <a:hlink>
        <a:srgbClr val="8C3B1E"/>
      </a:hlink>
      <a:folHlink>
        <a:srgbClr val="6E6862"/>
      </a:folHlink>
    </a:clrScheme>
    <a:fontScheme name="VERDEAXIS Editor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VERDEAXIS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Siddhant Jain, VERDEAXIS</dc:creator>
  <cp:lastModifiedBy>Siddhant Jain, VERDEAXIS</cp:lastModifiedBy>
  <cp:revision>1</cp:revision>
  <dcterms:created xsi:type="dcterms:W3CDTF">2026-10-24T17:52:29Z</dcterms:created>
  <dcterms:modified xsi:type="dcterms:W3CDTF">2026-10-24T17:52:29Z</dcterms:modified>
</cp:coreProperties>
</file>