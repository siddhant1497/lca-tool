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3745292-5a48-2149-ecf8-1d548ce23c57}">
          <p14:sldIdLst>
            <p14:sldId id="256"/>
            <p14:sldId id="257"/>
          </p14:sldIdLst>
        </p14:section>
        <p14:section name="01 Context" id="{b40508ed-57ea-70ec-5eed-cba62d8951d6}">
          <p14:sldIdLst>
            <p14:sldId id="258"/>
            <p14:sldId id="259"/>
          </p14:sldIdLst>
        </p14:section>
        <p14:section name="02 Services" id="{92c2e953-9138-35de-4572-ef10bf6aa447}">
          <p14:sldIdLst>
            <p14:sldId id="260"/>
            <p14:sldId id="261"/>
            <p14:sldId id="262"/>
          </p14:sldIdLst>
        </p14:section>
        <p14:section name="03 Founder" id="{1939b66d-5fe6-ca2e-59be-a9271f498e98}">
          <p14:sldIdLst>
            <p14:sldId id="263"/>
            <p14:sldId id="264"/>
          </p14:sldIdLst>
        </p14:section>
        <p14:section name="04 Working together" id="{e7021418-8179-b4b7-6621-2a83e42c4604}">
          <p14:sldIdLst>
            <p14:sldId id="265"/>
            <p14:sldId id="266"/>
          </p14:sldIdLst>
        </p14:section>
        <p14:section name="Contact" id="{fca49d3e-4b24-eb52-768c-15d89f5be314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VERDEAXIS is a new, founder-led firm. Open with the tagline and move to the one-page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summary. If the reader only sees one slide, this is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Verify each figure against the latest SEBI, BEE and EU publications before external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 segments. Ask the prospect which column they recognise themselves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Measure, Certify, Report is the framework to remember.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depth. This is where the founder's modelling background shows.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Credentials: IGBC AP, EDGE Expert, EDGE Auditor. Other systems are project experience, not accreditations.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SJ monogram with a portrait photo (2.2 inch circle) before sending.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framing: these were delivered by the founder before VERDEAXIS existed. No client names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Engagement models. No pricing in the profile; quote after the feasibility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free feasibility call. No pricing.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VERDEAXIS  ·  Sustainability Consulting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94360"/>
            <a:ext cx="1109441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 mint"/>
          <p:cNvSpPr/>
          <p:nvPr/>
        </p:nvSpPr>
        <p:spPr>
          <a:xfrm>
            <a:off x="7223760" y="-1005840"/>
            <a:ext cx="6766560" cy="6766560"/>
          </a:xfrm>
          <a:prstGeom prst="ellipse">
            <a:avLst/>
          </a:prstGeom>
          <a:solidFill>
            <a:schemeClr val="accent3">
              <a:alpha val="45000"/>
            </a:schemeClr>
          </a:solidFill>
          <a:ln/>
        </p:spPr>
      </p:sp>
      <p:sp>
        <p:nvSpPr>
          <p:cNvPr id="3" name="Ring emerald"/>
          <p:cNvSpPr/>
          <p:nvPr/>
        </p:nvSpPr>
        <p:spPr>
          <a:xfrm>
            <a:off x="7863840" y="1828800"/>
            <a:ext cx="4754880" cy="4754880"/>
          </a:xfrm>
          <a:prstGeom prst="ellipse">
            <a:avLst/>
          </a:prstGeom>
          <a:solidFill>
            <a:schemeClr val="accent1">
              <a:alpha val="75000"/>
            </a:schemeClr>
          </a:solidFill>
          <a:ln/>
        </p:spPr>
      </p:sp>
      <p:sp>
        <p:nvSpPr>
          <p:cNvPr id="4" name="Monogram disc"/>
          <p:cNvSpPr/>
          <p:nvPr/>
        </p:nvSpPr>
        <p:spPr>
          <a:xfrm>
            <a:off x="8503920" y="1234440"/>
            <a:ext cx="3200400" cy="32004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Monogram V"/>
          <p:cNvSpPr txBox="1"/>
          <p:nvPr/>
        </p:nvSpPr>
        <p:spPr>
          <a:xfrm>
            <a:off x="8503920" y="123444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chemeClr val="bg1"/>
                </a:solidFill>
              </a:rPr>
              <a:t>V</a:t>
            </a:r>
            <a:endParaRPr lang="en-US" sz="15000" dirty="0"/>
          </a:p>
        </p:txBody>
      </p:sp>
      <p:sp>
        <p:nvSpPr>
          <p:cNvPr id="6" name="Brass dot"/>
          <p:cNvSpPr/>
          <p:nvPr/>
        </p:nvSpPr>
        <p:spPr>
          <a:xfrm>
            <a:off x="10881360" y="100584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234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2"/>
                </a:solidFill>
              </a:rPr>
              <a:t>COMPANY PROFILE  ·  2026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4592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tx2"/>
                </a:solidFill>
              </a:rPr>
              <a:t>VERDEAXIS</a:t>
            </a:r>
            <a:endParaRPr lang="en-US" sz="6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80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chemeClr val="accent5"/>
                </a:solidFill>
              </a:rPr>
              <a:t>Closing the gap between regulation and reality.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661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Green building certification  ·  Building performance simulation  ·  Carbon, LCA and ESG</a:t>
            </a:r>
            <a:endParaRPr lang="en-US" sz="1400" dirty="0"/>
          </a:p>
        </p:txBody>
      </p:sp>
      <p:sp>
        <p:nvSpPr>
          <p:cNvPr id="11" name="Chip Founder-led"/>
          <p:cNvSpPr/>
          <p:nvPr/>
        </p:nvSpPr>
        <p:spPr>
          <a:xfrm>
            <a:off x="548640" y="425196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251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Founder-led</a:t>
            </a:r>
            <a:endParaRPr lang="en-US" sz="1200" dirty="0"/>
          </a:p>
        </p:txBody>
      </p:sp>
      <p:sp>
        <p:nvSpPr>
          <p:cNvPr id="13" name="Chip IGBC AP"/>
          <p:cNvSpPr/>
          <p:nvPr/>
        </p:nvSpPr>
        <p:spPr>
          <a:xfrm>
            <a:off x="2148840" y="4251960"/>
            <a:ext cx="109728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148840" y="4251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IGBC AP</a:t>
            </a:r>
            <a:endParaRPr lang="en-US" sz="1200" dirty="0"/>
          </a:p>
        </p:txBody>
      </p:sp>
      <p:sp>
        <p:nvSpPr>
          <p:cNvPr id="15" name="Chip EDGE Expert &amp; Auditor"/>
          <p:cNvSpPr/>
          <p:nvPr/>
        </p:nvSpPr>
        <p:spPr>
          <a:xfrm>
            <a:off x="3383280" y="4251960"/>
            <a:ext cx="219456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83280" y="4251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EDGE Expert &amp; Auditor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892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India  ·  France  ·  Vietnam  ·  Cambodia  ·  Thailand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info@verdeaxis.com   ·   +91 97255 23213   ·   www.verdeaxis.com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kicker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AT A GLANCE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943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VERDEAXIS in one page</a:t>
            </a:r>
            <a:endParaRPr lang="en-US" sz="24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116128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Everything a busy decision-maker needs, before the detail.</a:t>
            </a:r>
            <a:endParaRPr lang="en-US" sz="1400" dirty="0"/>
          </a:p>
        </p:txBody>
      </p:sp>
      <p:sp>
        <p:nvSpPr>
          <p:cNvPr id="5" name="Positioning card"/>
          <p:cNvSpPr/>
          <p:nvPr/>
        </p:nvSpPr>
        <p:spPr>
          <a:xfrm>
            <a:off x="548640" y="1737360"/>
            <a:ext cx="3931920" cy="4343400"/>
          </a:xfrm>
          <a:prstGeom prst="roundRect">
            <a:avLst>
              <a:gd name="adj" fmla="val 1860"/>
            </a:avLst>
          </a:prstGeom>
          <a:solidFill>
            <a:schemeClr val="accent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10312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Sustainability consulting that starts with performance and ends with certification.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8006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chemeClr val="bg1"/>
                </a:solidFill>
              </a:rPr>
              <a:t>Founded by Siddhant Jain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IGBC AP  ·  EDGE Expert &amp; Auditor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7+ years  ·  100+ projects  ·  5 countries</a:t>
            </a:r>
            <a:endParaRPr lang="en-US" sz="1400" dirty="0"/>
          </a:p>
        </p:txBody>
      </p:sp>
      <p:sp>
        <p:nvSpPr>
          <p:cNvPr id="8" name="Glance card What we do"/>
          <p:cNvSpPr/>
          <p:nvPr/>
        </p:nvSpPr>
        <p:spPr>
          <a:xfrm>
            <a:off x="4754880" y="1737360"/>
            <a:ext cx="3306928" cy="2034540"/>
          </a:xfrm>
          <a:prstGeom prst="roundRect">
            <a:avLst>
              <a:gd name="adj" fmla="val 359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Icon What we do disc"/>
          <p:cNvSpPr/>
          <p:nvPr/>
        </p:nvSpPr>
        <p:spPr>
          <a:xfrm>
            <a:off x="5029200" y="201168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0" name="Icon What we do" descr="Icon What we 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7333" y="2159813"/>
            <a:ext cx="252374" cy="25237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715000" y="2011680"/>
            <a:ext cx="2118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we do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029200" y="2697480"/>
            <a:ext cx="275828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Green building certification, energy and daylight simulation, GHG accounting, LCA and ESG reporting.</a:t>
            </a:r>
            <a:endParaRPr lang="en-US" sz="1400" dirty="0"/>
          </a:p>
        </p:txBody>
      </p:sp>
      <p:sp>
        <p:nvSpPr>
          <p:cNvPr id="13" name="Glance card Who we serve"/>
          <p:cNvSpPr/>
          <p:nvPr/>
        </p:nvSpPr>
        <p:spPr>
          <a:xfrm>
            <a:off x="8336128" y="1737360"/>
            <a:ext cx="3306928" cy="2034540"/>
          </a:xfrm>
          <a:prstGeom prst="roundRect">
            <a:avLst>
              <a:gd name="adj" fmla="val 359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Icon Who we serve disc"/>
          <p:cNvSpPr/>
          <p:nvPr/>
        </p:nvSpPr>
        <p:spPr>
          <a:xfrm>
            <a:off x="8610448" y="201168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Icon Who we serve" descr="Icon Who we ser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8580" y="2159813"/>
            <a:ext cx="252374" cy="25237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9296248" y="2011680"/>
            <a:ext cx="2118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Who we serve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8610448" y="2697480"/>
            <a:ext cx="275828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Developers, manufacturers, listed companies and design teams, across commercial, industrial and residential work.</a:t>
            </a:r>
            <a:endParaRPr lang="en-US" sz="1400" dirty="0"/>
          </a:p>
        </p:txBody>
      </p:sp>
      <p:sp>
        <p:nvSpPr>
          <p:cNvPr id="18" name="Glance card How we're different"/>
          <p:cNvSpPr/>
          <p:nvPr/>
        </p:nvSpPr>
        <p:spPr>
          <a:xfrm>
            <a:off x="4754880" y="4046220"/>
            <a:ext cx="3306928" cy="2034540"/>
          </a:xfrm>
          <a:prstGeom prst="roundRect">
            <a:avLst>
              <a:gd name="adj" fmla="val 359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9" name="Icon How we're different disc"/>
          <p:cNvSpPr/>
          <p:nvPr/>
        </p:nvSpPr>
        <p:spPr>
          <a:xfrm>
            <a:off x="5029200" y="432054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0" name="Icon How we're different" descr="Icon How we're differe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7333" y="4468673"/>
            <a:ext cx="252374" cy="25237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715000" y="4320540"/>
            <a:ext cx="2118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we're different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5029200" y="5006340"/>
            <a:ext cx="275828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The founder works on every project. Every recommendation is backed by our own models and carbon numbers.</a:t>
            </a:r>
            <a:endParaRPr lang="en-US" sz="1400" dirty="0"/>
          </a:p>
        </p:txBody>
      </p:sp>
      <p:sp>
        <p:nvSpPr>
          <p:cNvPr id="23" name="Glance card Where we work"/>
          <p:cNvSpPr/>
          <p:nvPr/>
        </p:nvSpPr>
        <p:spPr>
          <a:xfrm>
            <a:off x="8336128" y="4046220"/>
            <a:ext cx="3306928" cy="2034540"/>
          </a:xfrm>
          <a:prstGeom prst="roundRect">
            <a:avLst>
              <a:gd name="adj" fmla="val 359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Icon Where we work disc"/>
          <p:cNvSpPr/>
          <p:nvPr/>
        </p:nvSpPr>
        <p:spPr>
          <a:xfrm>
            <a:off x="8610448" y="432054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5" name="Icon Where we work" descr="Icon Where we wor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8580" y="4468673"/>
            <a:ext cx="252374" cy="25237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296248" y="4320540"/>
            <a:ext cx="2118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Where we work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8610448" y="5006340"/>
            <a:ext cx="275828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Based in India, with project experience in France, Vietnam, Cambodia and Thailand.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kicker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01   WHY NOW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943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Regulation is moving faster than most projects</a:t>
            </a:r>
            <a:endParaRPr lang="en-US" sz="24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116128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Four pressures every developer, manufacturer and listed company in India now faces.</a:t>
            </a:r>
            <a:endParaRPr lang="en-US" sz="1400" dirty="0"/>
          </a:p>
        </p:txBody>
      </p:sp>
      <p:sp>
        <p:nvSpPr>
          <p:cNvPr id="5" name="Stat card 1"/>
          <p:cNvSpPr/>
          <p:nvPr/>
        </p:nvSpPr>
        <p:spPr>
          <a:xfrm>
            <a:off x="548640" y="1737360"/>
            <a:ext cx="2567864" cy="292608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5"/>
                </a:solidFill>
              </a:rPr>
              <a:t>~1/3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2019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of India's electricity is used by buildings.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297680"/>
            <a:ext cx="2019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Source: CEA, MoSPI</a:t>
            </a:r>
            <a:endParaRPr lang="en-US" sz="1000" dirty="0"/>
          </a:p>
        </p:txBody>
      </p:sp>
      <p:sp>
        <p:nvSpPr>
          <p:cNvPr id="9" name="Stat card 2"/>
          <p:cNvSpPr/>
          <p:nvPr/>
        </p:nvSpPr>
        <p:spPr>
          <a:xfrm>
            <a:off x="3390824" y="1737360"/>
            <a:ext cx="2567864" cy="292608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65144" y="196596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5"/>
                </a:solidFill>
              </a:rPr>
              <a:t>2070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3665144" y="2880360"/>
            <a:ext cx="2019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India's net-zero target. ECSBC now sets the bar for commercial buildings of 100 kW and above.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65144" y="4297680"/>
            <a:ext cx="2019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Source: Govt. of India, BEE</a:t>
            </a:r>
            <a:endParaRPr lang="en-US" sz="1000" dirty="0"/>
          </a:p>
        </p:txBody>
      </p:sp>
      <p:sp>
        <p:nvSpPr>
          <p:cNvPr id="13" name="Stat card 3"/>
          <p:cNvSpPr/>
          <p:nvPr/>
        </p:nvSpPr>
        <p:spPr>
          <a:xfrm>
            <a:off x="6233008" y="1737360"/>
            <a:ext cx="2567864" cy="292608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07328" y="196596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5"/>
                </a:solidFill>
              </a:rPr>
              <a:t>1,000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6507328" y="2880360"/>
            <a:ext cx="2019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listed companies come under BRSR Core assurance by March 2027.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507328" y="4297680"/>
            <a:ext cx="2019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Source: SEBI</a:t>
            </a:r>
            <a:endParaRPr lang="en-US" sz="1000" dirty="0"/>
          </a:p>
        </p:txBody>
      </p:sp>
      <p:sp>
        <p:nvSpPr>
          <p:cNvPr id="17" name="Stat card 4"/>
          <p:cNvSpPr/>
          <p:nvPr/>
        </p:nvSpPr>
        <p:spPr>
          <a:xfrm>
            <a:off x="9075191" y="1737360"/>
            <a:ext cx="2567864" cy="292608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49511" y="196596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5"/>
                </a:solidFill>
              </a:rPr>
              <a:t>2026</a:t>
            </a:r>
            <a:endParaRPr lang="en-US" sz="4400" dirty="0"/>
          </a:p>
        </p:txBody>
      </p:sp>
      <p:sp>
        <p:nvSpPr>
          <p:cNvPr id="19" name="Text 17"/>
          <p:cNvSpPr txBox="1"/>
          <p:nvPr/>
        </p:nvSpPr>
        <p:spPr>
          <a:xfrm>
            <a:off x="9349511" y="2880360"/>
            <a:ext cx="2019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EU CBAM's definitive phase began. Exporters of steel, aluminium and cement must back their emissions with data.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349511" y="4297680"/>
            <a:ext cx="2019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Source: EU Regulation 2023/956</a:t>
            </a:r>
            <a:endParaRPr lang="en-US" sz="1000" dirty="0"/>
          </a:p>
        </p:txBody>
      </p:sp>
      <p:sp>
        <p:nvSpPr>
          <p:cNvPr id="21" name="Takeaway band"/>
          <p:cNvSpPr/>
          <p:nvPr/>
        </p:nvSpPr>
        <p:spPr>
          <a:xfrm>
            <a:off x="548640" y="4937760"/>
            <a:ext cx="11094415" cy="960120"/>
          </a:xfrm>
          <a:prstGeom prst="roundRect">
            <a:avLst>
              <a:gd name="adj" fmla="val 7619"/>
            </a:avLst>
          </a:prstGeom>
          <a:solidFill>
            <a:schemeClr val="accent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" y="493776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Most buildings and supply chains are still planned for yesterday's rules.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We close that gap with evidence.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kicker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01   WHO WE HELP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943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Built for four kinds of client</a:t>
            </a:r>
            <a:endParaRPr lang="en-US" sz="24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116128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Each comes to us with a different trigger. We meet each one with a clear deliverable.</a:t>
            </a:r>
            <a:endParaRPr lang="en-US" sz="1400" dirty="0"/>
          </a:p>
        </p:txBody>
      </p:sp>
      <p:sp>
        <p:nvSpPr>
          <p:cNvPr id="5" name="Client card 1"/>
          <p:cNvSpPr/>
          <p:nvPr/>
        </p:nvSpPr>
        <p:spPr>
          <a:xfrm>
            <a:off x="548640" y="1737360"/>
            <a:ext cx="2567864" cy="434340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Icon Developers and owners disc"/>
          <p:cNvSpPr/>
          <p:nvPr/>
        </p:nvSpPr>
        <p:spPr>
          <a:xfrm>
            <a:off x="822960" y="201168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7" name="Icon Developers and owners" descr="Icon Developers and own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126" y="2196846"/>
            <a:ext cx="315468" cy="31546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2834640"/>
            <a:ext cx="2019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Developers and owners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566160"/>
            <a:ext cx="2019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THE TRIGGER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822192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Tenant RFPs, green finance and ECSBC compliance.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709160"/>
            <a:ext cx="2019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WHAT WE DELIVER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965192"/>
            <a:ext cx="20192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LEED, IGBC, EDGE or GRIHA certification, backed by energy and daylight models.</a:t>
            </a:r>
            <a:endParaRPr lang="en-US" sz="1200" dirty="0"/>
          </a:p>
        </p:txBody>
      </p:sp>
      <p:sp>
        <p:nvSpPr>
          <p:cNvPr id="13" name="Client card 2"/>
          <p:cNvSpPr/>
          <p:nvPr/>
        </p:nvSpPr>
        <p:spPr>
          <a:xfrm>
            <a:off x="3390824" y="1737360"/>
            <a:ext cx="2567864" cy="434340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Icon Manufacturers and exporters disc"/>
          <p:cNvSpPr/>
          <p:nvPr/>
        </p:nvSpPr>
        <p:spPr>
          <a:xfrm>
            <a:off x="3665144" y="201168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Icon Manufacturers and exporters" descr="Icon Manufacturers and export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310" y="2196846"/>
            <a:ext cx="315468" cy="31546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665144" y="2834640"/>
            <a:ext cx="2019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Manufacturers and exporters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3665144" y="3566160"/>
            <a:ext cx="2019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THE TRIGGER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3665144" y="3822192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EU CBAM and buyer requests for product carbon and Scope 3 data.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3665144" y="4709160"/>
            <a:ext cx="2019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WHAT WE DELIVER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3665144" y="4965192"/>
            <a:ext cx="20192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GHG inventories, product LCA, EPD support and green factory certification.</a:t>
            </a:r>
            <a:endParaRPr lang="en-US" sz="1200" dirty="0"/>
          </a:p>
        </p:txBody>
      </p:sp>
      <p:sp>
        <p:nvSpPr>
          <p:cNvPr id="21" name="Client card 3"/>
          <p:cNvSpPr/>
          <p:nvPr/>
        </p:nvSpPr>
        <p:spPr>
          <a:xfrm>
            <a:off x="6233008" y="1737360"/>
            <a:ext cx="2567864" cy="434340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Icon Listed companies and funds disc"/>
          <p:cNvSpPr/>
          <p:nvPr/>
        </p:nvSpPr>
        <p:spPr>
          <a:xfrm>
            <a:off x="6507328" y="201168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3" name="Icon Listed companies and funds" descr="Icon Listed companies and fund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2494" y="2196846"/>
            <a:ext cx="315468" cy="31546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507328" y="2834640"/>
            <a:ext cx="2019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Listed companies and funds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6507328" y="3566160"/>
            <a:ext cx="2019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THE TRIGGER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6507328" y="3822192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BRSR Core assurance, investor questionnaires and GRESB.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6507328" y="4709160"/>
            <a:ext cx="2019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WHAT WE DELIVER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6507328" y="4965192"/>
            <a:ext cx="20192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Scope 1–3 inventories, BRSR and GRI reporting, and physical climate-risk studies.</a:t>
            </a:r>
            <a:endParaRPr lang="en-US" sz="1200" dirty="0"/>
          </a:p>
        </p:txBody>
      </p:sp>
      <p:sp>
        <p:nvSpPr>
          <p:cNvPr id="29" name="Client card 4"/>
          <p:cNvSpPr/>
          <p:nvPr/>
        </p:nvSpPr>
        <p:spPr>
          <a:xfrm>
            <a:off x="9075191" y="1737360"/>
            <a:ext cx="2567864" cy="434340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Icon Architects and MEP teams disc"/>
          <p:cNvSpPr/>
          <p:nvPr/>
        </p:nvSpPr>
        <p:spPr>
          <a:xfrm>
            <a:off x="9349511" y="201168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1" name="Icon Architects and MEP teams" descr="Icon Architects and MEP team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4677" y="2196846"/>
            <a:ext cx="315468" cy="315468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9349511" y="2834640"/>
            <a:ext cx="2019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Architects and MEP teams</a:t>
            </a:r>
            <a:endParaRPr lang="en-US" sz="1600" dirty="0"/>
          </a:p>
        </p:txBody>
      </p:sp>
      <p:sp>
        <p:nvSpPr>
          <p:cNvPr id="33" name="Text 27"/>
          <p:cNvSpPr txBox="1"/>
          <p:nvPr/>
        </p:nvSpPr>
        <p:spPr>
          <a:xfrm>
            <a:off x="9349511" y="3566160"/>
            <a:ext cx="2019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THE TRIGGER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9349511" y="3822192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Credits that hinge on simulation, under tight design timelines.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9349511" y="4709160"/>
            <a:ext cx="2019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WHAT WE DELIVER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9349511" y="4965192"/>
            <a:ext cx="20192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Energy, daylight and microclimate studies as your technical partner.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kicker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02   SERVICES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943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Measure. Certify. Report.</a:t>
            </a:r>
            <a:endParaRPr lang="en-US" sz="24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116128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One team takes a project from baseline data to certificate to disclosure.</a:t>
            </a:r>
            <a:endParaRPr lang="en-US" sz="1400" dirty="0"/>
          </a:p>
        </p:txBody>
      </p:sp>
      <p:sp>
        <p:nvSpPr>
          <p:cNvPr id="5" name="Pillar card Measure"/>
          <p:cNvSpPr/>
          <p:nvPr/>
        </p:nvSpPr>
        <p:spPr>
          <a:xfrm>
            <a:off x="548640" y="1737360"/>
            <a:ext cx="3515258" cy="4206240"/>
          </a:xfrm>
          <a:prstGeom prst="roundRect">
            <a:avLst>
              <a:gd name="adj" fmla="val 208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Icon Measure disc"/>
          <p:cNvSpPr/>
          <p:nvPr/>
        </p:nvSpPr>
        <p:spPr>
          <a:xfrm>
            <a:off x="868680" y="201168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7" name="Icon Measure" descr="Icon Meas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" y="2209190"/>
            <a:ext cx="336499" cy="33649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2011680"/>
            <a:ext cx="20522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Measure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97180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Know your baseline. Build the evidence.</a:t>
            </a:r>
            <a:endParaRPr lang="en-US" sz="1600" dirty="0"/>
          </a:p>
        </p:txBody>
      </p:sp>
      <p:sp>
        <p:nvSpPr>
          <p:cNvPr id="10" name="Pillar bullets Measure"/>
          <p:cNvSpPr txBox="1"/>
          <p:nvPr/>
        </p:nvSpPr>
        <p:spPr>
          <a:xfrm>
            <a:off x="868680" y="3749040"/>
            <a:ext cx="287517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GHG inventory: Scope 1, 2 and 3</a:t>
            </a:r>
            <a:endParaRPr lang="en-US" sz="140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Energy and daylight simulation</a:t>
            </a:r>
            <a:endParaRPr lang="en-US" sz="140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Microclimate and climate-risk studies</a:t>
            </a:r>
            <a:endParaRPr lang="en-US" sz="140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LCA, EPD and CBAM emissions data</a:t>
            </a:r>
            <a:endParaRPr lang="en-US" sz="1400" dirty="0"/>
          </a:p>
        </p:txBody>
      </p:sp>
      <p:sp>
        <p:nvSpPr>
          <p:cNvPr id="11" name="Pillar card Certify"/>
          <p:cNvSpPr/>
          <p:nvPr/>
        </p:nvSpPr>
        <p:spPr>
          <a:xfrm>
            <a:off x="4338218" y="1737360"/>
            <a:ext cx="3515258" cy="4206240"/>
          </a:xfrm>
          <a:prstGeom prst="roundRect">
            <a:avLst>
              <a:gd name="adj" fmla="val 208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Icon Certify disc"/>
          <p:cNvSpPr/>
          <p:nvPr/>
        </p:nvSpPr>
        <p:spPr>
          <a:xfrm>
            <a:off x="4658258" y="201168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Icon Certify" descr="Icon Certif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769" y="2209190"/>
            <a:ext cx="336499" cy="33649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526938" y="2011680"/>
            <a:ext cx="20522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Certify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4658258" y="297180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Take each rating system through to award.</a:t>
            </a:r>
            <a:endParaRPr lang="en-US" sz="1600" dirty="0"/>
          </a:p>
        </p:txBody>
      </p:sp>
      <p:sp>
        <p:nvSpPr>
          <p:cNvPr id="16" name="Pillar bullets Certify"/>
          <p:cNvSpPr txBox="1"/>
          <p:nvPr/>
        </p:nvSpPr>
        <p:spPr>
          <a:xfrm>
            <a:off x="4658258" y="3749040"/>
            <a:ext cx="287517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LEED, EDGE, IGBC and GRIHA</a:t>
            </a:r>
            <a:endParaRPr lang="en-US" sz="140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WELL and Fitwel</a:t>
            </a:r>
            <a:endParaRPr lang="en-US" sz="140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ECSBC and BEE compliance</a:t>
            </a:r>
            <a:endParaRPr lang="en-US" sz="140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Reviewer queries and appeals</a:t>
            </a:r>
            <a:endParaRPr lang="en-US" sz="1400" dirty="0"/>
          </a:p>
        </p:txBody>
      </p:sp>
      <p:sp>
        <p:nvSpPr>
          <p:cNvPr id="17" name="Pillar card Report"/>
          <p:cNvSpPr/>
          <p:nvPr/>
        </p:nvSpPr>
        <p:spPr>
          <a:xfrm>
            <a:off x="8127797" y="1737360"/>
            <a:ext cx="3515258" cy="4206240"/>
          </a:xfrm>
          <a:prstGeom prst="roundRect">
            <a:avLst>
              <a:gd name="adj" fmla="val 208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8" name="Icon Report disc"/>
          <p:cNvSpPr/>
          <p:nvPr/>
        </p:nvSpPr>
        <p:spPr>
          <a:xfrm>
            <a:off x="8447837" y="201168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9" name="Icon Report" descr="Icon Repo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5347" y="2209190"/>
            <a:ext cx="336499" cy="336499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316517" y="2011680"/>
            <a:ext cx="20522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Report</a:t>
            </a:r>
            <a:endParaRPr lang="en-US" sz="2400" dirty="0"/>
          </a:p>
        </p:txBody>
      </p:sp>
      <p:sp>
        <p:nvSpPr>
          <p:cNvPr id="21" name="Text 16"/>
          <p:cNvSpPr txBox="1"/>
          <p:nvPr/>
        </p:nvSpPr>
        <p:spPr>
          <a:xfrm>
            <a:off x="8447837" y="297180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Disclose with confidence to every stakeholder.</a:t>
            </a:r>
            <a:endParaRPr lang="en-US" sz="1600" dirty="0"/>
          </a:p>
        </p:txBody>
      </p:sp>
      <p:sp>
        <p:nvSpPr>
          <p:cNvPr id="22" name="Pillar bullets Report"/>
          <p:cNvSpPr txBox="1"/>
          <p:nvPr/>
        </p:nvSpPr>
        <p:spPr>
          <a:xfrm>
            <a:off x="8447837" y="3749040"/>
            <a:ext cx="287517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BRSR Core and BRSR</a:t>
            </a:r>
            <a:endParaRPr lang="en-US" sz="140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GRI, CDP and TCFD alignment</a:t>
            </a:r>
            <a:endParaRPr lang="en-US" sz="140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ESG strategy and roadmaps</a:t>
            </a:r>
            <a:endParaRPr lang="en-US" sz="140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SBTi target-setting support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kicker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02   SERVICES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943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Simulation-led design, backed by data</a:t>
            </a:r>
            <a:endParaRPr lang="en-US" sz="24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116128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Every recommendation is tested in a model before it reaches a drawing.</a:t>
            </a:r>
            <a:endParaRPr lang="en-US" sz="1400" dirty="0"/>
          </a:p>
        </p:txBody>
      </p:sp>
      <p:sp>
        <p:nvSpPr>
          <p:cNvPr id="5" name="Tile Energy modelling"/>
          <p:cNvSpPr/>
          <p:nvPr/>
        </p:nvSpPr>
        <p:spPr>
          <a:xfrm>
            <a:off x="548640" y="1737360"/>
            <a:ext cx="5410048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Icon Energy modelling disc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7" name="Icon Energy modelling" descr="Icon Energy modell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2" y="2184502"/>
            <a:ext cx="294437" cy="2944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65960"/>
            <a:ext cx="403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Energy modelling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331720"/>
            <a:ext cx="403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DesignBuilder  ·  EnergyPlus  ·  eQUEST</a:t>
            </a:r>
            <a:endParaRPr lang="en-US" sz="1200" dirty="0"/>
          </a:p>
        </p:txBody>
      </p:sp>
      <p:sp>
        <p:nvSpPr>
          <p:cNvPr id="10" name="Tile bullets Energy modelling"/>
          <p:cNvSpPr txBox="1"/>
          <p:nvPr/>
        </p:nvSpPr>
        <p:spPr>
          <a:xfrm>
            <a:off x="822960" y="2834640"/>
            <a:ext cx="486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Baseline vs proposed models for LEED, ECSBC and BEE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HVAC system modelling and optimisation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ASHRAE 90.1 and ECSBC parametric studies</a:t>
            </a:r>
            <a:endParaRPr lang="en-US" sz="1400" dirty="0"/>
          </a:p>
        </p:txBody>
      </p:sp>
      <p:sp>
        <p:nvSpPr>
          <p:cNvPr id="11" name="Tile Daylight and glare"/>
          <p:cNvSpPr/>
          <p:nvPr/>
        </p:nvSpPr>
        <p:spPr>
          <a:xfrm>
            <a:off x="6233008" y="1737360"/>
            <a:ext cx="5410048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Icon Daylight and glare disc"/>
          <p:cNvSpPr/>
          <p:nvPr/>
        </p:nvSpPr>
        <p:spPr>
          <a:xfrm>
            <a:off x="6507328" y="201168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Icon Daylight and glare" descr="Icon Daylight and gla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149" y="2184502"/>
            <a:ext cx="294437" cy="29443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330288" y="1965960"/>
            <a:ext cx="403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Daylight and glare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7330288" y="2331720"/>
            <a:ext cx="403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Climate-based daylight modelling</a:t>
            </a:r>
            <a:endParaRPr lang="en-US" sz="1200" dirty="0"/>
          </a:p>
        </p:txBody>
      </p:sp>
      <p:sp>
        <p:nvSpPr>
          <p:cNvPr id="16" name="Tile bullets Daylight and glare"/>
          <p:cNvSpPr txBox="1"/>
          <p:nvPr/>
        </p:nvSpPr>
        <p:spPr>
          <a:xfrm>
            <a:off x="6507328" y="2834640"/>
            <a:ext cx="486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sDA, ASE and daylight factor studies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Glare (DGP) and visual comfort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Façade and shading design for Indian climate zones</a:t>
            </a:r>
            <a:endParaRPr lang="en-US" sz="1400" dirty="0"/>
          </a:p>
        </p:txBody>
      </p:sp>
      <p:sp>
        <p:nvSpPr>
          <p:cNvPr id="17" name="Tile Microclimate"/>
          <p:cNvSpPr/>
          <p:nvPr/>
        </p:nvSpPr>
        <p:spPr>
          <a:xfrm>
            <a:off x="548640" y="4069080"/>
            <a:ext cx="5410048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8" name="Icon Microclimate disc"/>
          <p:cNvSpPr/>
          <p:nvPr/>
        </p:nvSpPr>
        <p:spPr>
          <a:xfrm>
            <a:off x="822960" y="434340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9" name="Icon Microclimate" descr="Icon Microclima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82" y="4516222"/>
            <a:ext cx="294437" cy="29443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645920" y="4297680"/>
            <a:ext cx="403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Microclimate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1645920" y="4663440"/>
            <a:ext cx="403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Outdoor comfort and urban wind</a:t>
            </a:r>
            <a:endParaRPr lang="en-US" sz="1200" dirty="0"/>
          </a:p>
        </p:txBody>
      </p:sp>
      <p:sp>
        <p:nvSpPr>
          <p:cNvPr id="22" name="Tile bullets Microclimate"/>
          <p:cNvSpPr txBox="1"/>
          <p:nvPr/>
        </p:nvSpPr>
        <p:spPr>
          <a:xfrm>
            <a:off x="822960" y="5166360"/>
            <a:ext cx="486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UTCI and PET outdoor thermal comfort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Pedestrian wind and urban heat island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Solar access and site shading</a:t>
            </a:r>
            <a:endParaRPr lang="en-US" sz="1400" dirty="0"/>
          </a:p>
        </p:txBody>
      </p:sp>
      <p:sp>
        <p:nvSpPr>
          <p:cNvPr id="23" name="Tile LCA and carbon"/>
          <p:cNvSpPr/>
          <p:nvPr/>
        </p:nvSpPr>
        <p:spPr>
          <a:xfrm>
            <a:off x="6233008" y="4069080"/>
            <a:ext cx="5410048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Icon LCA and carbon disc"/>
          <p:cNvSpPr/>
          <p:nvPr/>
        </p:nvSpPr>
        <p:spPr>
          <a:xfrm>
            <a:off x="6507328" y="434340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5" name="Icon LCA and carbon" descr="Icon LCA and carb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149" y="4516222"/>
            <a:ext cx="294437" cy="294437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330288" y="4297680"/>
            <a:ext cx="403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LCA and carbon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7330288" y="4663440"/>
            <a:ext cx="403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One Click LCA  ·  Excel-based models</a:t>
            </a:r>
            <a:endParaRPr lang="en-US" sz="1200" dirty="0"/>
          </a:p>
        </p:txBody>
      </p:sp>
      <p:sp>
        <p:nvSpPr>
          <p:cNvPr id="28" name="Tile bullets LCA and carbon"/>
          <p:cNvSpPr txBox="1"/>
          <p:nvPr/>
        </p:nvSpPr>
        <p:spPr>
          <a:xfrm>
            <a:off x="6507328" y="5166360"/>
            <a:ext cx="486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Whole-building and product LCA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Embodied carbon and EPD support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Link to Scope 3 and GHG inventories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kicker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02   SERVICES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943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Rating systems we deliver</a:t>
            </a:r>
            <a:endParaRPr lang="en-US" sz="24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116128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Six systems, matched to the project's market, budget and timeline.</a:t>
            </a:r>
            <a:endParaRPr lang="en-US" sz="1400" dirty="0"/>
          </a:p>
        </p:txBody>
      </p:sp>
      <p:graphicFrame>
        <p:nvGraphicFramePr>
          <p:cNvPr id="8" name="Rating system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75895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011680"/>
                <a:gridCol w="411480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Rating system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Body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 we deliver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LEED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USGBC / GBCI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BD+C, Core and Shell, ID+C and O+M, from registration to award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EDGE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IFC / GBCI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Design and final certification, plus EDGE audits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IGBC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CII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New buildings, green factories, homes and interiors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GRIHA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GRIHA Council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GRIHA V-2019 and Large Developments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WELL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IWBI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Health and wellbeing strategy and documentation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Fitwel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Center for Active Design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Occupant health strategy and certification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Credentials card"/>
          <p:cNvSpPr/>
          <p:nvPr/>
        </p:nvSpPr>
        <p:spPr>
          <a:xfrm>
            <a:off x="8503920" y="1737360"/>
            <a:ext cx="3139135" cy="4224528"/>
          </a:xfrm>
          <a:prstGeom prst="roundRect">
            <a:avLst>
              <a:gd name="adj" fmla="val 233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78240" y="1965960"/>
            <a:ext cx="2590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Founder credentials</a:t>
            </a:r>
            <a:endParaRPr lang="en-US" sz="1600" dirty="0"/>
          </a:p>
        </p:txBody>
      </p:sp>
      <p:sp>
        <p:nvSpPr>
          <p:cNvPr id="8" name="Icon credential 1 disc"/>
          <p:cNvSpPr/>
          <p:nvPr/>
        </p:nvSpPr>
        <p:spPr>
          <a:xfrm>
            <a:off x="8778240" y="260604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9" name="Icon credential 1" descr="Icon credential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4028" y="2741828"/>
            <a:ext cx="231343" cy="23134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418320" y="2560320"/>
            <a:ext cx="2041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IGBC AP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Accredited Professional, CII-IGBC</a:t>
            </a:r>
            <a:endParaRPr lang="en-US" sz="1300" dirty="0"/>
          </a:p>
        </p:txBody>
      </p:sp>
      <p:sp>
        <p:nvSpPr>
          <p:cNvPr id="11" name="Icon credential 2 disc"/>
          <p:cNvSpPr/>
          <p:nvPr/>
        </p:nvSpPr>
        <p:spPr>
          <a:xfrm>
            <a:off x="8778240" y="342900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Icon credential 2" descr="Icon credential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4028" y="3564788"/>
            <a:ext cx="231343" cy="23134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418320" y="3383280"/>
            <a:ext cx="2041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EDGE Expert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IFC / GBCI</a:t>
            </a:r>
            <a:endParaRPr lang="en-US" sz="1300" dirty="0"/>
          </a:p>
        </p:txBody>
      </p:sp>
      <p:sp>
        <p:nvSpPr>
          <p:cNvPr id="14" name="Icon credential 3 disc"/>
          <p:cNvSpPr/>
          <p:nvPr/>
        </p:nvSpPr>
        <p:spPr>
          <a:xfrm>
            <a:off x="8778240" y="425196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Icon credential 3" descr="Icon credential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4028" y="4387748"/>
            <a:ext cx="231343" cy="231343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418320" y="4206240"/>
            <a:ext cx="2041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EDGE Auditor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GBCI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8778240" y="4983480"/>
            <a:ext cx="25904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Hands-on project delivery across all six systems.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kicker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03   FOUNDER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943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Meet your founder</a:t>
            </a:r>
            <a:endParaRPr lang="en-US" sz="24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116128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 new firm, led by someone who has delivered 100+ projects in 7+ years.</a:t>
            </a:r>
            <a:endParaRPr lang="en-US" sz="1400" dirty="0"/>
          </a:p>
        </p:txBody>
      </p:sp>
      <p:sp>
        <p:nvSpPr>
          <p:cNvPr id="5" name="Founder card"/>
          <p:cNvSpPr/>
          <p:nvPr/>
        </p:nvSpPr>
        <p:spPr>
          <a:xfrm>
            <a:off x="548640" y="1737360"/>
            <a:ext cx="3749040" cy="4343400"/>
          </a:xfrm>
          <a:prstGeom prst="roundRect">
            <a:avLst>
              <a:gd name="adj" fmla="val 195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Founder portrait placeholder"/>
          <p:cNvSpPr/>
          <p:nvPr/>
        </p:nvSpPr>
        <p:spPr>
          <a:xfrm>
            <a:off x="1417320" y="2011680"/>
            <a:ext cx="2011680" cy="2011680"/>
          </a:xfrm>
          <a:prstGeom prst="ellipse">
            <a:avLst/>
          </a:prstGeom>
          <a:solidFill>
            <a:schemeClr val="accent5"/>
          </a:solidFill>
          <a:ln w="50800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7320" y="20116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SJ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206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Siddhant Jain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663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Founder and Principal Consultant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212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IGBC AP  ·  EDGE Expert &amp; Auditor</a:t>
            </a:r>
            <a:endParaRPr lang="en-US" sz="1200" dirty="0"/>
          </a:p>
        </p:txBody>
      </p:sp>
      <p:sp>
        <p:nvSpPr>
          <p:cNvPr id="11" name="Founder stat 1"/>
          <p:cNvSpPr/>
          <p:nvPr/>
        </p:nvSpPr>
        <p:spPr>
          <a:xfrm>
            <a:off x="4663440" y="1737360"/>
            <a:ext cx="1607744" cy="1234440"/>
          </a:xfrm>
          <a:prstGeom prst="roundRect">
            <a:avLst>
              <a:gd name="adj" fmla="val 5926"/>
            </a:avLst>
          </a:prstGeom>
          <a:solidFill>
            <a:schemeClr val="accent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63440" y="1828800"/>
            <a:ext cx="1607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5"/>
                </a:solidFill>
              </a:rPr>
              <a:t>7+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514600"/>
            <a:ext cx="1607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years in practice</a:t>
            </a:r>
            <a:endParaRPr lang="en-US" sz="1200" dirty="0"/>
          </a:p>
        </p:txBody>
      </p:sp>
      <p:sp>
        <p:nvSpPr>
          <p:cNvPr id="14" name="Founder stat 2"/>
          <p:cNvSpPr/>
          <p:nvPr/>
        </p:nvSpPr>
        <p:spPr>
          <a:xfrm>
            <a:off x="6454064" y="1737360"/>
            <a:ext cx="1607744" cy="1234440"/>
          </a:xfrm>
          <a:prstGeom prst="roundRect">
            <a:avLst>
              <a:gd name="adj" fmla="val 5926"/>
            </a:avLst>
          </a:prstGeom>
          <a:solidFill>
            <a:schemeClr val="accent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54064" y="1828800"/>
            <a:ext cx="1607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5"/>
                </a:solidFill>
              </a:rPr>
              <a:t>100+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6454064" y="2514600"/>
            <a:ext cx="1607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projects delivered</a:t>
            </a:r>
            <a:endParaRPr lang="en-US" sz="1200" dirty="0"/>
          </a:p>
        </p:txBody>
      </p:sp>
      <p:sp>
        <p:nvSpPr>
          <p:cNvPr id="17" name="Founder stat 3"/>
          <p:cNvSpPr/>
          <p:nvPr/>
        </p:nvSpPr>
        <p:spPr>
          <a:xfrm>
            <a:off x="8244688" y="1737360"/>
            <a:ext cx="1607744" cy="1234440"/>
          </a:xfrm>
          <a:prstGeom prst="roundRect">
            <a:avLst>
              <a:gd name="adj" fmla="val 5926"/>
            </a:avLst>
          </a:prstGeom>
          <a:solidFill>
            <a:schemeClr val="accent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44688" y="1828800"/>
            <a:ext cx="1607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5"/>
                </a:solidFill>
              </a:rPr>
              <a:t>5</a:t>
            </a:r>
            <a:endParaRPr lang="en-US" sz="3600" dirty="0"/>
          </a:p>
        </p:txBody>
      </p:sp>
      <p:sp>
        <p:nvSpPr>
          <p:cNvPr id="19" name="Text 17"/>
          <p:cNvSpPr txBox="1"/>
          <p:nvPr/>
        </p:nvSpPr>
        <p:spPr>
          <a:xfrm>
            <a:off x="8244688" y="2514600"/>
            <a:ext cx="1607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countries</a:t>
            </a:r>
            <a:endParaRPr lang="en-US" sz="1200" dirty="0"/>
          </a:p>
        </p:txBody>
      </p:sp>
      <p:sp>
        <p:nvSpPr>
          <p:cNvPr id="20" name="Founder stat 4"/>
          <p:cNvSpPr/>
          <p:nvPr/>
        </p:nvSpPr>
        <p:spPr>
          <a:xfrm>
            <a:off x="10035311" y="1737360"/>
            <a:ext cx="1607744" cy="1234440"/>
          </a:xfrm>
          <a:prstGeom prst="roundRect">
            <a:avLst>
              <a:gd name="adj" fmla="val 5926"/>
            </a:avLst>
          </a:prstGeom>
          <a:solidFill>
            <a:schemeClr val="accent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35311" y="1828800"/>
            <a:ext cx="1607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5"/>
                </a:solidFill>
              </a:rPr>
              <a:t>6</a:t>
            </a:r>
            <a:endParaRPr lang="en-US" sz="3600" dirty="0"/>
          </a:p>
        </p:txBody>
      </p:sp>
      <p:sp>
        <p:nvSpPr>
          <p:cNvPr id="22" name="Text 20"/>
          <p:cNvSpPr txBox="1"/>
          <p:nvPr/>
        </p:nvSpPr>
        <p:spPr>
          <a:xfrm>
            <a:off x="10035311" y="2514600"/>
            <a:ext cx="1607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rating systems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3246120"/>
            <a:ext cx="6979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chemeClr val="accent5"/>
                </a:solidFill>
              </a:rPr>
              <a:t>New firm. Seasoned hands.</a:t>
            </a:r>
            <a:endParaRPr lang="en-US" sz="1800" dirty="0"/>
          </a:p>
        </p:txBody>
      </p:sp>
      <p:sp>
        <p:nvSpPr>
          <p:cNvPr id="24" name="Founder bio"/>
          <p:cNvSpPr txBox="1"/>
          <p:nvPr/>
        </p:nvSpPr>
        <p:spPr>
          <a:xfrm>
            <a:off x="4663440" y="3749040"/>
            <a:ext cx="697961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Has delivered 100+ certification, simulation and carbon projects across India, France, Vietnam, Cambodia and Thailand.</a:t>
            </a:r>
            <a:endParaRPr lang="en-US" sz="140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Builds the energy, daylight and microclimate models in DesignBuilder and EnergyPlus, and runs LCA in One Click LCA and Excel.</a:t>
            </a:r>
            <a:endParaRPr lang="en-US" sz="140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Brings GHG, carbon and ESG reporting experience to Scope 1–3 inventories and BRSR-ready disclosures.</a:t>
            </a:r>
            <a:endParaRPr lang="en-US" sz="140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Stays on every project. You work with the founder directly, with no junior handoffs.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kicker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03   FOUNDER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943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The experience VERDEAXIS is built on</a:t>
            </a:r>
            <a:endParaRPr lang="en-US" sz="24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116128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 selection from the founder's 100+ projects, delivered before the firm was formed.</a:t>
            </a:r>
            <a:endParaRPr lang="en-US" sz="1400" dirty="0"/>
          </a:p>
        </p:txBody>
      </p:sp>
      <p:sp>
        <p:nvSpPr>
          <p:cNvPr id="5" name="Project card 1"/>
          <p:cNvSpPr/>
          <p:nvPr/>
        </p:nvSpPr>
        <p:spPr>
          <a:xfrm>
            <a:off x="548640" y="1737360"/>
            <a:ext cx="3515258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Icon project 1 disc"/>
          <p:cNvSpPr/>
          <p:nvPr/>
        </p:nvSpPr>
        <p:spPr>
          <a:xfrm>
            <a:off x="822960" y="1965960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7" name="Icon project 1" descr="Icon project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437" y="2126437"/>
            <a:ext cx="273406" cy="27340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965960"/>
            <a:ext cx="22808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Commercial campus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286000"/>
            <a:ext cx="2280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Gandhinagar, India</a:t>
            </a:r>
            <a:endParaRPr lang="en-US" sz="1200" dirty="0"/>
          </a:p>
        </p:txBody>
      </p:sp>
      <p:sp>
        <p:nvSpPr>
          <p:cNvPr id="10" name="Scope badge 1"/>
          <p:cNvSpPr/>
          <p:nvPr/>
        </p:nvSpPr>
        <p:spPr>
          <a:xfrm>
            <a:off x="822960" y="2788920"/>
            <a:ext cx="2966618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" y="2788920"/>
            <a:ext cx="2966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LEED v4.1 O+M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Gold target</a:t>
            </a:r>
            <a:endParaRPr lang="en-US" sz="1200" dirty="0"/>
          </a:p>
        </p:txBody>
      </p:sp>
      <p:sp>
        <p:nvSpPr>
          <p:cNvPr id="12" name="Project card 2"/>
          <p:cNvSpPr/>
          <p:nvPr/>
        </p:nvSpPr>
        <p:spPr>
          <a:xfrm>
            <a:off x="4338218" y="1737360"/>
            <a:ext cx="3515258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Icon project 2 disc"/>
          <p:cNvSpPr/>
          <p:nvPr/>
        </p:nvSpPr>
        <p:spPr>
          <a:xfrm>
            <a:off x="4612538" y="1965960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4" name="Icon project 2" descr="Icon project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016" y="2126437"/>
            <a:ext cx="273406" cy="27340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389778" y="1965960"/>
            <a:ext cx="22808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28-floor tower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5389778" y="2286000"/>
            <a:ext cx="2280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Ho Chi Minh City, Vietnam</a:t>
            </a:r>
            <a:endParaRPr lang="en-US" sz="1200" dirty="0"/>
          </a:p>
        </p:txBody>
      </p:sp>
      <p:sp>
        <p:nvSpPr>
          <p:cNvPr id="17" name="Scope badge 2"/>
          <p:cNvSpPr/>
          <p:nvPr/>
        </p:nvSpPr>
        <p:spPr>
          <a:xfrm>
            <a:off x="4612538" y="2788920"/>
            <a:ext cx="2966618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4612538" y="2788920"/>
            <a:ext cx="2966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LEED BD+C v4 C&amp;S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Core and shell</a:t>
            </a:r>
            <a:endParaRPr lang="en-US" sz="1200" dirty="0"/>
          </a:p>
        </p:txBody>
      </p:sp>
      <p:sp>
        <p:nvSpPr>
          <p:cNvPr id="19" name="Project card 3"/>
          <p:cNvSpPr/>
          <p:nvPr/>
        </p:nvSpPr>
        <p:spPr>
          <a:xfrm>
            <a:off x="8127797" y="1737360"/>
            <a:ext cx="3515258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0" name="Icon project 3 disc"/>
          <p:cNvSpPr/>
          <p:nvPr/>
        </p:nvSpPr>
        <p:spPr>
          <a:xfrm>
            <a:off x="8402117" y="1965960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1" name="Icon project 3" descr="Icon project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2594" y="2126437"/>
            <a:ext cx="273406" cy="27340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179357" y="1965960"/>
            <a:ext cx="22808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Pet food facilities (2)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9179357" y="2286000"/>
            <a:ext cx="2280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France</a:t>
            </a:r>
            <a:endParaRPr lang="en-US" sz="1200" dirty="0"/>
          </a:p>
        </p:txBody>
      </p:sp>
      <p:sp>
        <p:nvSpPr>
          <p:cNvPr id="24" name="Scope badge 3"/>
          <p:cNvSpPr/>
          <p:nvPr/>
        </p:nvSpPr>
        <p:spPr>
          <a:xfrm>
            <a:off x="8402117" y="2788920"/>
            <a:ext cx="2966618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402117" y="2788920"/>
            <a:ext cx="2966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LEED BD+C v4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Industrial new build</a:t>
            </a:r>
            <a:endParaRPr lang="en-US" sz="1200" dirty="0"/>
          </a:p>
        </p:txBody>
      </p:sp>
      <p:sp>
        <p:nvSpPr>
          <p:cNvPr id="26" name="Project card 4"/>
          <p:cNvSpPr/>
          <p:nvPr/>
        </p:nvSpPr>
        <p:spPr>
          <a:xfrm>
            <a:off x="548640" y="3794760"/>
            <a:ext cx="3515258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7" name="Icon project 4 disc"/>
          <p:cNvSpPr/>
          <p:nvPr/>
        </p:nvSpPr>
        <p:spPr>
          <a:xfrm>
            <a:off x="822960" y="4023360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8" name="Icon project 4" descr="Icon project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437" y="4183837"/>
            <a:ext cx="273406" cy="273406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600200" y="4023360"/>
            <a:ext cx="22808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Rice milling factory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1600200" y="4343400"/>
            <a:ext cx="2280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Cambodia</a:t>
            </a:r>
            <a:endParaRPr lang="en-US" sz="1200" dirty="0"/>
          </a:p>
        </p:txBody>
      </p:sp>
      <p:sp>
        <p:nvSpPr>
          <p:cNvPr id="31" name="Scope badge 4"/>
          <p:cNvSpPr/>
          <p:nvPr/>
        </p:nvSpPr>
        <p:spPr>
          <a:xfrm>
            <a:off x="822960" y="4846320"/>
            <a:ext cx="2966618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822960" y="4846320"/>
            <a:ext cx="2966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EDGE v3.1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Final certification</a:t>
            </a:r>
            <a:endParaRPr lang="en-US" sz="1200" dirty="0"/>
          </a:p>
        </p:txBody>
      </p:sp>
      <p:sp>
        <p:nvSpPr>
          <p:cNvPr id="33" name="Project card 5"/>
          <p:cNvSpPr/>
          <p:nvPr/>
        </p:nvSpPr>
        <p:spPr>
          <a:xfrm>
            <a:off x="4338218" y="3794760"/>
            <a:ext cx="3515258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4" name="Icon project 5 disc"/>
          <p:cNvSpPr/>
          <p:nvPr/>
        </p:nvSpPr>
        <p:spPr>
          <a:xfrm>
            <a:off x="4612538" y="4023360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5" name="Icon project 5" descr="Icon project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016" y="4183837"/>
            <a:ext cx="273406" cy="273406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5389778" y="4023360"/>
            <a:ext cx="22808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Industrial portfolio</a:t>
            </a:r>
            <a:endParaRPr lang="en-US" sz="1400" dirty="0"/>
          </a:p>
        </p:txBody>
      </p:sp>
      <p:sp>
        <p:nvSpPr>
          <p:cNvPr id="37" name="Text 30"/>
          <p:cNvSpPr txBox="1"/>
          <p:nvPr/>
        </p:nvSpPr>
        <p:spPr>
          <a:xfrm>
            <a:off x="5389778" y="4343400"/>
            <a:ext cx="2280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Thailand</a:t>
            </a:r>
            <a:endParaRPr lang="en-US" sz="1200" dirty="0"/>
          </a:p>
        </p:txBody>
      </p:sp>
      <p:sp>
        <p:nvSpPr>
          <p:cNvPr id="38" name="Scope badge 5"/>
          <p:cNvSpPr/>
          <p:nvPr/>
        </p:nvSpPr>
        <p:spPr>
          <a:xfrm>
            <a:off x="4612538" y="4846320"/>
            <a:ext cx="2966618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/>
        </p:spPr>
      </p:sp>
      <p:sp>
        <p:nvSpPr>
          <p:cNvPr id="39" name="Text 32"/>
          <p:cNvSpPr txBox="1"/>
          <p:nvPr/>
        </p:nvSpPr>
        <p:spPr>
          <a:xfrm>
            <a:off x="4612538" y="4846320"/>
            <a:ext cx="2966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ESG and GHG Scope 1–3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GRESB-aligned</a:t>
            </a:r>
            <a:endParaRPr lang="en-US" sz="1200" dirty="0"/>
          </a:p>
        </p:txBody>
      </p:sp>
      <p:sp>
        <p:nvSpPr>
          <p:cNvPr id="40" name="Project card 6"/>
          <p:cNvSpPr/>
          <p:nvPr/>
        </p:nvSpPr>
        <p:spPr>
          <a:xfrm>
            <a:off x="8127797" y="3794760"/>
            <a:ext cx="3515258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1" name="Icon project 6 disc"/>
          <p:cNvSpPr/>
          <p:nvPr/>
        </p:nvSpPr>
        <p:spPr>
          <a:xfrm>
            <a:off x="8402117" y="4023360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42" name="Icon project 6" descr="Icon project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2594" y="4183837"/>
            <a:ext cx="273406" cy="273406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9179357" y="4023360"/>
            <a:ext cx="22808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Industrial park</a:t>
            </a:r>
            <a:endParaRPr lang="en-US" sz="1400" dirty="0"/>
          </a:p>
        </p:txBody>
      </p:sp>
      <p:sp>
        <p:nvSpPr>
          <p:cNvPr id="44" name="Text 36"/>
          <p:cNvSpPr txBox="1"/>
          <p:nvPr/>
        </p:nvSpPr>
        <p:spPr>
          <a:xfrm>
            <a:off x="9179357" y="4343400"/>
            <a:ext cx="2280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Samut Sakhon, Thailand</a:t>
            </a:r>
            <a:endParaRPr lang="en-US" sz="1200" dirty="0"/>
          </a:p>
        </p:txBody>
      </p:sp>
      <p:sp>
        <p:nvSpPr>
          <p:cNvPr id="45" name="Scope badge 6"/>
          <p:cNvSpPr/>
          <p:nvPr/>
        </p:nvSpPr>
        <p:spPr>
          <a:xfrm>
            <a:off x="8402117" y="4846320"/>
            <a:ext cx="2966618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/>
        </p:spPr>
      </p:sp>
      <p:sp>
        <p:nvSpPr>
          <p:cNvPr id="46" name="Text 38"/>
          <p:cNvSpPr txBox="1"/>
          <p:nvPr/>
        </p:nvSpPr>
        <p:spPr>
          <a:xfrm>
            <a:off x="8402117" y="4846320"/>
            <a:ext cx="2966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Physical climate risk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WRI, NASA and Fathom data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548640" y="5806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PROJECT EXPERIENCE IN</a:t>
            </a:r>
            <a:endParaRPr lang="en-US" sz="1100" dirty="0"/>
          </a:p>
        </p:txBody>
      </p:sp>
      <p:sp>
        <p:nvSpPr>
          <p:cNvPr id="48" name="Chip India"/>
          <p:cNvSpPr/>
          <p:nvPr/>
        </p:nvSpPr>
        <p:spPr>
          <a:xfrm>
            <a:off x="3017520" y="58064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49" name="Text 41"/>
          <p:cNvSpPr txBox="1"/>
          <p:nvPr/>
        </p:nvSpPr>
        <p:spPr>
          <a:xfrm>
            <a:off x="3017520" y="5806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India</a:t>
            </a:r>
            <a:endParaRPr lang="en-US" sz="1200" dirty="0"/>
          </a:p>
        </p:txBody>
      </p:sp>
      <p:sp>
        <p:nvSpPr>
          <p:cNvPr id="50" name="Chip France"/>
          <p:cNvSpPr/>
          <p:nvPr/>
        </p:nvSpPr>
        <p:spPr>
          <a:xfrm>
            <a:off x="4069080" y="5806440"/>
            <a:ext cx="960120" cy="3657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51" name="Text 43"/>
          <p:cNvSpPr txBox="1"/>
          <p:nvPr/>
        </p:nvSpPr>
        <p:spPr>
          <a:xfrm>
            <a:off x="4069080" y="58064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France</a:t>
            </a:r>
            <a:endParaRPr lang="en-US" sz="1200" dirty="0"/>
          </a:p>
        </p:txBody>
      </p:sp>
      <p:sp>
        <p:nvSpPr>
          <p:cNvPr id="52" name="Chip Vietnam"/>
          <p:cNvSpPr/>
          <p:nvPr/>
        </p:nvSpPr>
        <p:spPr>
          <a:xfrm>
            <a:off x="5166360" y="5806440"/>
            <a:ext cx="1051560" cy="3657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53" name="Text 45"/>
          <p:cNvSpPr txBox="1"/>
          <p:nvPr/>
        </p:nvSpPr>
        <p:spPr>
          <a:xfrm>
            <a:off x="5166360" y="58064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Vietnam</a:t>
            </a:r>
            <a:endParaRPr lang="en-US" sz="1200" dirty="0"/>
          </a:p>
        </p:txBody>
      </p:sp>
      <p:sp>
        <p:nvSpPr>
          <p:cNvPr id="54" name="Chip Cambodia"/>
          <p:cNvSpPr/>
          <p:nvPr/>
        </p:nvSpPr>
        <p:spPr>
          <a:xfrm>
            <a:off x="6355080" y="5806440"/>
            <a:ext cx="1188720" cy="3657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55" name="Text 47"/>
          <p:cNvSpPr txBox="1"/>
          <p:nvPr/>
        </p:nvSpPr>
        <p:spPr>
          <a:xfrm>
            <a:off x="6355080" y="5806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Cambodia</a:t>
            </a:r>
            <a:endParaRPr lang="en-US" sz="1200" dirty="0"/>
          </a:p>
        </p:txBody>
      </p:sp>
      <p:sp>
        <p:nvSpPr>
          <p:cNvPr id="56" name="Chip Thailand"/>
          <p:cNvSpPr/>
          <p:nvPr/>
        </p:nvSpPr>
        <p:spPr>
          <a:xfrm>
            <a:off x="7680960" y="5806440"/>
            <a:ext cx="1097280" cy="3657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57" name="Text 49"/>
          <p:cNvSpPr txBox="1"/>
          <p:nvPr/>
        </p:nvSpPr>
        <p:spPr>
          <a:xfrm>
            <a:off x="7680960" y="5806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Thailand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kicker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04   WORKING TOGETHER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943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How we work</a:t>
            </a:r>
            <a:endParaRPr lang="en-US" sz="24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116128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Five clear steps, from first conversation to certified completion.</a:t>
            </a:r>
            <a:endParaRPr lang="en-US" sz="1400" dirty="0"/>
          </a:p>
        </p:txBody>
      </p:sp>
      <p:sp>
        <p:nvSpPr>
          <p:cNvPr id="5" name="Process line"/>
          <p:cNvSpPr/>
          <p:nvPr/>
        </p:nvSpPr>
        <p:spPr>
          <a:xfrm>
            <a:off x="1658082" y="2423160"/>
            <a:ext cx="8875532" cy="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6" name="Icon step 1 disc"/>
          <p:cNvSpPr/>
          <p:nvPr/>
        </p:nvSpPr>
        <p:spPr>
          <a:xfrm>
            <a:off x="1200882" y="1965960"/>
            <a:ext cx="914400" cy="9144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7" name="Icon step 1" descr="Icon step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7770" y="2212848"/>
            <a:ext cx="420624" cy="420624"/>
          </a:xfrm>
          <a:prstGeom prst="rect">
            <a:avLst/>
          </a:prstGeom>
        </p:spPr>
      </p:pic>
      <p:sp>
        <p:nvSpPr>
          <p:cNvPr id="8" name="Step number 1"/>
          <p:cNvSpPr txBox="1"/>
          <p:nvPr/>
        </p:nvSpPr>
        <p:spPr>
          <a:xfrm>
            <a:off x="1932402" y="173736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06324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Scope</a:t>
            </a:r>
            <a:endParaRPr lang="en-US" sz="1800" dirty="0"/>
          </a:p>
        </p:txBody>
      </p:sp>
      <p:sp>
        <p:nvSpPr>
          <p:cNvPr id="10" name="Step card 1"/>
          <p:cNvSpPr/>
          <p:nvPr/>
        </p:nvSpPr>
        <p:spPr>
          <a:xfrm>
            <a:off x="658368" y="3566160"/>
            <a:ext cx="1999427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Step bullets 1"/>
          <p:cNvSpPr txBox="1"/>
          <p:nvPr/>
        </p:nvSpPr>
        <p:spPr>
          <a:xfrm>
            <a:off x="822960" y="3749040"/>
            <a:ext cx="167024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Project brief and goals</a:t>
            </a:r>
            <a:endParaRPr lang="en-US" sz="120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Best certification pathway</a:t>
            </a:r>
            <a:endParaRPr lang="en-US" sz="1200" dirty="0"/>
          </a:p>
        </p:txBody>
      </p:sp>
      <p:sp>
        <p:nvSpPr>
          <p:cNvPr id="12" name="Icon step 2 disc"/>
          <p:cNvSpPr/>
          <p:nvPr/>
        </p:nvSpPr>
        <p:spPr>
          <a:xfrm>
            <a:off x="3419765" y="1965960"/>
            <a:ext cx="914400" cy="9144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Icon step 2" descr="Icon step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653" y="2212848"/>
            <a:ext cx="420624" cy="420624"/>
          </a:xfrm>
          <a:prstGeom prst="rect">
            <a:avLst/>
          </a:prstGeom>
        </p:spPr>
      </p:pic>
      <p:sp>
        <p:nvSpPr>
          <p:cNvPr id="14" name="Step number 2"/>
          <p:cNvSpPr txBox="1"/>
          <p:nvPr/>
        </p:nvSpPr>
        <p:spPr>
          <a:xfrm>
            <a:off x="4151285" y="173736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02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2858963" y="306324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Analyse</a:t>
            </a:r>
            <a:endParaRPr lang="en-US" sz="1800" dirty="0"/>
          </a:p>
        </p:txBody>
      </p:sp>
      <p:sp>
        <p:nvSpPr>
          <p:cNvPr id="16" name="Step card 2"/>
          <p:cNvSpPr/>
          <p:nvPr/>
        </p:nvSpPr>
        <p:spPr>
          <a:xfrm>
            <a:off x="2877251" y="3566160"/>
            <a:ext cx="1999427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Step bullets 2"/>
          <p:cNvSpPr txBox="1"/>
          <p:nvPr/>
        </p:nvSpPr>
        <p:spPr>
          <a:xfrm>
            <a:off x="3041843" y="3749040"/>
            <a:ext cx="167024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Data audit and site visit</a:t>
            </a:r>
            <a:endParaRPr lang="en-US" sz="120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Simulation and GHG baseline</a:t>
            </a:r>
            <a:endParaRPr lang="en-US" sz="1200" dirty="0"/>
          </a:p>
        </p:txBody>
      </p:sp>
      <p:sp>
        <p:nvSpPr>
          <p:cNvPr id="18" name="Icon step 3 disc"/>
          <p:cNvSpPr/>
          <p:nvPr/>
        </p:nvSpPr>
        <p:spPr>
          <a:xfrm>
            <a:off x="5638648" y="1965960"/>
            <a:ext cx="914400" cy="9144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9" name="Icon step 3" descr="Icon step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536" y="2212848"/>
            <a:ext cx="420624" cy="420624"/>
          </a:xfrm>
          <a:prstGeom prst="rect">
            <a:avLst/>
          </a:prstGeom>
        </p:spPr>
      </p:pic>
      <p:sp>
        <p:nvSpPr>
          <p:cNvPr id="20" name="Step number 3"/>
          <p:cNvSpPr txBox="1"/>
          <p:nvPr/>
        </p:nvSpPr>
        <p:spPr>
          <a:xfrm>
            <a:off x="6370168" y="173736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03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5077846" y="306324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Document</a:t>
            </a:r>
            <a:endParaRPr lang="en-US" sz="1800" dirty="0"/>
          </a:p>
        </p:txBody>
      </p:sp>
      <p:sp>
        <p:nvSpPr>
          <p:cNvPr id="22" name="Step card 3"/>
          <p:cNvSpPr/>
          <p:nvPr/>
        </p:nvSpPr>
        <p:spPr>
          <a:xfrm>
            <a:off x="5096134" y="3566160"/>
            <a:ext cx="1999427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3" name="Step bullets 3"/>
          <p:cNvSpPr txBox="1"/>
          <p:nvPr/>
        </p:nvSpPr>
        <p:spPr>
          <a:xfrm>
            <a:off x="5260726" y="3749040"/>
            <a:ext cx="167024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Credit documents</a:t>
            </a:r>
            <a:endParaRPr lang="en-US" sz="120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Compliance drawings and model files</a:t>
            </a:r>
            <a:endParaRPr lang="en-US" sz="1200" dirty="0"/>
          </a:p>
        </p:txBody>
      </p:sp>
      <p:sp>
        <p:nvSpPr>
          <p:cNvPr id="24" name="Icon step 4 disc"/>
          <p:cNvSpPr/>
          <p:nvPr/>
        </p:nvSpPr>
        <p:spPr>
          <a:xfrm>
            <a:off x="7857531" y="1965960"/>
            <a:ext cx="914400" cy="9144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5" name="Icon step 4" descr="Icon step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4419" y="2212848"/>
            <a:ext cx="420624" cy="420624"/>
          </a:xfrm>
          <a:prstGeom prst="rect">
            <a:avLst/>
          </a:prstGeom>
        </p:spPr>
      </p:pic>
      <p:sp>
        <p:nvSpPr>
          <p:cNvPr id="26" name="Step number 4"/>
          <p:cNvSpPr txBox="1"/>
          <p:nvPr/>
        </p:nvSpPr>
        <p:spPr>
          <a:xfrm>
            <a:off x="8589051" y="173736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04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7296729" y="306324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Submit</a:t>
            </a:r>
            <a:endParaRPr lang="en-US" sz="1800" dirty="0"/>
          </a:p>
        </p:txBody>
      </p:sp>
      <p:sp>
        <p:nvSpPr>
          <p:cNvPr id="28" name="Step card 4"/>
          <p:cNvSpPr/>
          <p:nvPr/>
        </p:nvSpPr>
        <p:spPr>
          <a:xfrm>
            <a:off x="7315017" y="3566160"/>
            <a:ext cx="1999427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9" name="Step bullets 4"/>
          <p:cNvSpPr txBox="1"/>
          <p:nvPr/>
        </p:nvSpPr>
        <p:spPr>
          <a:xfrm>
            <a:off x="7479609" y="3749040"/>
            <a:ext cx="167024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Rating body upload</a:t>
            </a:r>
            <a:endParaRPr lang="en-US" sz="120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Reviewer queries and appeals</a:t>
            </a:r>
            <a:endParaRPr lang="en-US" sz="1200" dirty="0"/>
          </a:p>
        </p:txBody>
      </p:sp>
      <p:sp>
        <p:nvSpPr>
          <p:cNvPr id="30" name="Icon step 5 disc"/>
          <p:cNvSpPr/>
          <p:nvPr/>
        </p:nvSpPr>
        <p:spPr>
          <a:xfrm>
            <a:off x="10076414" y="1965960"/>
            <a:ext cx="914400" cy="9144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1" name="Icon step 5" descr="Icon step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3302" y="2212848"/>
            <a:ext cx="420624" cy="420624"/>
          </a:xfrm>
          <a:prstGeom prst="rect">
            <a:avLst/>
          </a:prstGeom>
        </p:spPr>
      </p:pic>
      <p:sp>
        <p:nvSpPr>
          <p:cNvPr id="32" name="Step number 5"/>
          <p:cNvSpPr txBox="1"/>
          <p:nvPr/>
        </p:nvSpPr>
        <p:spPr>
          <a:xfrm>
            <a:off x="10807934" y="173736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05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9515612" y="306324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Certify</a:t>
            </a:r>
            <a:endParaRPr lang="en-US" sz="1800" dirty="0"/>
          </a:p>
        </p:txBody>
      </p:sp>
      <p:sp>
        <p:nvSpPr>
          <p:cNvPr id="34" name="Step card 5"/>
          <p:cNvSpPr/>
          <p:nvPr/>
        </p:nvSpPr>
        <p:spPr>
          <a:xfrm>
            <a:off x="9533900" y="3566160"/>
            <a:ext cx="1999427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5" name="Step bullets 5"/>
          <p:cNvSpPr txBox="1"/>
          <p:nvPr/>
        </p:nvSpPr>
        <p:spPr>
          <a:xfrm>
            <a:off x="9698492" y="3749040"/>
            <a:ext cx="167024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Award and handover</a:t>
            </a:r>
            <a:endParaRPr lang="en-US" sz="120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Re-certification and ESG reporting</a:t>
            </a:r>
            <a:endParaRPr lang="en-US" sz="1200" dirty="0"/>
          </a:p>
        </p:txBody>
      </p:sp>
      <p:sp>
        <p:nvSpPr>
          <p:cNvPr id="36" name="Promise band"/>
          <p:cNvSpPr/>
          <p:nvPr/>
        </p:nvSpPr>
        <p:spPr>
          <a:xfrm>
            <a:off x="548640" y="5440680"/>
            <a:ext cx="11094415" cy="594360"/>
          </a:xfrm>
          <a:prstGeom prst="roundRect">
            <a:avLst>
              <a:gd name="adj" fmla="val 12308"/>
            </a:avLst>
          </a:prstGeom>
          <a:solidFill>
            <a:schemeClr val="accent5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548640" y="54406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Transparent timelines  ·  Direct line to the founder  ·  No surprise costs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kicker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04   WORKING TOGETHER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943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Ways to work with us</a:t>
            </a:r>
            <a:endParaRPr lang="en-US" sz="24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116128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Start small with a feasibility review, or bring us in for the full journey.</a:t>
            </a:r>
            <a:endParaRPr lang="en-US" sz="1400" dirty="0"/>
          </a:p>
        </p:txBody>
      </p:sp>
      <p:sp>
        <p:nvSpPr>
          <p:cNvPr id="5" name="Engagement card 1"/>
          <p:cNvSpPr/>
          <p:nvPr/>
        </p:nvSpPr>
        <p:spPr>
          <a:xfrm>
            <a:off x="548640" y="1737360"/>
            <a:ext cx="2567864" cy="4343400"/>
          </a:xfrm>
          <a:prstGeom prst="roundRect">
            <a:avLst>
              <a:gd name="adj" fmla="val 2849"/>
            </a:avLst>
          </a:prstGeom>
          <a:solidFill>
            <a:schemeClr val="accent5"/>
          </a:solidFill>
          <a:ln/>
        </p:spPr>
      </p:sp>
      <p:sp>
        <p:nvSpPr>
          <p:cNvPr id="6" name="Chip START HERE"/>
          <p:cNvSpPr/>
          <p:nvPr/>
        </p:nvSpPr>
        <p:spPr>
          <a:xfrm>
            <a:off x="822960" y="5486400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5486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START HERE</a:t>
            </a:r>
            <a:endParaRPr lang="en-US" sz="1200" dirty="0"/>
          </a:p>
        </p:txBody>
      </p:sp>
      <p:sp>
        <p:nvSpPr>
          <p:cNvPr id="8" name="Icon Feasibility review disc"/>
          <p:cNvSpPr/>
          <p:nvPr/>
        </p:nvSpPr>
        <p:spPr>
          <a:xfrm>
            <a:off x="822960" y="201168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9" name="Icon Feasibility review" descr="Icon Feasibility re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126" y="2196846"/>
            <a:ext cx="315468" cy="31546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960" y="2880360"/>
            <a:ext cx="2019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Feasibility review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611880"/>
            <a:ext cx="2019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BEST FOR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858768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Any new project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251960"/>
            <a:ext cx="20192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bg1"/>
                </a:solidFill>
              </a:rPr>
              <a:t>Target rating, best-fit system, key gaps and a clear scope of work.</a:t>
            </a:r>
            <a:endParaRPr lang="en-US" sz="1200" dirty="0"/>
          </a:p>
        </p:txBody>
      </p:sp>
      <p:sp>
        <p:nvSpPr>
          <p:cNvPr id="14" name="Engagement card 2"/>
          <p:cNvSpPr/>
          <p:nvPr/>
        </p:nvSpPr>
        <p:spPr>
          <a:xfrm>
            <a:off x="3390824" y="1737360"/>
            <a:ext cx="2567864" cy="434340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Icon Certification, end to end disc"/>
          <p:cNvSpPr/>
          <p:nvPr/>
        </p:nvSpPr>
        <p:spPr>
          <a:xfrm>
            <a:off x="3665144" y="201168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6" name="Icon Certification, end to end" descr="Icon Certification, end to en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310" y="2196846"/>
            <a:ext cx="315468" cy="31546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665144" y="2880360"/>
            <a:ext cx="2019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Certification, end to end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3665144" y="3611880"/>
            <a:ext cx="2019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BEST FOR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3665144" y="3858768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Developers and owners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3665144" y="4251960"/>
            <a:ext cx="20192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Registration, modelling, documentation, submission and reviewer responses, through to award.</a:t>
            </a:r>
            <a:endParaRPr lang="en-US" sz="1200" dirty="0"/>
          </a:p>
        </p:txBody>
      </p:sp>
      <p:sp>
        <p:nvSpPr>
          <p:cNvPr id="21" name="Engagement card 3"/>
          <p:cNvSpPr/>
          <p:nvPr/>
        </p:nvSpPr>
        <p:spPr>
          <a:xfrm>
            <a:off x="6233008" y="1737360"/>
            <a:ext cx="2567864" cy="434340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Icon Simulation support disc"/>
          <p:cNvSpPr/>
          <p:nvPr/>
        </p:nvSpPr>
        <p:spPr>
          <a:xfrm>
            <a:off x="6507328" y="201168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3" name="Icon Simulation support" descr="Icon Simulation suppo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2494" y="2196846"/>
            <a:ext cx="315468" cy="31546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507328" y="2880360"/>
            <a:ext cx="2019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Simulation support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6507328" y="3611880"/>
            <a:ext cx="2019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BEST FOR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6507328" y="3858768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Architects and MEP teams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6507328" y="4251960"/>
            <a:ext cx="20192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Energy, daylight and microclimate studies, delivered to your design programme.</a:t>
            </a:r>
            <a:endParaRPr lang="en-US" sz="1200" dirty="0"/>
          </a:p>
        </p:txBody>
      </p:sp>
      <p:sp>
        <p:nvSpPr>
          <p:cNvPr id="28" name="Engagement card 4"/>
          <p:cNvSpPr/>
          <p:nvPr/>
        </p:nvSpPr>
        <p:spPr>
          <a:xfrm>
            <a:off x="9075191" y="1737360"/>
            <a:ext cx="2567864" cy="434340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9" name="Icon Carbon and ESG disc"/>
          <p:cNvSpPr/>
          <p:nvPr/>
        </p:nvSpPr>
        <p:spPr>
          <a:xfrm>
            <a:off x="9349511" y="201168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0" name="Icon Carbon and ESG" descr="Icon Carbon and ES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4677" y="2196846"/>
            <a:ext cx="315468" cy="315468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9349511" y="2880360"/>
            <a:ext cx="2019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Carbon and ESG</a:t>
            </a:r>
            <a:endParaRPr lang="en-US" sz="1800" dirty="0"/>
          </a:p>
        </p:txBody>
      </p:sp>
      <p:sp>
        <p:nvSpPr>
          <p:cNvPr id="32" name="Text 26"/>
          <p:cNvSpPr txBox="1"/>
          <p:nvPr/>
        </p:nvSpPr>
        <p:spPr>
          <a:xfrm>
            <a:off x="9349511" y="3611880"/>
            <a:ext cx="2019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BEST FOR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9349511" y="3858768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Manufacturers, listed firms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9349511" y="4251960"/>
            <a:ext cx="20192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GHG inventories, LCA and EPDs, CBAM data and BRSR reporting.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 mint"/>
          <p:cNvSpPr/>
          <p:nvPr/>
        </p:nvSpPr>
        <p:spPr>
          <a:xfrm>
            <a:off x="8412480" y="-1463040"/>
            <a:ext cx="5669280" cy="5669280"/>
          </a:xfrm>
          <a:prstGeom prst="ellipse">
            <a:avLst/>
          </a:prstGeom>
          <a:solidFill>
            <a:schemeClr val="accent3">
              <a:alpha val="45000"/>
            </a:scheme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NEXT STEP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Let's start with a conversation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A complimentary feasibility call. No cost, no obligation, just clarity.</a:t>
            </a:r>
            <a:endParaRPr lang="en-US" sz="1600" dirty="0"/>
          </a:p>
        </p:txBody>
      </p:sp>
      <p:sp>
        <p:nvSpPr>
          <p:cNvPr id="6" name="Feasibility item 1"/>
          <p:cNvSpPr/>
          <p:nvPr/>
        </p:nvSpPr>
        <p:spPr>
          <a:xfrm>
            <a:off x="548640" y="2286000"/>
            <a:ext cx="676656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" name="Item number 1"/>
          <p:cNvSpPr txBox="1"/>
          <p:nvPr/>
        </p:nvSpPr>
        <p:spPr>
          <a:xfrm>
            <a:off x="731520" y="2450592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33172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Pathway review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Which rating system fits your project, timeline and budget.</a:t>
            </a:r>
            <a:endParaRPr lang="en-US" sz="1400" dirty="0"/>
          </a:p>
        </p:txBody>
      </p:sp>
      <p:sp>
        <p:nvSpPr>
          <p:cNvPr id="9" name="Feasibility item 2"/>
          <p:cNvSpPr/>
          <p:nvPr/>
        </p:nvSpPr>
        <p:spPr>
          <a:xfrm>
            <a:off x="548640" y="3200400"/>
            <a:ext cx="676656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Item number 2"/>
          <p:cNvSpPr txBox="1"/>
          <p:nvPr/>
        </p:nvSpPr>
        <p:spPr>
          <a:xfrm>
            <a:off x="731520" y="3364992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24612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Gap analysis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Key design and documentation gaps, found before you register.</a:t>
            </a:r>
            <a:endParaRPr lang="en-US" sz="1400" dirty="0"/>
          </a:p>
        </p:txBody>
      </p:sp>
      <p:sp>
        <p:nvSpPr>
          <p:cNvPr id="12" name="Feasibility item 3"/>
          <p:cNvSpPr/>
          <p:nvPr/>
        </p:nvSpPr>
        <p:spPr>
          <a:xfrm>
            <a:off x="548640" y="4114800"/>
            <a:ext cx="676656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Item number 3"/>
          <p:cNvSpPr txBox="1"/>
          <p:nvPr/>
        </p:nvSpPr>
        <p:spPr>
          <a:xfrm>
            <a:off x="731520" y="4279392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16052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Scope of work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Whether you need a model, a GHG inventory or a daylight study.</a:t>
            </a:r>
            <a:endParaRPr lang="en-US" sz="1400" dirty="0"/>
          </a:p>
        </p:txBody>
      </p:sp>
      <p:sp>
        <p:nvSpPr>
          <p:cNvPr id="15" name="Feasibility item 4"/>
          <p:cNvSpPr/>
          <p:nvPr/>
        </p:nvSpPr>
        <p:spPr>
          <a:xfrm>
            <a:off x="548640" y="5029200"/>
            <a:ext cx="676656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6" name="Item number 4"/>
          <p:cNvSpPr txBox="1"/>
          <p:nvPr/>
        </p:nvSpPr>
        <p:spPr>
          <a:xfrm>
            <a:off x="731520" y="5193792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507492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Timeline and effort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realistic view from kickoff to award.</a:t>
            </a:r>
            <a:endParaRPr lang="en-US" sz="1400" dirty="0"/>
          </a:p>
        </p:txBody>
      </p:sp>
      <p:sp>
        <p:nvSpPr>
          <p:cNvPr id="18" name="Contact card"/>
          <p:cNvSpPr/>
          <p:nvPr/>
        </p:nvSpPr>
        <p:spPr>
          <a:xfrm>
            <a:off x="7818120" y="2286000"/>
            <a:ext cx="3824935" cy="3063240"/>
          </a:xfrm>
          <a:prstGeom prst="roundRect">
            <a:avLst>
              <a:gd name="adj" fmla="val 238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92440" y="2468880"/>
            <a:ext cx="3276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Get in touch</a:t>
            </a:r>
            <a:endParaRPr lang="en-US" sz="1800" dirty="0"/>
          </a:p>
        </p:txBody>
      </p:sp>
      <p:sp>
        <p:nvSpPr>
          <p:cNvPr id="20" name="Icon contact 1 disc"/>
          <p:cNvSpPr/>
          <p:nvPr/>
        </p:nvSpPr>
        <p:spPr>
          <a:xfrm>
            <a:off x="8092440" y="306324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1" name="Icon contact 1" descr="Icon contact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8228" y="3199028"/>
            <a:ext cx="231343" cy="231343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8778240" y="3063240"/>
            <a:ext cx="2681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info@verdeaxis.com</a:t>
            </a:r>
            <a:endParaRPr lang="en-US" sz="1400" dirty="0"/>
          </a:p>
        </p:txBody>
      </p:sp>
      <p:sp>
        <p:nvSpPr>
          <p:cNvPr id="23" name="Icon contact 2 disc"/>
          <p:cNvSpPr/>
          <p:nvPr/>
        </p:nvSpPr>
        <p:spPr>
          <a:xfrm>
            <a:off x="8092440" y="379476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4" name="Icon contact 2" descr="Icon contact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8228" y="3930548"/>
            <a:ext cx="231343" cy="231343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8778240" y="3794760"/>
            <a:ext cx="2681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+91 97255 23213</a:t>
            </a:r>
            <a:endParaRPr lang="en-US" sz="1400" dirty="0"/>
          </a:p>
        </p:txBody>
      </p:sp>
      <p:sp>
        <p:nvSpPr>
          <p:cNvPr id="26" name="Icon contact 3 disc"/>
          <p:cNvSpPr/>
          <p:nvPr/>
        </p:nvSpPr>
        <p:spPr>
          <a:xfrm>
            <a:off x="8092440" y="452628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7" name="Icon contact 3" descr="Icon contact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8228" y="4662068"/>
            <a:ext cx="231343" cy="231343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778240" y="4526280"/>
            <a:ext cx="2681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www.verdeaxis.com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548640" y="6126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LEED  ·  EDGE  ·  IGBC  ·  GRIHA  ·  WELL  ·  Fitwel  ·  Energy and daylight simulation  ·  GHG  ·  LCA  ·  BRSR  ·  ESG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VERDEAXIS  ·  Sustainability Consulting  ·  India and Asia-Pacific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RDEAXIS">
  <a:themeElements>
    <a:clrScheme name="VERDEAXIS">
      <a:dk1>
        <a:srgbClr val="143D2E"/>
      </a:dk1>
      <a:lt1>
        <a:srgbClr val="FFFFFF"/>
      </a:lt1>
      <a:dk2>
        <a:srgbClr val="1B4D3E"/>
      </a:dk2>
      <a:lt2>
        <a:srgbClr val="F2F8F4"/>
      </a:lt2>
      <a:accent1>
        <a:srgbClr val="2D9C5E"/>
      </a:accent1>
      <a:accent2>
        <a:srgbClr val="B07F2C"/>
      </a:accent2>
      <a:accent3>
        <a:srgbClr val="A8DFC0"/>
      </a:accent3>
      <a:accent4>
        <a:srgbClr val="5B7F70"/>
      </a:accent4>
      <a:accent5>
        <a:srgbClr val="1F7A4D"/>
      </a:accent5>
      <a:accent6>
        <a:srgbClr val="E4F1E9"/>
      </a:accent6>
      <a:hlink>
        <a:srgbClr val="1F7A4D"/>
      </a:hlink>
      <a:folHlink>
        <a:srgbClr val="5B7F70"/>
      </a:folHlink>
    </a:clrScheme>
    <a:fontScheme name="VERDEAXIS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VERDEAXIS Company Profile</dc:title>
  <dc:subject>PptxGenJS Presentation</dc:subject>
  <dc:creator>VERDEAXIS Sustainability Consulting</dc:creator>
  <cp:lastModifiedBy>VERDEAXIS Sustainability Consulting</cp:lastModifiedBy>
  <cp:revision>1</cp:revision>
  <dcterms:created xsi:type="dcterms:W3CDTF">2026-10-24T16:43:27Z</dcterms:created>
  <dcterms:modified xsi:type="dcterms:W3CDTF">2026-10-24T16:43:27Z</dcterms:modified>
</cp:coreProperties>
</file>