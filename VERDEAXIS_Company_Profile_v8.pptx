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VERDEAXIS is a new, founder-led firm. Open with the tagline, then move straight to the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slide. Keep sources handy: CEA/MoSPI for the one-third figure, SEBI circulars for BRSR Core, BEE for ECBC applicability.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Measure, Certify, Report is the framework to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depth slide. This is where the founder's modelling background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Credentials slide. Useful for tender and procurement submissions.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SJ monogram with a portrait photo (about 2.2 inch circle) before sending. Confirm surname and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these were delivered by the founder, not by VERDEAXIS as a firm. No client names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Differentiation: being small and founder-led is the advantage, not the weakness.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free feasibility call. No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VERDEAXIS  ·  Sustainability Consulting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mint"/>
          <p:cNvSpPr/>
          <p:nvPr/>
        </p:nvSpPr>
        <p:spPr>
          <a:xfrm>
            <a:off x="7223760" y="-1005840"/>
            <a:ext cx="6766560" cy="6766560"/>
          </a:xfrm>
          <a:prstGeom prst="ellipse">
            <a:avLst/>
          </a:prstGeom>
          <a:solidFill>
            <a:schemeClr val="accent3">
              <a:alpha val="45000"/>
            </a:schemeClr>
          </a:solidFill>
          <a:ln/>
        </p:spPr>
      </p:sp>
      <p:sp>
        <p:nvSpPr>
          <p:cNvPr id="3" name="Ring emerald"/>
          <p:cNvSpPr/>
          <p:nvPr/>
        </p:nvSpPr>
        <p:spPr>
          <a:xfrm>
            <a:off x="7863840" y="1828800"/>
            <a:ext cx="4754880" cy="4754880"/>
          </a:xfrm>
          <a:prstGeom prst="ellipse">
            <a:avLst/>
          </a:prstGeom>
          <a:solidFill>
            <a:schemeClr val="accent1">
              <a:alpha val="75000"/>
            </a:schemeClr>
          </a:solidFill>
          <a:ln/>
        </p:spPr>
      </p:sp>
      <p:sp>
        <p:nvSpPr>
          <p:cNvPr id="4" name="Monogram disc"/>
          <p:cNvSpPr/>
          <p:nvPr/>
        </p:nvSpPr>
        <p:spPr>
          <a:xfrm>
            <a:off x="8503920" y="1234440"/>
            <a:ext cx="3200400" cy="32004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Monogram V"/>
          <p:cNvSpPr txBox="1"/>
          <p:nvPr/>
        </p:nvSpPr>
        <p:spPr>
          <a:xfrm>
            <a:off x="8503920" y="12344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chemeClr val="bg1"/>
                </a:solidFill>
              </a:rPr>
              <a:t>V</a:t>
            </a:r>
            <a:endParaRPr lang="en-US" sz="15000" dirty="0"/>
          </a:p>
        </p:txBody>
      </p:sp>
      <p:sp>
        <p:nvSpPr>
          <p:cNvPr id="6" name="Brass dot"/>
          <p:cNvSpPr/>
          <p:nvPr/>
        </p:nvSpPr>
        <p:spPr>
          <a:xfrm>
            <a:off x="10881360" y="100584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234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SUSTAINABILITY CONSULTING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4592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</a:rPr>
              <a:t>VERDEAXIS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880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chemeClr val="accent5"/>
                </a:solidFill>
              </a:rPr>
              <a:t>Closing the gap between regulation and reality.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Green building certification  ·  Energy simulation  ·  GHG &amp; ESG  ·  LCA</a:t>
            </a:r>
            <a:endParaRPr lang="en-US" sz="1400" dirty="0"/>
          </a:p>
        </p:txBody>
      </p:sp>
      <p:sp>
        <p:nvSpPr>
          <p:cNvPr id="11" name="Credential chip 1"/>
          <p:cNvSpPr/>
          <p:nvPr/>
        </p:nvSpPr>
        <p:spPr>
          <a:xfrm>
            <a:off x="548640" y="443484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4348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LEED AP BD+C</a:t>
            </a:r>
            <a:endParaRPr lang="en-US" sz="1200" dirty="0"/>
          </a:p>
        </p:txBody>
      </p:sp>
      <p:sp>
        <p:nvSpPr>
          <p:cNvPr id="13" name="Credential chip 2"/>
          <p:cNvSpPr/>
          <p:nvPr/>
        </p:nvSpPr>
        <p:spPr>
          <a:xfrm>
            <a:off x="2103120" y="4434840"/>
            <a:ext cx="21031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44348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EDGE Expert &amp; Auditor</a:t>
            </a:r>
            <a:endParaRPr lang="en-US" sz="1200" dirty="0"/>
          </a:p>
        </p:txBody>
      </p:sp>
      <p:sp>
        <p:nvSpPr>
          <p:cNvPr id="15" name="Credential chip 3"/>
          <p:cNvSpPr/>
          <p:nvPr/>
        </p:nvSpPr>
        <p:spPr>
          <a:xfrm>
            <a:off x="4343400" y="4434840"/>
            <a:ext cx="100584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IGBC AP</a:t>
            </a:r>
            <a:endParaRPr lang="en-US" sz="1200" dirty="0"/>
          </a:p>
        </p:txBody>
      </p:sp>
      <p:sp>
        <p:nvSpPr>
          <p:cNvPr id="17" name="Credential chip 4"/>
          <p:cNvSpPr/>
          <p:nvPr/>
        </p:nvSpPr>
        <p:spPr>
          <a:xfrm>
            <a:off x="5486400" y="4434840"/>
            <a:ext cx="160020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0" y="4434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GRIHA Evaluator</a:t>
            </a:r>
            <a:endParaRPr lang="en-US" sz="1200" dirty="0"/>
          </a:p>
        </p:txBody>
      </p:sp>
      <p:sp>
        <p:nvSpPr>
          <p:cNvPr id="19" name="Credential chip 5"/>
          <p:cNvSpPr/>
          <p:nvPr/>
        </p:nvSpPr>
        <p:spPr>
          <a:xfrm>
            <a:off x="7223760" y="4434840"/>
            <a:ext cx="178308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23760" y="44348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GreenPro Specialist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074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India  ·  France  ·  Vietnam  ·  Cambodia  ·  Thailand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info@verdeaxis.com   ·   +91 97255 23213   ·   www.verdeaxis.com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gap between regulation and reality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Policy is moving faster than most projects. That distance is where VERDEAXIS works.</a:t>
            </a:r>
            <a:endParaRPr lang="en-US" sz="1400" dirty="0"/>
          </a:p>
        </p:txBody>
      </p:sp>
      <p:sp>
        <p:nvSpPr>
          <p:cNvPr id="4" name="Stat card 1"/>
          <p:cNvSpPr/>
          <p:nvPr/>
        </p:nvSpPr>
        <p:spPr>
          <a:xfrm>
            <a:off x="548640" y="1600200"/>
            <a:ext cx="2567864" cy="292608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~1/3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019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India's electricity is used by buildings.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2336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Source: CEA, MoSPI</a:t>
            </a:r>
            <a:endParaRPr lang="en-US" sz="1000" dirty="0"/>
          </a:p>
        </p:txBody>
      </p:sp>
      <p:sp>
        <p:nvSpPr>
          <p:cNvPr id="8" name="Stat card 2"/>
          <p:cNvSpPr/>
          <p:nvPr/>
        </p:nvSpPr>
        <p:spPr>
          <a:xfrm>
            <a:off x="3390824" y="1600200"/>
            <a:ext cx="2567864" cy="292608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65144" y="182880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2070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788920"/>
            <a:ext cx="2019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India's net-zero emissions target, announced at COP26.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402336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Source: Government of India</a:t>
            </a:r>
            <a:endParaRPr lang="en-US" sz="1000" dirty="0"/>
          </a:p>
        </p:txBody>
      </p:sp>
      <p:sp>
        <p:nvSpPr>
          <p:cNvPr id="12" name="Stat card 3"/>
          <p:cNvSpPr/>
          <p:nvPr/>
        </p:nvSpPr>
        <p:spPr>
          <a:xfrm>
            <a:off x="6233008" y="1600200"/>
            <a:ext cx="2567864" cy="292608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07328" y="182880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1,000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507328" y="2788920"/>
            <a:ext cx="2019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listed companies come under BRSR Core assurance by March 2027.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402336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Source: SEBI</a:t>
            </a:r>
            <a:endParaRPr lang="en-US" sz="1000" dirty="0"/>
          </a:p>
        </p:txBody>
      </p:sp>
      <p:sp>
        <p:nvSpPr>
          <p:cNvPr id="16" name="Stat card 4"/>
          <p:cNvSpPr/>
          <p:nvPr/>
        </p:nvSpPr>
        <p:spPr>
          <a:xfrm>
            <a:off x="9075191" y="1600200"/>
            <a:ext cx="2567864" cy="292608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49511" y="182880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100 kW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49511" y="2788920"/>
            <a:ext cx="2019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connected load and above: commercial buildings fall under ECBC.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349511" y="402336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Source: BEE</a:t>
            </a:r>
            <a:endParaRPr lang="en-US" sz="1000" dirty="0"/>
          </a:p>
        </p:txBody>
      </p:sp>
      <p:sp>
        <p:nvSpPr>
          <p:cNvPr id="20" name="Takeaway band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21" name="Takeaway text"/>
          <p:cNvSpPr txBox="1"/>
          <p:nvPr/>
        </p:nvSpPr>
        <p:spPr>
          <a:xfrm>
            <a:off x="914400" y="489204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Most buildings are still designed for yesterday's code.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We close the gap with certified expertise, simulation and carbon data.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we do: measure, certify, report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One team takes a project from baseline data to certificate to disclosure.</a:t>
            </a:r>
            <a:endParaRPr lang="en-US" sz="1400" dirty="0"/>
          </a:p>
        </p:txBody>
      </p:sp>
      <p:sp>
        <p:nvSpPr>
          <p:cNvPr id="4" name="Pillar card Measure"/>
          <p:cNvSpPr/>
          <p:nvPr/>
        </p:nvSpPr>
        <p:spPr>
          <a:xfrm>
            <a:off x="548640" y="1600200"/>
            <a:ext cx="3515258" cy="420624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 Measure disc"/>
          <p:cNvSpPr/>
          <p:nvPr/>
        </p:nvSpPr>
        <p:spPr>
          <a:xfrm>
            <a:off x="868680" y="18745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con Measure" descr="Icon Meas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" y="2072030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874520"/>
            <a:ext cx="2052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Measure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8892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Know your baseline. Build the evidence.</a:t>
            </a:r>
            <a:endParaRPr lang="en-US" sz="1600" dirty="0"/>
          </a:p>
        </p:txBody>
      </p:sp>
      <p:sp>
        <p:nvSpPr>
          <p:cNvPr id="9" name="Pillar bullets Measure"/>
          <p:cNvSpPr txBox="1"/>
          <p:nvPr/>
        </p:nvSpPr>
        <p:spPr>
          <a:xfrm>
            <a:off x="868680" y="3611880"/>
            <a:ext cx="28751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GHG inventory: Scope 1, 2 and 3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Energy and daylight simulation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Microclimate and climate-risk studies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Life cycle assessment and EPDs</a:t>
            </a:r>
            <a:endParaRPr lang="en-US" sz="1400" dirty="0"/>
          </a:p>
        </p:txBody>
      </p:sp>
      <p:sp>
        <p:nvSpPr>
          <p:cNvPr id="10" name="Pillar card Certify"/>
          <p:cNvSpPr/>
          <p:nvPr/>
        </p:nvSpPr>
        <p:spPr>
          <a:xfrm>
            <a:off x="4338218" y="1600200"/>
            <a:ext cx="3515258" cy="420624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Icon Certify disc"/>
          <p:cNvSpPr/>
          <p:nvPr/>
        </p:nvSpPr>
        <p:spPr>
          <a:xfrm>
            <a:off x="4658258" y="18745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con Certify" descr="Icon Certif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769" y="2072030"/>
            <a:ext cx="336499" cy="33649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26938" y="1874520"/>
            <a:ext cx="2052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Certify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4658258" y="278892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Take every rating system through to award.</a:t>
            </a:r>
            <a:endParaRPr lang="en-US" sz="1600" dirty="0"/>
          </a:p>
        </p:txBody>
      </p:sp>
      <p:sp>
        <p:nvSpPr>
          <p:cNvPr id="15" name="Pillar bullets Certify"/>
          <p:cNvSpPr txBox="1"/>
          <p:nvPr/>
        </p:nvSpPr>
        <p:spPr>
          <a:xfrm>
            <a:off x="4658258" y="3611880"/>
            <a:ext cx="28751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LEED, EDGE, IGBC and GRIHA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WELL, Fitwel and GreenPro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ECBC and BEE Star Rating compliance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Reviewer queries and appeals</a:t>
            </a:r>
            <a:endParaRPr lang="en-US" sz="1400" dirty="0"/>
          </a:p>
        </p:txBody>
      </p:sp>
      <p:sp>
        <p:nvSpPr>
          <p:cNvPr id="16" name="Pillar card Report"/>
          <p:cNvSpPr/>
          <p:nvPr/>
        </p:nvSpPr>
        <p:spPr>
          <a:xfrm>
            <a:off x="8127797" y="1600200"/>
            <a:ext cx="3515258" cy="420624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Icon Report disc"/>
          <p:cNvSpPr/>
          <p:nvPr/>
        </p:nvSpPr>
        <p:spPr>
          <a:xfrm>
            <a:off x="8447837" y="18745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con Report" descr="Icon Repo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347" y="2072030"/>
            <a:ext cx="336499" cy="33649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316517" y="1874520"/>
            <a:ext cx="2052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Report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8447837" y="278892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Disclose with confidence to every stakeholder.</a:t>
            </a:r>
            <a:endParaRPr lang="en-US" sz="1600" dirty="0"/>
          </a:p>
        </p:txBody>
      </p:sp>
      <p:sp>
        <p:nvSpPr>
          <p:cNvPr id="21" name="Pillar bullets Report"/>
          <p:cNvSpPr txBox="1"/>
          <p:nvPr/>
        </p:nvSpPr>
        <p:spPr>
          <a:xfrm>
            <a:off x="8447837" y="3611880"/>
            <a:ext cx="28751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BRSR Core and BRSR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GRI, CDP and TCFD alignment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ESG strategy and roadmaps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SBTi target-setting support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Simulation-led design, backed by data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 recommendation is tested in a model before it reaches a drawing.</a:t>
            </a:r>
            <a:endParaRPr lang="en-US" sz="1400" dirty="0"/>
          </a:p>
        </p:txBody>
      </p:sp>
      <p:sp>
        <p:nvSpPr>
          <p:cNvPr id="4" name="Tile Energy modelling"/>
          <p:cNvSpPr/>
          <p:nvPr/>
        </p:nvSpPr>
        <p:spPr>
          <a:xfrm>
            <a:off x="548640" y="1600200"/>
            <a:ext cx="541004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 Energy modelling disc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con Energy modelling" descr="Icon Energy model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2047342"/>
            <a:ext cx="294437" cy="2944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288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Energy modelling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945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DesignBuilder  ·  EnergyPlus  ·  eQUEST</a:t>
            </a:r>
            <a:endParaRPr lang="en-US" sz="1200" dirty="0"/>
          </a:p>
        </p:txBody>
      </p:sp>
      <p:sp>
        <p:nvSpPr>
          <p:cNvPr id="9" name="Tile bullets Energy modelling"/>
          <p:cNvSpPr txBox="1"/>
          <p:nvPr/>
        </p:nvSpPr>
        <p:spPr>
          <a:xfrm>
            <a:off x="822960" y="269748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Baseline vs proposed models for LEED, ECBC and BEE</a:t>
            </a:r>
            <a:endParaRPr lang="en-US" sz="140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HVAC system modelling and optimisation</a:t>
            </a:r>
            <a:endParaRPr lang="en-US" sz="140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ASHRAE 90.1 and ECBC parametric studies</a:t>
            </a:r>
            <a:endParaRPr lang="en-US" sz="1400" dirty="0"/>
          </a:p>
        </p:txBody>
      </p:sp>
      <p:sp>
        <p:nvSpPr>
          <p:cNvPr id="10" name="Tile Daylight and glare"/>
          <p:cNvSpPr/>
          <p:nvPr/>
        </p:nvSpPr>
        <p:spPr>
          <a:xfrm>
            <a:off x="6233008" y="1600200"/>
            <a:ext cx="541004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Icon Daylight and glare disc"/>
          <p:cNvSpPr/>
          <p:nvPr/>
        </p:nvSpPr>
        <p:spPr>
          <a:xfrm>
            <a:off x="6507328" y="18745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con Daylight and glare" descr="Icon Daylight and gl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149" y="2047342"/>
            <a:ext cx="294437" cy="2944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30288" y="18288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Daylight and glare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330288" y="21945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Climate-based daylight modelling</a:t>
            </a:r>
            <a:endParaRPr lang="en-US" sz="1200" dirty="0"/>
          </a:p>
        </p:txBody>
      </p:sp>
      <p:sp>
        <p:nvSpPr>
          <p:cNvPr id="15" name="Tile bullets Daylight and glare"/>
          <p:cNvSpPr txBox="1"/>
          <p:nvPr/>
        </p:nvSpPr>
        <p:spPr>
          <a:xfrm>
            <a:off x="6507328" y="269748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sDA, ASE and daylight factor studies</a:t>
            </a:r>
            <a:endParaRPr lang="en-US" sz="140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Glare (DGP) and visual comfort</a:t>
            </a:r>
            <a:endParaRPr lang="en-US" sz="140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Façade and shading design for Indian climate zones</a:t>
            </a:r>
            <a:endParaRPr lang="en-US" sz="1400" dirty="0"/>
          </a:p>
        </p:txBody>
      </p:sp>
      <p:sp>
        <p:nvSpPr>
          <p:cNvPr id="16" name="Tile Microclimate"/>
          <p:cNvSpPr/>
          <p:nvPr/>
        </p:nvSpPr>
        <p:spPr>
          <a:xfrm>
            <a:off x="548640" y="3977640"/>
            <a:ext cx="541004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Icon Microclimate disc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con Microclimate" descr="Icon Microclim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782" y="4424782"/>
            <a:ext cx="294437" cy="29443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20624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Microclimate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57200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Outdoor comfort and urban wind</a:t>
            </a:r>
            <a:endParaRPr lang="en-US" sz="1200" dirty="0"/>
          </a:p>
        </p:txBody>
      </p:sp>
      <p:sp>
        <p:nvSpPr>
          <p:cNvPr id="21" name="Tile bullets Microclimate"/>
          <p:cNvSpPr txBox="1"/>
          <p:nvPr/>
        </p:nvSpPr>
        <p:spPr>
          <a:xfrm>
            <a:off x="822960" y="507492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UTCI and PET outdoor thermal comfort</a:t>
            </a:r>
            <a:endParaRPr lang="en-US" sz="140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Pedestrian wind and urban heat island</a:t>
            </a:r>
            <a:endParaRPr lang="en-US" sz="140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Solar access and site shading</a:t>
            </a:r>
            <a:endParaRPr lang="en-US" sz="1400" dirty="0"/>
          </a:p>
        </p:txBody>
      </p:sp>
      <p:sp>
        <p:nvSpPr>
          <p:cNvPr id="22" name="Tile LCA and carbon"/>
          <p:cNvSpPr/>
          <p:nvPr/>
        </p:nvSpPr>
        <p:spPr>
          <a:xfrm>
            <a:off x="6233008" y="3977640"/>
            <a:ext cx="541004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Icon LCA and carbon disc"/>
          <p:cNvSpPr/>
          <p:nvPr/>
        </p:nvSpPr>
        <p:spPr>
          <a:xfrm>
            <a:off x="6507328" y="425196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4" name="Icon LCA and carbon" descr="Icon LCA and carb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149" y="4424782"/>
            <a:ext cx="294437" cy="29443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30288" y="420624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LCA and carbon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330288" y="457200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One Click LCA  ·  Excel-based models</a:t>
            </a:r>
            <a:endParaRPr lang="en-US" sz="1200" dirty="0"/>
          </a:p>
        </p:txBody>
      </p:sp>
      <p:sp>
        <p:nvSpPr>
          <p:cNvPr id="27" name="Tile bullets LCA and carbon"/>
          <p:cNvSpPr txBox="1"/>
          <p:nvPr/>
        </p:nvSpPr>
        <p:spPr>
          <a:xfrm>
            <a:off x="6507328" y="507492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Whole-building and product LCA</a:t>
            </a:r>
            <a:endParaRPr lang="en-US" sz="140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Embodied carbon and EPD support</a:t>
            </a:r>
            <a:endParaRPr lang="en-US" sz="140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Link to Scope 3 and GHG inventories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Rating systems and credentials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Accredited across the major systems used in India and the region.</a:t>
            </a:r>
            <a:endParaRPr lang="en-US" sz="1400" dirty="0"/>
          </a:p>
        </p:txBody>
      </p:sp>
      <p:graphicFrame>
        <p:nvGraphicFramePr>
          <p:cNvPr id="6" name="Rating system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4114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Rating system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Body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we deliver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LEED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USGBC / GBCI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BD+C, ID+C, O+M and ND, from registration to award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EDGE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IFC / GBCI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Design and final certification, as expert and auditor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IGBC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CII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New buildings, factories, homes and interiors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GRIHA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TERI / MoEFCC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GRIHA V-2019 and Large Developments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WELL and Fitwel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IWBI / CfAD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Health and wellbeing strategy and documentation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GreenPro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CII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Product eco-label certification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redentials card"/>
          <p:cNvSpPr/>
          <p:nvPr/>
        </p:nvSpPr>
        <p:spPr>
          <a:xfrm>
            <a:off x="8503920" y="1600200"/>
            <a:ext cx="3139135" cy="4480560"/>
          </a:xfrm>
          <a:prstGeom prst="roundRect">
            <a:avLst>
              <a:gd name="adj" fmla="val 233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0" y="1783080"/>
            <a:ext cx="2590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Credentials held by our founder</a:t>
            </a:r>
            <a:endParaRPr lang="en-US" sz="1400" dirty="0"/>
          </a:p>
        </p:txBody>
      </p:sp>
      <p:sp>
        <p:nvSpPr>
          <p:cNvPr id="7" name="Icon credential 1 disc"/>
          <p:cNvSpPr/>
          <p:nvPr/>
        </p:nvSpPr>
        <p:spPr>
          <a:xfrm>
            <a:off x="8778240" y="237744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Icon credential 1" descr="Icon credential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1684" y="2500884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418320" y="2377440"/>
            <a:ext cx="1950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LEED AP BD+C</a:t>
            </a:r>
            <a:endParaRPr lang="en-US" sz="1200" dirty="0"/>
          </a:p>
        </p:txBody>
      </p:sp>
      <p:sp>
        <p:nvSpPr>
          <p:cNvPr id="10" name="Icon credential 2 disc"/>
          <p:cNvSpPr/>
          <p:nvPr/>
        </p:nvSpPr>
        <p:spPr>
          <a:xfrm>
            <a:off x="8778240" y="3090672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con credential 2" descr="Icon credential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684" y="3214116"/>
            <a:ext cx="210312" cy="2103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418320" y="3090672"/>
            <a:ext cx="1950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EDGE Expert &amp; Auditor</a:t>
            </a:r>
            <a:endParaRPr lang="en-US" sz="1200" dirty="0"/>
          </a:p>
        </p:txBody>
      </p:sp>
      <p:sp>
        <p:nvSpPr>
          <p:cNvPr id="13" name="Icon credential 3 disc"/>
          <p:cNvSpPr/>
          <p:nvPr/>
        </p:nvSpPr>
        <p:spPr>
          <a:xfrm>
            <a:off x="8778240" y="3803904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4" name="Icon credential 3" descr="Icon credential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684" y="3927348"/>
            <a:ext cx="210312" cy="21031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418320" y="3803904"/>
            <a:ext cx="1950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IGBC Accredited Professional</a:t>
            </a:r>
            <a:endParaRPr lang="en-US" sz="1200" dirty="0"/>
          </a:p>
        </p:txBody>
      </p:sp>
      <p:sp>
        <p:nvSpPr>
          <p:cNvPr id="16" name="Icon credential 4 disc"/>
          <p:cNvSpPr/>
          <p:nvPr/>
        </p:nvSpPr>
        <p:spPr>
          <a:xfrm>
            <a:off x="8778240" y="4517136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con credential 4" descr="Icon credential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1684" y="4640580"/>
            <a:ext cx="210312" cy="2103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418320" y="4517136"/>
            <a:ext cx="1950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GRIHA Evaluator</a:t>
            </a:r>
            <a:endParaRPr lang="en-US" sz="1200" dirty="0"/>
          </a:p>
        </p:txBody>
      </p:sp>
      <p:sp>
        <p:nvSpPr>
          <p:cNvPr id="19" name="Icon credential 5 disc"/>
          <p:cNvSpPr/>
          <p:nvPr/>
        </p:nvSpPr>
        <p:spPr>
          <a:xfrm>
            <a:off x="8778240" y="5230368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Icon credential 5" descr="Icon credential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684" y="5353812"/>
            <a:ext cx="210312" cy="2103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418320" y="5230368"/>
            <a:ext cx="1950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GreenPro Specialist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Meet your founder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new firm, led by someone who has done this work for 8+ years.</a:t>
            </a:r>
            <a:endParaRPr lang="en-US" sz="1400" dirty="0"/>
          </a:p>
        </p:txBody>
      </p:sp>
      <p:sp>
        <p:nvSpPr>
          <p:cNvPr id="4" name="Founder card"/>
          <p:cNvSpPr/>
          <p:nvPr/>
        </p:nvSpPr>
        <p:spPr>
          <a:xfrm>
            <a:off x="548640" y="1600200"/>
            <a:ext cx="3749040" cy="44348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Founder portrait placeholder"/>
          <p:cNvSpPr/>
          <p:nvPr/>
        </p:nvSpPr>
        <p:spPr>
          <a:xfrm>
            <a:off x="1417320" y="1874520"/>
            <a:ext cx="2011680" cy="2011680"/>
          </a:xfrm>
          <a:prstGeom prst="ellipse">
            <a:avLst/>
          </a:prstGeom>
          <a:solidFill>
            <a:schemeClr val="accent5"/>
          </a:solidFill>
          <a:ln w="508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17320" y="18745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SJ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69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Siddhant Jain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26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Founder and Principal Consultant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LEED AP BD+C  ·  EDGE Expert &amp; Auditor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IGBC AP  ·  GRIHA Evaluator</a:t>
            </a:r>
            <a:endParaRPr lang="en-US" sz="1200" dirty="0"/>
          </a:p>
        </p:txBody>
      </p:sp>
      <p:sp>
        <p:nvSpPr>
          <p:cNvPr id="10" name="Founder stat 1"/>
          <p:cNvSpPr/>
          <p:nvPr/>
        </p:nvSpPr>
        <p:spPr>
          <a:xfrm>
            <a:off x="4663440" y="1600200"/>
            <a:ext cx="1607744" cy="1234440"/>
          </a:xfrm>
          <a:prstGeom prst="roundRect">
            <a:avLst>
              <a:gd name="adj" fmla="val 5926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691640"/>
            <a:ext cx="160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8+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377440"/>
            <a:ext cx="160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years in practice</a:t>
            </a:r>
            <a:endParaRPr lang="en-US" sz="1200" dirty="0"/>
          </a:p>
        </p:txBody>
      </p:sp>
      <p:sp>
        <p:nvSpPr>
          <p:cNvPr id="13" name="Founder stat 2"/>
          <p:cNvSpPr/>
          <p:nvPr/>
        </p:nvSpPr>
        <p:spPr>
          <a:xfrm>
            <a:off x="6454064" y="1600200"/>
            <a:ext cx="1607744" cy="1234440"/>
          </a:xfrm>
          <a:prstGeom prst="roundRect">
            <a:avLst>
              <a:gd name="adj" fmla="val 5926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4064" y="1691640"/>
            <a:ext cx="160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50+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54064" y="2377440"/>
            <a:ext cx="160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projects delivered</a:t>
            </a:r>
            <a:endParaRPr lang="en-US" sz="1200" dirty="0"/>
          </a:p>
        </p:txBody>
      </p:sp>
      <p:sp>
        <p:nvSpPr>
          <p:cNvPr id="16" name="Founder stat 3"/>
          <p:cNvSpPr/>
          <p:nvPr/>
        </p:nvSpPr>
        <p:spPr>
          <a:xfrm>
            <a:off x="8244688" y="1600200"/>
            <a:ext cx="1607744" cy="1234440"/>
          </a:xfrm>
          <a:prstGeom prst="roundRect">
            <a:avLst>
              <a:gd name="adj" fmla="val 5926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44688" y="1691640"/>
            <a:ext cx="160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5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244688" y="2377440"/>
            <a:ext cx="160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countries</a:t>
            </a:r>
            <a:endParaRPr lang="en-US" sz="1200" dirty="0"/>
          </a:p>
        </p:txBody>
      </p:sp>
      <p:sp>
        <p:nvSpPr>
          <p:cNvPr id="19" name="Founder stat 4"/>
          <p:cNvSpPr/>
          <p:nvPr/>
        </p:nvSpPr>
        <p:spPr>
          <a:xfrm>
            <a:off x="10035311" y="1600200"/>
            <a:ext cx="1607744" cy="1234440"/>
          </a:xfrm>
          <a:prstGeom prst="roundRect">
            <a:avLst>
              <a:gd name="adj" fmla="val 5926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35311" y="1691640"/>
            <a:ext cx="160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5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10035311" y="2377440"/>
            <a:ext cx="160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credentials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3108960"/>
            <a:ext cx="6979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accent5"/>
                </a:solidFill>
              </a:rPr>
              <a:t>New firm. Seasoned hands.</a:t>
            </a:r>
            <a:endParaRPr lang="en-US" sz="1800" dirty="0"/>
          </a:p>
        </p:txBody>
      </p:sp>
      <p:sp>
        <p:nvSpPr>
          <p:cNvPr id="23" name="Founder bio"/>
          <p:cNvSpPr txBox="1"/>
          <p:nvPr/>
        </p:nvSpPr>
        <p:spPr>
          <a:xfrm>
            <a:off x="4663440" y="3611880"/>
            <a:ext cx="6979615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Delivered certification, simulation and carbon projects across India, France, Vietnam, Cambodia and Thailand.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Builds the energy, daylight and microclimate models in DesignBuilder and EnergyPlus, and runs LCA in One Click LCA and Excel.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Brings GHG, carbon and ESG reporting experience to Scope 1, 2 and 3 inventories and BRSR-ready disclosures.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Stays on every project. You work with the founder directly: no junior handoffs.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experience VERDEAXIS is built on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Selected projects delivered by our founder before forming the firm.</a:t>
            </a:r>
            <a:endParaRPr lang="en-US" sz="1400" dirty="0"/>
          </a:p>
        </p:txBody>
      </p:sp>
      <p:sp>
        <p:nvSpPr>
          <p:cNvPr id="4" name="Project card 1"/>
          <p:cNvSpPr/>
          <p:nvPr/>
        </p:nvSpPr>
        <p:spPr>
          <a:xfrm>
            <a:off x="548640" y="16002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 project 1 disc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con project 1" descr="Icon project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2047342"/>
            <a:ext cx="294437" cy="2944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74520"/>
            <a:ext cx="2235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Commercial campus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4028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Gandhinagar, India</a:t>
            </a:r>
            <a:endParaRPr lang="en-US" sz="1200" dirty="0"/>
          </a:p>
        </p:txBody>
      </p:sp>
      <p:sp>
        <p:nvSpPr>
          <p:cNvPr id="9" name="Scope badge 1"/>
          <p:cNvSpPr/>
          <p:nvPr/>
        </p:nvSpPr>
        <p:spPr>
          <a:xfrm>
            <a:off x="822960" y="2834640"/>
            <a:ext cx="2966618" cy="59436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83464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LEED v4.1 O+M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Gold target</a:t>
            </a:r>
            <a:endParaRPr lang="en-US" sz="1200" dirty="0"/>
          </a:p>
        </p:txBody>
      </p:sp>
      <p:sp>
        <p:nvSpPr>
          <p:cNvPr id="11" name="Project card 2"/>
          <p:cNvSpPr/>
          <p:nvPr/>
        </p:nvSpPr>
        <p:spPr>
          <a:xfrm>
            <a:off x="4338218" y="16002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Icon project 2 disc"/>
          <p:cNvSpPr/>
          <p:nvPr/>
        </p:nvSpPr>
        <p:spPr>
          <a:xfrm>
            <a:off x="4612538" y="18745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con project 2" descr="Icon project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60" y="2047342"/>
            <a:ext cx="294437" cy="29443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35498" y="1874520"/>
            <a:ext cx="2235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28-floor tower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435498" y="224028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Ho Chi Minh City, Vietnam</a:t>
            </a:r>
            <a:endParaRPr lang="en-US" sz="1200" dirty="0"/>
          </a:p>
        </p:txBody>
      </p:sp>
      <p:sp>
        <p:nvSpPr>
          <p:cNvPr id="16" name="Scope badge 2"/>
          <p:cNvSpPr/>
          <p:nvPr/>
        </p:nvSpPr>
        <p:spPr>
          <a:xfrm>
            <a:off x="4612538" y="2834640"/>
            <a:ext cx="2966618" cy="59436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612538" y="283464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LEED BD+C v4 C&amp;S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Core and shell</a:t>
            </a:r>
            <a:endParaRPr lang="en-US" sz="1200" dirty="0"/>
          </a:p>
        </p:txBody>
      </p:sp>
      <p:sp>
        <p:nvSpPr>
          <p:cNvPr id="18" name="Project card 3"/>
          <p:cNvSpPr/>
          <p:nvPr/>
        </p:nvSpPr>
        <p:spPr>
          <a:xfrm>
            <a:off x="8127797" y="16002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Icon project 3 disc"/>
          <p:cNvSpPr/>
          <p:nvPr/>
        </p:nvSpPr>
        <p:spPr>
          <a:xfrm>
            <a:off x="8402117" y="18745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Icon project 3" descr="Icon project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4938" y="2047342"/>
            <a:ext cx="294437" cy="29443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225077" y="1874520"/>
            <a:ext cx="2235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Pet food facilities (2)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225077" y="224028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France</a:t>
            </a:r>
            <a:endParaRPr lang="en-US" sz="1200" dirty="0"/>
          </a:p>
        </p:txBody>
      </p:sp>
      <p:sp>
        <p:nvSpPr>
          <p:cNvPr id="23" name="Scope badge 3"/>
          <p:cNvSpPr/>
          <p:nvPr/>
        </p:nvSpPr>
        <p:spPr>
          <a:xfrm>
            <a:off x="8402117" y="2834640"/>
            <a:ext cx="2966618" cy="59436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402117" y="283464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LEED BD+C v4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Industrial new build</a:t>
            </a:r>
            <a:endParaRPr lang="en-US" sz="1200" dirty="0"/>
          </a:p>
        </p:txBody>
      </p:sp>
      <p:sp>
        <p:nvSpPr>
          <p:cNvPr id="25" name="Project card 4"/>
          <p:cNvSpPr/>
          <p:nvPr/>
        </p:nvSpPr>
        <p:spPr>
          <a:xfrm>
            <a:off x="548640" y="3977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Icon project 4 disc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7" name="Icon project 4" descr="Icon project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782" y="4424782"/>
            <a:ext cx="294437" cy="29443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645920" y="4251960"/>
            <a:ext cx="2235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Rice milling factory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645920" y="461772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Cambodia</a:t>
            </a:r>
            <a:endParaRPr lang="en-US" sz="1200" dirty="0"/>
          </a:p>
        </p:txBody>
      </p:sp>
      <p:sp>
        <p:nvSpPr>
          <p:cNvPr id="30" name="Scope badge 4"/>
          <p:cNvSpPr/>
          <p:nvPr/>
        </p:nvSpPr>
        <p:spPr>
          <a:xfrm>
            <a:off x="822960" y="5212080"/>
            <a:ext cx="2966618" cy="59436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22960" y="52120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EDGE v3.1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Final certification</a:t>
            </a:r>
            <a:endParaRPr lang="en-US" sz="1200" dirty="0"/>
          </a:p>
        </p:txBody>
      </p:sp>
      <p:sp>
        <p:nvSpPr>
          <p:cNvPr id="32" name="Project card 5"/>
          <p:cNvSpPr/>
          <p:nvPr/>
        </p:nvSpPr>
        <p:spPr>
          <a:xfrm>
            <a:off x="4338218" y="3977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Icon project 5 disc"/>
          <p:cNvSpPr/>
          <p:nvPr/>
        </p:nvSpPr>
        <p:spPr>
          <a:xfrm>
            <a:off x="4612538" y="425196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4" name="Icon project 5" descr="Icon project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360" y="4424782"/>
            <a:ext cx="294437" cy="294437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435498" y="4251960"/>
            <a:ext cx="2235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Industrial portfolio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5435498" y="461772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Thailand</a:t>
            </a:r>
            <a:endParaRPr lang="en-US" sz="1200" dirty="0"/>
          </a:p>
        </p:txBody>
      </p:sp>
      <p:sp>
        <p:nvSpPr>
          <p:cNvPr id="37" name="Scope badge 5"/>
          <p:cNvSpPr/>
          <p:nvPr/>
        </p:nvSpPr>
        <p:spPr>
          <a:xfrm>
            <a:off x="4612538" y="5212080"/>
            <a:ext cx="2966618" cy="59436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4612538" y="52120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ESG and GHG Scope 1–3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GRESB-aligned</a:t>
            </a:r>
            <a:endParaRPr lang="en-US" sz="1200" dirty="0"/>
          </a:p>
        </p:txBody>
      </p:sp>
      <p:sp>
        <p:nvSpPr>
          <p:cNvPr id="39" name="Project card 6"/>
          <p:cNvSpPr/>
          <p:nvPr/>
        </p:nvSpPr>
        <p:spPr>
          <a:xfrm>
            <a:off x="8127797" y="39776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Icon project 6 disc"/>
          <p:cNvSpPr/>
          <p:nvPr/>
        </p:nvSpPr>
        <p:spPr>
          <a:xfrm>
            <a:off x="8402117" y="425196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Icon project 6" descr="Icon project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938" y="4424782"/>
            <a:ext cx="294437" cy="294437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9225077" y="4251960"/>
            <a:ext cx="2235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Industrial park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9225077" y="4617720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Samut Sakhon, Thailand</a:t>
            </a:r>
            <a:endParaRPr lang="en-US" sz="1200" dirty="0"/>
          </a:p>
        </p:txBody>
      </p:sp>
      <p:sp>
        <p:nvSpPr>
          <p:cNvPr id="44" name="Scope badge 6"/>
          <p:cNvSpPr/>
          <p:nvPr/>
        </p:nvSpPr>
        <p:spPr>
          <a:xfrm>
            <a:off x="8402117" y="5212080"/>
            <a:ext cx="2966618" cy="59436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402117" y="52120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Physical climate risk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WRI, NASA and Fathom data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How we work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Five clear steps, from first conversation to certified completion.</a:t>
            </a:r>
            <a:endParaRPr lang="en-US" sz="1400" dirty="0"/>
          </a:p>
        </p:txBody>
      </p:sp>
      <p:sp>
        <p:nvSpPr>
          <p:cNvPr id="4" name="Process line"/>
          <p:cNvSpPr/>
          <p:nvPr/>
        </p:nvSpPr>
        <p:spPr>
          <a:xfrm>
            <a:off x="1658082" y="2331720"/>
            <a:ext cx="8875532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5" name="Icon step 1 disc"/>
          <p:cNvSpPr/>
          <p:nvPr/>
        </p:nvSpPr>
        <p:spPr>
          <a:xfrm>
            <a:off x="1200882" y="187452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con step 1" descr="Icon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770" y="2121408"/>
            <a:ext cx="420624" cy="420624"/>
          </a:xfrm>
          <a:prstGeom prst="rect">
            <a:avLst/>
          </a:prstGeom>
        </p:spPr>
      </p:pic>
      <p:sp>
        <p:nvSpPr>
          <p:cNvPr id="7" name="Step number 1"/>
          <p:cNvSpPr txBox="1"/>
          <p:nvPr/>
        </p:nvSpPr>
        <p:spPr>
          <a:xfrm>
            <a:off x="1932402" y="1645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06324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Scope</a:t>
            </a:r>
            <a:endParaRPr lang="en-US" sz="1800" dirty="0"/>
          </a:p>
        </p:txBody>
      </p:sp>
      <p:sp>
        <p:nvSpPr>
          <p:cNvPr id="9" name="Step card 1"/>
          <p:cNvSpPr/>
          <p:nvPr/>
        </p:nvSpPr>
        <p:spPr>
          <a:xfrm>
            <a:off x="658368" y="3611880"/>
            <a:ext cx="1999427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Step bullets 1"/>
          <p:cNvSpPr txBox="1"/>
          <p:nvPr/>
        </p:nvSpPr>
        <p:spPr>
          <a:xfrm>
            <a:off x="822960" y="3794760"/>
            <a:ext cx="16702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Project brief and goals</a:t>
            </a:r>
            <a:endParaRPr lang="en-US" sz="120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Best certification pathway</a:t>
            </a:r>
            <a:endParaRPr lang="en-US" sz="1200" dirty="0"/>
          </a:p>
        </p:txBody>
      </p:sp>
      <p:sp>
        <p:nvSpPr>
          <p:cNvPr id="11" name="Icon step 2 disc"/>
          <p:cNvSpPr/>
          <p:nvPr/>
        </p:nvSpPr>
        <p:spPr>
          <a:xfrm>
            <a:off x="3419765" y="187452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con step 2" descr="Icon step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653" y="2121408"/>
            <a:ext cx="420624" cy="420624"/>
          </a:xfrm>
          <a:prstGeom prst="rect">
            <a:avLst/>
          </a:prstGeom>
        </p:spPr>
      </p:pic>
      <p:sp>
        <p:nvSpPr>
          <p:cNvPr id="13" name="Step number 2"/>
          <p:cNvSpPr txBox="1"/>
          <p:nvPr/>
        </p:nvSpPr>
        <p:spPr>
          <a:xfrm>
            <a:off x="4151285" y="1645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858963" y="306324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Analyse</a:t>
            </a:r>
            <a:endParaRPr lang="en-US" sz="1800" dirty="0"/>
          </a:p>
        </p:txBody>
      </p:sp>
      <p:sp>
        <p:nvSpPr>
          <p:cNvPr id="15" name="Step card 2"/>
          <p:cNvSpPr/>
          <p:nvPr/>
        </p:nvSpPr>
        <p:spPr>
          <a:xfrm>
            <a:off x="2877251" y="3611880"/>
            <a:ext cx="1999427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Step bullets 2"/>
          <p:cNvSpPr txBox="1"/>
          <p:nvPr/>
        </p:nvSpPr>
        <p:spPr>
          <a:xfrm>
            <a:off x="3041843" y="3794760"/>
            <a:ext cx="16702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audit and site visit</a:t>
            </a:r>
            <a:endParaRPr lang="en-US" sz="120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Simulation and GHG baseline</a:t>
            </a:r>
            <a:endParaRPr lang="en-US" sz="1200" dirty="0"/>
          </a:p>
        </p:txBody>
      </p:sp>
      <p:sp>
        <p:nvSpPr>
          <p:cNvPr id="17" name="Icon step 3 disc"/>
          <p:cNvSpPr/>
          <p:nvPr/>
        </p:nvSpPr>
        <p:spPr>
          <a:xfrm>
            <a:off x="5638648" y="187452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con step 3" descr="Icon step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121408"/>
            <a:ext cx="420624" cy="420624"/>
          </a:xfrm>
          <a:prstGeom prst="rect">
            <a:avLst/>
          </a:prstGeom>
        </p:spPr>
      </p:pic>
      <p:sp>
        <p:nvSpPr>
          <p:cNvPr id="19" name="Step number 3"/>
          <p:cNvSpPr txBox="1"/>
          <p:nvPr/>
        </p:nvSpPr>
        <p:spPr>
          <a:xfrm>
            <a:off x="6370168" y="1645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077846" y="306324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Document</a:t>
            </a:r>
            <a:endParaRPr lang="en-US" sz="1800" dirty="0"/>
          </a:p>
        </p:txBody>
      </p:sp>
      <p:sp>
        <p:nvSpPr>
          <p:cNvPr id="21" name="Step card 3"/>
          <p:cNvSpPr/>
          <p:nvPr/>
        </p:nvSpPr>
        <p:spPr>
          <a:xfrm>
            <a:off x="5096134" y="3611880"/>
            <a:ext cx="1999427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tep bullets 3"/>
          <p:cNvSpPr txBox="1"/>
          <p:nvPr/>
        </p:nvSpPr>
        <p:spPr>
          <a:xfrm>
            <a:off x="5260726" y="3794760"/>
            <a:ext cx="16702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Credit documents</a:t>
            </a:r>
            <a:endParaRPr lang="en-US" sz="120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Compliance drawings and model files</a:t>
            </a:r>
            <a:endParaRPr lang="en-US" sz="1200" dirty="0"/>
          </a:p>
        </p:txBody>
      </p:sp>
      <p:sp>
        <p:nvSpPr>
          <p:cNvPr id="23" name="Icon step 4 disc"/>
          <p:cNvSpPr/>
          <p:nvPr/>
        </p:nvSpPr>
        <p:spPr>
          <a:xfrm>
            <a:off x="7857531" y="187452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4" name="Icon step 4" descr="Icon step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4419" y="2121408"/>
            <a:ext cx="420624" cy="420624"/>
          </a:xfrm>
          <a:prstGeom prst="rect">
            <a:avLst/>
          </a:prstGeom>
        </p:spPr>
      </p:pic>
      <p:sp>
        <p:nvSpPr>
          <p:cNvPr id="25" name="Step number 4"/>
          <p:cNvSpPr txBox="1"/>
          <p:nvPr/>
        </p:nvSpPr>
        <p:spPr>
          <a:xfrm>
            <a:off x="8589051" y="1645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7296729" y="306324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Submit</a:t>
            </a:r>
            <a:endParaRPr lang="en-US" sz="1800" dirty="0"/>
          </a:p>
        </p:txBody>
      </p:sp>
      <p:sp>
        <p:nvSpPr>
          <p:cNvPr id="27" name="Step card 4"/>
          <p:cNvSpPr/>
          <p:nvPr/>
        </p:nvSpPr>
        <p:spPr>
          <a:xfrm>
            <a:off x="7315017" y="3611880"/>
            <a:ext cx="1999427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tep bullets 4"/>
          <p:cNvSpPr txBox="1"/>
          <p:nvPr/>
        </p:nvSpPr>
        <p:spPr>
          <a:xfrm>
            <a:off x="7479609" y="3794760"/>
            <a:ext cx="16702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Rating body upload</a:t>
            </a:r>
            <a:endParaRPr lang="en-US" sz="120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Reviewer queries and appeals</a:t>
            </a:r>
            <a:endParaRPr lang="en-US" sz="1200" dirty="0"/>
          </a:p>
        </p:txBody>
      </p:sp>
      <p:sp>
        <p:nvSpPr>
          <p:cNvPr id="29" name="Icon step 5 disc"/>
          <p:cNvSpPr/>
          <p:nvPr/>
        </p:nvSpPr>
        <p:spPr>
          <a:xfrm>
            <a:off x="10076414" y="187452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0" name="Icon step 5" descr="Icon step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3302" y="2121408"/>
            <a:ext cx="420624" cy="420624"/>
          </a:xfrm>
          <a:prstGeom prst="rect">
            <a:avLst/>
          </a:prstGeom>
        </p:spPr>
      </p:pic>
      <p:sp>
        <p:nvSpPr>
          <p:cNvPr id="31" name="Step number 5"/>
          <p:cNvSpPr txBox="1"/>
          <p:nvPr/>
        </p:nvSpPr>
        <p:spPr>
          <a:xfrm>
            <a:off x="10807934" y="1645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9515612" y="3063240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Certify</a:t>
            </a:r>
            <a:endParaRPr lang="en-US" sz="1800" dirty="0"/>
          </a:p>
        </p:txBody>
      </p:sp>
      <p:sp>
        <p:nvSpPr>
          <p:cNvPr id="33" name="Step card 5"/>
          <p:cNvSpPr/>
          <p:nvPr/>
        </p:nvSpPr>
        <p:spPr>
          <a:xfrm>
            <a:off x="9533900" y="3611880"/>
            <a:ext cx="1999427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Step bullets 5"/>
          <p:cNvSpPr txBox="1"/>
          <p:nvPr/>
        </p:nvSpPr>
        <p:spPr>
          <a:xfrm>
            <a:off x="9698492" y="3794760"/>
            <a:ext cx="16702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Award and handover</a:t>
            </a:r>
            <a:endParaRPr lang="en-US" sz="120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Re-certification and ESG reporting</a:t>
            </a:r>
            <a:endParaRPr lang="en-US" sz="1200" dirty="0"/>
          </a:p>
        </p:txBody>
      </p:sp>
      <p:sp>
        <p:nvSpPr>
          <p:cNvPr id="35" name="Promise band"/>
          <p:cNvSpPr/>
          <p:nvPr/>
        </p:nvSpPr>
        <p:spPr>
          <a:xfrm>
            <a:off x="548640" y="5486400"/>
            <a:ext cx="11094415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548640" y="54864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Transparent timelines  ·  Direct line to the founder  ·  No surprise costs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Why VERDEAXIS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small firm by design, so the person who wins your project also delivers it.</a:t>
            </a:r>
            <a:endParaRPr lang="en-US" sz="1400" dirty="0"/>
          </a:p>
        </p:txBody>
      </p:sp>
      <p:sp>
        <p:nvSpPr>
          <p:cNvPr id="4" name="Why card 1"/>
          <p:cNvSpPr/>
          <p:nvPr/>
        </p:nvSpPr>
        <p:spPr>
          <a:xfrm>
            <a:off x="548640" y="1600200"/>
            <a:ext cx="2567864" cy="301752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Icon why 1 disc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con why 1" descr="Icon why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026310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4320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Founder-led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83280"/>
            <a:ext cx="2019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Senior hands on every project. No handoffs, no black boxes.</a:t>
            </a:r>
            <a:endParaRPr lang="en-US" sz="1400" dirty="0"/>
          </a:p>
        </p:txBody>
      </p:sp>
      <p:sp>
        <p:nvSpPr>
          <p:cNvPr id="9" name="Why card 2"/>
          <p:cNvSpPr/>
          <p:nvPr/>
        </p:nvSpPr>
        <p:spPr>
          <a:xfrm>
            <a:off x="3390824" y="1600200"/>
            <a:ext cx="2567864" cy="301752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Icon why 2 disc"/>
          <p:cNvSpPr/>
          <p:nvPr/>
        </p:nvSpPr>
        <p:spPr>
          <a:xfrm>
            <a:off x="3665144" y="18288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con why 2" descr="Icon why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2654" y="202631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65144" y="274320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team, three pillars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665144" y="3383280"/>
            <a:ext cx="2019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Measure, certify and report under one roof, with no gaps between consultants.</a:t>
            </a:r>
            <a:endParaRPr lang="en-US" sz="1400" dirty="0"/>
          </a:p>
        </p:txBody>
      </p:sp>
      <p:sp>
        <p:nvSpPr>
          <p:cNvPr id="14" name="Why card 3"/>
          <p:cNvSpPr/>
          <p:nvPr/>
        </p:nvSpPr>
        <p:spPr>
          <a:xfrm>
            <a:off x="6233008" y="1600200"/>
            <a:ext cx="2567864" cy="301752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Icon why 3 disc"/>
          <p:cNvSpPr/>
          <p:nvPr/>
        </p:nvSpPr>
        <p:spPr>
          <a:xfrm>
            <a:off x="6507328" y="18288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6" name="Icon why 3" descr="Icon why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838" y="202631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07328" y="274320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Data, not opinion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507328" y="3383280"/>
            <a:ext cx="2019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Recommendations backed by in-house simulation and carbon calculations.</a:t>
            </a:r>
            <a:endParaRPr lang="en-US" sz="1400" dirty="0"/>
          </a:p>
        </p:txBody>
      </p:sp>
      <p:sp>
        <p:nvSpPr>
          <p:cNvPr id="19" name="Why card 4"/>
          <p:cNvSpPr/>
          <p:nvPr/>
        </p:nvSpPr>
        <p:spPr>
          <a:xfrm>
            <a:off x="9075191" y="1600200"/>
            <a:ext cx="2567864" cy="301752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Icon why 4 disc"/>
          <p:cNvSpPr/>
          <p:nvPr/>
        </p:nvSpPr>
        <p:spPr>
          <a:xfrm>
            <a:off x="9349511" y="18288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con why 4" descr="Icon why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022" y="202631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49511" y="274320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India-first, globally ready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3383280"/>
            <a:ext cx="2019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Fluent in ECBC, BEE, GRIHA and BRSR, with work in four other countries.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4937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SECTORS WE SERVE</a:t>
            </a:r>
            <a:endParaRPr lang="en-US" sz="1200" dirty="0"/>
          </a:p>
        </p:txBody>
      </p:sp>
      <p:sp>
        <p:nvSpPr>
          <p:cNvPr id="25" name="Sector Commercial offices"/>
          <p:cNvSpPr/>
          <p:nvPr/>
        </p:nvSpPr>
        <p:spPr>
          <a:xfrm>
            <a:off x="548640" y="5303520"/>
            <a:ext cx="182880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48640" y="5303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Commercial offices</a:t>
            </a:r>
            <a:endParaRPr lang="en-US" sz="1200" dirty="0"/>
          </a:p>
        </p:txBody>
      </p:sp>
      <p:sp>
        <p:nvSpPr>
          <p:cNvPr id="27" name="Sector Industrial and factories"/>
          <p:cNvSpPr/>
          <p:nvPr/>
        </p:nvSpPr>
        <p:spPr>
          <a:xfrm>
            <a:off x="2514600" y="5303520"/>
            <a:ext cx="210312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2514600" y="53035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Industrial and factories</a:t>
            </a:r>
            <a:endParaRPr lang="en-US" sz="1200" dirty="0"/>
          </a:p>
        </p:txBody>
      </p:sp>
      <p:sp>
        <p:nvSpPr>
          <p:cNvPr id="29" name="Sector Healthcare"/>
          <p:cNvSpPr/>
          <p:nvPr/>
        </p:nvSpPr>
        <p:spPr>
          <a:xfrm>
            <a:off x="4754880" y="5303520"/>
            <a:ext cx="132588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4754880" y="53035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Healthcare</a:t>
            </a:r>
            <a:endParaRPr lang="en-US" sz="1200" dirty="0"/>
          </a:p>
        </p:txBody>
      </p:sp>
      <p:sp>
        <p:nvSpPr>
          <p:cNvPr id="31" name="Sector Education"/>
          <p:cNvSpPr/>
          <p:nvPr/>
        </p:nvSpPr>
        <p:spPr>
          <a:xfrm>
            <a:off x="6217920" y="530352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217920" y="53035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Education</a:t>
            </a:r>
            <a:endParaRPr lang="en-US" sz="1200" dirty="0"/>
          </a:p>
        </p:txBody>
      </p:sp>
      <p:sp>
        <p:nvSpPr>
          <p:cNvPr id="33" name="Sector Hospitality"/>
          <p:cNvSpPr/>
          <p:nvPr/>
        </p:nvSpPr>
        <p:spPr>
          <a:xfrm>
            <a:off x="7635240" y="5303520"/>
            <a:ext cx="137160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7635240" y="5303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Hospitality</a:t>
            </a:r>
            <a:endParaRPr lang="en-US" sz="1200" dirty="0"/>
          </a:p>
        </p:txBody>
      </p:sp>
      <p:sp>
        <p:nvSpPr>
          <p:cNvPr id="35" name="Sector Logistics"/>
          <p:cNvSpPr/>
          <p:nvPr/>
        </p:nvSpPr>
        <p:spPr>
          <a:xfrm>
            <a:off x="9144000" y="5303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9144000" y="5303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Logistics</a:t>
            </a:r>
            <a:endParaRPr lang="en-US" sz="1200" dirty="0"/>
          </a:p>
        </p:txBody>
      </p:sp>
      <p:sp>
        <p:nvSpPr>
          <p:cNvPr id="37" name="Sector Data centres"/>
          <p:cNvSpPr/>
          <p:nvPr/>
        </p:nvSpPr>
        <p:spPr>
          <a:xfrm>
            <a:off x="548640" y="5806440"/>
            <a:ext cx="137160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548640" y="5806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Data centres</a:t>
            </a:r>
            <a:endParaRPr lang="en-US" sz="1200" dirty="0"/>
          </a:p>
        </p:txBody>
      </p:sp>
      <p:sp>
        <p:nvSpPr>
          <p:cNvPr id="39" name="Sector Residential"/>
          <p:cNvSpPr/>
          <p:nvPr/>
        </p:nvSpPr>
        <p:spPr>
          <a:xfrm>
            <a:off x="2057400" y="58064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2057400" y="58064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Residential</a:t>
            </a:r>
            <a:endParaRPr lang="en-US" sz="1200" dirty="0"/>
          </a:p>
        </p:txBody>
      </p:sp>
      <p:sp>
        <p:nvSpPr>
          <p:cNvPr id="41" name="Sector Real estate funds"/>
          <p:cNvSpPr/>
          <p:nvPr/>
        </p:nvSpPr>
        <p:spPr>
          <a:xfrm>
            <a:off x="3474720" y="5806440"/>
            <a:ext cx="169164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3474720" y="58064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estate funds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mint"/>
          <p:cNvSpPr/>
          <p:nvPr/>
        </p:nvSpPr>
        <p:spPr>
          <a:xfrm>
            <a:off x="8412480" y="-1463040"/>
            <a:ext cx="5669280" cy="5669280"/>
          </a:xfrm>
          <a:prstGeom prst="ellipse">
            <a:avLst/>
          </a:prstGeom>
          <a:solidFill>
            <a:schemeClr val="accent3">
              <a:alpha val="45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Let's start with a conversation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complimentary feasibility call. No cost, no obligation, just clarity.</a:t>
            </a:r>
            <a:endParaRPr lang="en-US" sz="1600" dirty="0"/>
          </a:p>
        </p:txBody>
      </p:sp>
      <p:sp>
        <p:nvSpPr>
          <p:cNvPr id="5" name="Feasibility item 1"/>
          <p:cNvSpPr/>
          <p:nvPr/>
        </p:nvSpPr>
        <p:spPr>
          <a:xfrm>
            <a:off x="548640" y="2194560"/>
            <a:ext cx="676656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Item number 1"/>
          <p:cNvSpPr txBox="1"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2402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Pathway review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Which rating system fits your project, timeline and budget.</a:t>
            </a:r>
            <a:endParaRPr lang="en-US" sz="1400" dirty="0"/>
          </a:p>
        </p:txBody>
      </p:sp>
      <p:sp>
        <p:nvSpPr>
          <p:cNvPr id="8" name="Feasibility item 2"/>
          <p:cNvSpPr/>
          <p:nvPr/>
        </p:nvSpPr>
        <p:spPr>
          <a:xfrm>
            <a:off x="548640" y="3154680"/>
            <a:ext cx="676656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Item number 2"/>
          <p:cNvSpPr txBox="1"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200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Gap analysis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 design and documentation gaps, found before you register.</a:t>
            </a:r>
            <a:endParaRPr lang="en-US" sz="1400" dirty="0"/>
          </a:p>
        </p:txBody>
      </p:sp>
      <p:sp>
        <p:nvSpPr>
          <p:cNvPr id="11" name="Feasibility item 3"/>
          <p:cNvSpPr/>
          <p:nvPr/>
        </p:nvSpPr>
        <p:spPr>
          <a:xfrm>
            <a:off x="548640" y="4114800"/>
            <a:ext cx="676656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Item number 3"/>
          <p:cNvSpPr txBox="1"/>
          <p:nvPr/>
        </p:nvSpPr>
        <p:spPr>
          <a:xfrm>
            <a:off x="731520" y="42976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1605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Scope of work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Whether you need a model, a GHG inventory or a daylight study.</a:t>
            </a:r>
            <a:endParaRPr lang="en-US" sz="1400" dirty="0"/>
          </a:p>
        </p:txBody>
      </p:sp>
      <p:sp>
        <p:nvSpPr>
          <p:cNvPr id="14" name="Feasibility item 4"/>
          <p:cNvSpPr/>
          <p:nvPr/>
        </p:nvSpPr>
        <p:spPr>
          <a:xfrm>
            <a:off x="548640" y="5074920"/>
            <a:ext cx="676656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Item number 4"/>
          <p:cNvSpPr txBox="1"/>
          <p:nvPr/>
        </p:nvSpPr>
        <p:spPr>
          <a:xfrm>
            <a:off x="731520" y="525780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Timeline and effort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realistic view from kickoff to award.</a:t>
            </a:r>
            <a:endParaRPr lang="en-US" sz="1400" dirty="0"/>
          </a:p>
        </p:txBody>
      </p:sp>
      <p:sp>
        <p:nvSpPr>
          <p:cNvPr id="17" name="Contact card"/>
          <p:cNvSpPr/>
          <p:nvPr/>
        </p:nvSpPr>
        <p:spPr>
          <a:xfrm>
            <a:off x="7818120" y="2194560"/>
            <a:ext cx="3824935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92440" y="2331720"/>
            <a:ext cx="3276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Get in touch</a:t>
            </a:r>
            <a:endParaRPr lang="en-US" sz="1800" dirty="0"/>
          </a:p>
        </p:txBody>
      </p:sp>
      <p:sp>
        <p:nvSpPr>
          <p:cNvPr id="19" name="Icon contact 1 disc"/>
          <p:cNvSpPr/>
          <p:nvPr/>
        </p:nvSpPr>
        <p:spPr>
          <a:xfrm>
            <a:off x="8092440" y="292608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Icon contact 1" descr="Icon contact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8228" y="3061868"/>
            <a:ext cx="231343" cy="23134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778240" y="2926080"/>
            <a:ext cx="2681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info@verdeaxis.com</a:t>
            </a:r>
            <a:endParaRPr lang="en-US" sz="1400" dirty="0"/>
          </a:p>
        </p:txBody>
      </p:sp>
      <p:sp>
        <p:nvSpPr>
          <p:cNvPr id="22" name="Icon contact 2 disc"/>
          <p:cNvSpPr/>
          <p:nvPr/>
        </p:nvSpPr>
        <p:spPr>
          <a:xfrm>
            <a:off x="8092440" y="365760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con contact 2" descr="Icon contact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228" y="3793388"/>
            <a:ext cx="231343" cy="23134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778240" y="3657600"/>
            <a:ext cx="2681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+91 97255 23213</a:t>
            </a:r>
            <a:endParaRPr lang="en-US" sz="1400" dirty="0"/>
          </a:p>
        </p:txBody>
      </p:sp>
      <p:sp>
        <p:nvSpPr>
          <p:cNvPr id="25" name="Icon contact 3 disc"/>
          <p:cNvSpPr/>
          <p:nvPr/>
        </p:nvSpPr>
        <p:spPr>
          <a:xfrm>
            <a:off x="8092440" y="438912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6" name="Icon contact 3" descr="Icon contact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8228" y="4524908"/>
            <a:ext cx="231343" cy="231343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778240" y="4389120"/>
            <a:ext cx="2681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www.verdeaxis.com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GHG  ·  Energy &amp; daylight simulation  ·  LCA  ·  LEED  ·  EDGE  ·  IGBC  ·  GRIHA  ·  WELL  ·  Fitwel  ·  GreenPro  ·  BRSR  ·  ESG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6355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VERDEAXIS  ·  Sustainability Consulting  ·  India and Asia-Pacific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DEAXIS">
  <a:themeElements>
    <a:clrScheme name="VERDEAXIS">
      <a:dk1>
        <a:srgbClr val="143D2E"/>
      </a:dk1>
      <a:lt1>
        <a:srgbClr val="FFFFFF"/>
      </a:lt1>
      <a:dk2>
        <a:srgbClr val="1B4D3E"/>
      </a:dk2>
      <a:lt2>
        <a:srgbClr val="F2F8F4"/>
      </a:lt2>
      <a:accent1>
        <a:srgbClr val="2D9C5E"/>
      </a:accent1>
      <a:accent2>
        <a:srgbClr val="C8963E"/>
      </a:accent2>
      <a:accent3>
        <a:srgbClr val="A8DFC0"/>
      </a:accent3>
      <a:accent4>
        <a:srgbClr val="5B7F70"/>
      </a:accent4>
      <a:accent5>
        <a:srgbClr val="1F7A4D"/>
      </a:accent5>
      <a:accent6>
        <a:srgbClr val="E4F1E9"/>
      </a:accent6>
      <a:hlink>
        <a:srgbClr val="1F7A4D"/>
      </a:hlink>
      <a:folHlink>
        <a:srgbClr val="5B7F70"/>
      </a:folHlink>
    </a:clrScheme>
    <a:fontScheme name="VERDEAXIS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VERDEAXIS Company Profile</dc:title>
  <dc:subject>PptxGenJS Presentation</dc:subject>
  <dc:creator>VERDEAXIS Sustainability Consulting</dc:creator>
  <cp:lastModifiedBy>VERDEAXIS Sustainability Consulting</cp:lastModifiedBy>
  <cp:revision>1</cp:revision>
  <dcterms:created xsi:type="dcterms:W3CDTF">2026-10-24T16:31:59Z</dcterms:created>
  <dcterms:modified xsi:type="dcterms:W3CDTF">2026-10-24T16:31:59Z</dcterms:modified>
</cp:coreProperties>
</file>